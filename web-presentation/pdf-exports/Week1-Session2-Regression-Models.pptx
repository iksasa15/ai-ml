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6"/>
  </p:normalViewPr>
  <p:slideViewPr>
    <p:cSldViewPr snapToGrid="0" snapToObjects="1">
      <p:cViewPr varScale="1">
        <p:scale>
          <a:sx n="109" d="100"/>
          <a:sy n="109" d="100"/>
        </p:scale>
        <p:origin x="70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E73EDE-D943-EC48-94AE-705C34C002FD}" type="datetimeFigureOut">
              <a:rPr lang="en-SA" smtClean="0"/>
              <a:t>02/08/2026 R</a:t>
            </a:fld>
            <a:endParaRPr lang="en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6BF23D-E636-FB46-803B-29D3CD053FD1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82100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6BF23D-E636-FB46-803B-29D3CD053FD1}" type="slidenum">
              <a:rPr lang="en-SA" smtClean="0"/>
              <a:t>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869617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linear fits to regularized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After preprocessing — learn models that predict continuous targets.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9544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6976" y="4800600"/>
            <a:ext cx="1883664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36976" y="4846320"/>
            <a:ext cx="188366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48656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36992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Forest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Simple Linear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· 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Regression models the relationship between one independent variable x and one dependent variable y using a straight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fd591cfea34a8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0956" y="3566160"/>
            <a:ext cx="2247525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b₀ = intercept (value of y when x = 0)  ·  b₁ = slope (change in y per unit change in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 = input feature · y = target to predict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Finds the straight line that best fits the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lide-19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feature → one straight-line fit. Multiple features come next.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Suppose x = Hours of Study and y = Exam Score.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7b750c2b645bb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8043" y="2852928"/>
            <a:ext cx="2333993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Slope b₁ = 5: +1 study hour → +5 score points.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Intercept b₀ = 40: score when hours = 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3717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3717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Example: 3 hours → ŷ = 40 + 5(3) = 55.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Meaning of Each Symbol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Predicted output (dependent variable).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Input feature (independent variable).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b₀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Intercept: predicted value of y when x = 0.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b₁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Slope: expected change in y when x increases by 1 unit.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regression line is the best-fit line that minimizes prediction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Regression · Multiple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Multiple Linear Regression describes the relationship between one dependent variable y and two or more independent variables.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3ce2b7412de9f9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114" y="2852928"/>
            <a:ext cx="535585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bⱼ is the effect of feature xⱼ holding other features fixed.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y from several inputs at 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Still linear in the coefficients b₀ … bₙ.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still minimizes the sum of squared residuals.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house price from size and bedrooms.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865e8e868ff4f9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9809" y="2852928"/>
            <a:ext cx="413046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 = price  ·  x₁ = size (m²)  ·  x₂ = bedrooms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+1 m² → price +2.5 (other variables fixed).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+1 bedroom → price +15 (other variables fixed).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Interpret each coefficient holding other variables constant.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Calculations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 ·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House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Size x₁ (m²)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Bedrooms 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Predicted price y ($1000)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+ 2.5(100) + 15(2) = 330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120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+ 2.5(120) + 15(3) = 395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+ 2.5(80) + 15(1) = 265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formula, different inputs → different predicted prices.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OLS?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Least Squares is the most common method to fit a linear regression line by minimizing prediction errors.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Chooses the line with the smallest total squared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= actual y − predicted ŷ.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case has a closed-form solution for b₀, b₁.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Smaller squared errors → better fit on the training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Sum of Squared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chooses parameters by minimizing the total squared difference between actual and predicted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9ac372374ac8a3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973" y="2852928"/>
            <a:ext cx="210013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over all n training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Actual value: yᵢ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Predicted value: ŷᵢ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error: eᵢ = yᵢ − ŷᵢ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Squared errors make all errors positive, penalize large errors, and provide a clear optimization objective.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Gradient Descent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· Optimization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Loss curve L(w) — minimum at the bottom of the bowl.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84fa9e0ccaa9c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123" y="3566160"/>
            <a:ext cx="132319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 search for the parameter w that makes the loss as small as possible.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with a guess for w, then move downhill.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updates become tiny (converged).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ols-loss-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874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Converged: w = 2.00 · L(w) = 0.40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R-Squared (R²)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measures how much variation in y is explained by the model inputs.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a4459fe2dd366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795" y="3566160"/>
            <a:ext cx="2215846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SS_res = residual SS  ·  SS_tot = total 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Near 1 → strong explanatory power.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Near 0 → little better than predicting the mean.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lide-2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High R² on training data ≠ guaranteed good new-data predictions.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Interpreting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R² means more of the variation in y is captured by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1 → perfect fit on that sample.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0 → mean-level baseline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r2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042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Validate generalization with hold-out metrics, not R² alone.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SS_res measures the unexplained error — how far predictions are from the actual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ee9afbb9888975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507" y="2852928"/>
            <a:ext cx="2447065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(prediction errors)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Smaller SS_res → predictions closer to the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Appears in the numerator of the R² formula.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Total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SS_tot measures the total variation in y around its mean — the baseline scatter to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22cf8d21008e42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669" y="2852928"/>
            <a:ext cx="236474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deviations from the mean 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is the variance (up to a constant factor) of the observed y values.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asks: what fraction of SS_tot is left unexplained by SS_res?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= 1 − SS_res / SS_tot  ·  explained variation = SS_tot − SS_res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Do These Terms Mean?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50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Term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SS_res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Residual Sum of Squares: squared distance between actual values and predictions.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Total Sum of Squares: squared distance between actual values and the mean of 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compares unexplained error (SS_res) with total variation (SS_tot).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R² Alone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multiple regression, adding predictors often increases R² even when the new variables are not useful.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R² never decreases when you add a predictor (it stays the same or goes up).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That can reward bloated models that fit noise instead of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need a metric that balances fit against model complexity.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Next: Adjusted R² applies a penalty for extra predictors.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 · Model Comparison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Adjusted R² penalizes unnecessary predictors.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2cbafd383160ad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319" y="2852928"/>
            <a:ext cx="343144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 = samples  ·  p = predictors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Better for comparing models with different 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fall when R² rises if the new variable is weak.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R² — Quick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38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Adjusted 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Interpretation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and efficient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0.79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R², but worse after penalty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B looks better by R², but Adjusted R² shows the extra variables are likely not helpful.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of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Overview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If Violated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y vs each x is roughly 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Biased predictions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Error variance roughly constant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Unstable SEs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Normal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Residuals ≈ normal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Weaker inference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Errors are independent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Biased tests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Low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Predictors not highly redundant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Unstable coeffs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Limited Outliers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Extremes do not dominate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Distorted line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Next slides: practical checks and residual plots.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with Practical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panel shows a practical picture of one assumption — and what “good” looks like.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ssumption-examples-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965" y="2377440"/>
            <a:ext cx="6286148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Checks: scatter/residuals · residuals vs fitted · histogram/Q-Q · design/DW · corr/VIF · Cook/leverage.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— Quick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Examples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Check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Sales ≈ linear in ad spend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Scatter / residual plot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Similar errors high &amp; 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Residuals vs fitted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Normal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Most residuals near zero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Histogram / Q-Q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Independent customers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Design / Durbin-Watson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Low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Ads not near-duplicates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Corr / VIF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Outlier Control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One house ≠ whole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Cook / leverage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violated: transforms, robust methods, or another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Patterns to 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Assumption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residual-plot signatures for assumption problems.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Good: random cloud around zero.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Fan / curve / outlier → investigate.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residual-assump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19810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Residuals vs Fitted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Check · Homoscedasticity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Look for random scatter around zero with roughly constant spread.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curve → linearity looks 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Fan shape → possible heteroscedasticity.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-2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Building a Regression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All-in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 all predictors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prior knowledge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Backward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 full, remove weakest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Many candidates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 empty, add strongest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Compact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Stepwise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 and remove dynamically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Flexible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method to candidate count and prior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Model-Building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All-in · Backward · Forward · Stepwise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search paths for choosing predictors under a significance level.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Backward: prune a full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Forward: grow from empty.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Stepwise: add and remove as you 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model-building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0522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full, then drop the least useful predictors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Set SL (e.g. 0.05) and fit all predictors.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highest p if p &gt; SL; refit and repeat.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with many candidate predictors.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Grow the model from scratch by adding the strongest predictors.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empty; add lowest p below SL.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no remaining variable qualifies.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when you want a compact model from the start.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Bidirectional (Stepwise)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 and remove predictors dynamically each iteration.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step: add significant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Backward step: drop non-significant 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More adaptive than pure forward or backward alone.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Mini Example — 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Iteration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Candidate 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Selected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x₄ = 0.42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x₃ = 0.11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 x₃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 with p &lt; 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final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With SL = 0.05, variables with p &gt; SL are removed until only significant predictors remain.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Selection · Decision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p to alpha to decide if a predictor is statistically significant.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edfc9980c317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544" y="3566160"/>
            <a:ext cx="4040348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Example: p = 0.03 · alpha = 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 &lt; alpha → reject H₀ (significant).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 ≥ alpha → fail to reject H₀.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value-alp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9315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Predictor is significant at the 5% level in this example.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Key Concepts: H₀, p-value, Alpha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Concept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Null Hypothesis (H₀)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effect / no relationship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p-value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Probability of observing current result (or more extreme) if H₀ is true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Significance Level (alpha)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Maximum tolerated Type I error probability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model building, predictors with p &lt; alpha are kept as statistically significant.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Choice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 = 0.05 balances sensitivity and false-positive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b469ed52762c97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2509" y="2852928"/>
            <a:ext cx="492506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95% confidence → SL = 0.05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Convention, not a law — adjust for domain risk.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079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Report effect size and CIs with p-values.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SL vs Confidence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Confidence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Strictness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90%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95%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99%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Lower SL → higher confidence requirement → stricter evidence to keep a predictor.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Choose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Scenario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Suggested 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High-stakes decisions (medicine, safety, finance)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 modeling and reporting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Exploratory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with SL = 0.05, then adjust based on domain risk, dataset size, and model purpose.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 extends linear regression to model non-linear relationships by adding polynomial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61fa22ad19be8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966" y="2852928"/>
            <a:ext cx="4838146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Still linear in the coefficients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Adds polynomial terms to capture curves.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Still linear in parameters b₀, b₁,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Transform x → x², x³, … then fit linear regression.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Polynomial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Many real-world relationships are curved — a straight line underfits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Population growth · disease progression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Sales trends · rainfall vs crop yield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Polynomial Regression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Start with input feature 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Create transformed terms: x², x³, …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Fit linear regression on transformed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Estimate coefficients (b₀, b₁, b₂,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Use the fitted equation to predict 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 is the polynomial degree.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Complexity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Degree controls complexity — too low underfits, too high overfits.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Pick degree with CV / validation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Also compare adjusted R².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poly-degree-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673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Balanced degree → better bias-variance trade-off.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Use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10332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shows clear curved trends · more flexibility than a straight line · you still want interpretable behavior.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60604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Application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Forecasting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Demand and sales trends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Environment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Rainfall vs crop yield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Medicine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Disease / progression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Engineering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Stress-strain and similar curves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polynomial regression when curves matter, but full black-box models are not required yet.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Limitations of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Trade-offs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High-degree models may memorize noise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Outlier sensitivity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Extreme points can shift the curve strongly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Extrapolation weakness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Predictions outside training range can be unreliable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Limited flexibility for very complex patterns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Some tasks are better handled by tree-based or neural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polynomial regression as a baseline, then compare with alternatives as complexity grows.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 Visual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vs Polynomial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linear vs polynomial fits as degree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low degree → high bias (underfit).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high degree → high variance (overfit).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-3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Effect of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Explanation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degree = more flexible curve — useful, then noisy.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Pick degree with validation curves.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 not trust training error alone.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-39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Support Vector Machine (SVM) and SVR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is the regression version of SVM: a flat function with a tolerance margin (ε-tube).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SVM: widest margin; support vectors define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ignores small errors inside the ε-tube.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Used in forecasting, engineering curves, disease progression.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vr-epsilon-t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separates classes; SVR predicts continuous y with an ε-insensitive zone.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Formulation and Equations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predicts with a (possibly kernelized) linear function in a feature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d3b07b19c928e4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535" y="2852928"/>
            <a:ext cx="317100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079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kernels, we avoid computing φ(x) explicitly.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Soft-Margin SVR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Optimization Objective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Keep the function flat while penalizing points outside the ε-tube.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852928"/>
            <a:ext cx="10241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 ½∥w∥² + C Σ (ξᵢ + ξᵢ*)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 trades flatness vs errors outside the tube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½∥w∥² → flatter function.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 → tighter fit; smaller C → smoother.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Soft-Margin SVR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Stay within ε of yᵢ, or pay with a slack variable.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49cb8ffd8c0be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294" y="3566160"/>
            <a:ext cx="3876848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Also: (wᵀφ(xᵢ)+b) − yᵢ ≤ ε + ξᵢ*  ·  ξᵢ, ξᵢ* ≥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Inside tube → no penalty.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Outside tube → slack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vr-epsilon-tu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Tuning Knobs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epsilon (ε)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Width of the no-penalty tube around 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Penalty strength for points outside the tube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Controls curve shape (linear, RBF, polynomial)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Tune ε, C, and the kernel together — changing one often changes how the others behave.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Compared with Traditional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Traditional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Minimize all residuals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Ignore inside ε-tube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Outliers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sensitive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robust if tuned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Non-linear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Hand-built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Kernels directly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faster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get expensive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 features · start with RBF · tune C, ε, kernel params.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Visual 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ε-tube ignores small residuals; larger deviations pull the 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Inside tube → no loss.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Kernels capture curves without hand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vr-epsilon-t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Fit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Tuned tube + kernel follows curves while resisting small noise.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features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 C, ε, kernel with CV.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-4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838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(CART)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Decision Tree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 Regressor predicts continuous values by splitting feature space into rule-based regions and assigning a constant value in each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Captures non-linear relationships.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Easy to interpret if tree depth is controlled.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Handles complex feature interactions.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decision-tree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5645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recursive partitioning by feature threshold · Root → branches → leaf nodes.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 of Regression Trees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Tree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regression tree is built from decision rules that partition the input space into regions with constant predictions.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Internal node: decision rule (e.g., x ≤ 4.5).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Branch: outcome of the rule.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25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Leaf node: predicted value (usually region mean).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CART Perspective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and Regression Trees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Tree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Criterion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Classification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Categorical target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Gini / 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Continuous target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MSE (or MAE)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section focuses on the Regression Tree part of CART.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Splitting Happens (MSE Criterion)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Node MSE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CART picks the split that maximally reduces MSE (regression) or Gini/entropy (classification).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86c39339596ce9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246" y="2852928"/>
            <a:ext cx="3561587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squared distance from the node mean ȳ_S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Greedy splits are fast but not globally optimal.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Depth and min-samples-leaf control overfitting on small datasets.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Split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MSE Criterion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candidate split is scored by the size-weighted average MSE of the left and right child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75deffe401c90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442" y="2852928"/>
            <a:ext cx="9255195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S_L / S_R = left and right subsets after the candidate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the split with the minimum weighted MSE.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child nodes influence the score more (weighted by |S_L| and |S_R|).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Prediction at Leaf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Once a region is pure enough to stop splitting, the leaf predicts a constant value for every point that lands there.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7c6c7fb19faf28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430" y="2852928"/>
            <a:ext cx="2693219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Usually the mean of the training targets in that leaf region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Same prediction for all samples that reach the same leaf.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Deeper trees create smaller regions and more varied leaf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Start with all data at the root node.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Evaluate candidate splits across features.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Compute weighted MSE for each split.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Select the split with minimum error.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Repeat recursively on child nodes.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Stop based on rules (max depth, min samples).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Predict using leaf mean value.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5663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12978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greedy recursive partitioning until a stopping rule fires.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Fit (Visual)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Algorithm · Static Plot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fitted regression tree partitions x into intervals and predicts a constant in each leaf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Piecewise-constant prediction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depth → more steps and finer partitions.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-4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Important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max_depth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Controls model complexity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min_samples_split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required to split a node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min_samples_leaf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in each 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max_leaf_nodes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Limits number of terminal regions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These settings reduce overfitting and improve generalization.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Random Forest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Random Forest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Ensemble of many trees — average their predictions.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65290eea2f8b52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178" y="3566160"/>
            <a:ext cx="26270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of individual tree predictions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Bootstrap samples → many trees.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Averaging reduces variance vs one deep tree.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random-forest-ensem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775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Also see fitted RF curve: slide-46-3.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Comparison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Decision Tree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Single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Many trees averaged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MSE per 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MSE trees, then average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Overfit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Higher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Sensitive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More 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One tree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Mean of trees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Tree for interpretability · Forest for stronger performance.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Importance (Random Forest)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Importance scores show how much each feature helped reduce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bar → more contribution.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Guide for insight — not causal proof.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-4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Evaluating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Performance Metrics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Formula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Tells Us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(1/n) Σ |yᵢ − ŷᵢ|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Average error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(1/n) Σ (yᵢ − ŷᵢ)²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Penalizes large errors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RMSE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√MSE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Error on y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1 − SS_res/SS_tot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explained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more than one metric (e.g. RMSE + R²).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Methods (Why Needed?)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Overfitting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flexible → fits noise instead of true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d4bdcb26121a9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297" y="3566160"/>
            <a:ext cx="371484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+ λ × penalty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 train error, weak test performance.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 variance / unstable predictions.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regularization-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7356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Penalize large coefficients to control complexity.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+ Penalty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Trade off fit vs small coefficients.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750add5b60d4d4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986" y="2852928"/>
            <a:ext cx="3074106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loss = Σ(yᵢ − ŷᵢ)²  ·  penalty = Ω(β)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λ = 0 → ordinary least squares.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079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λ → stronger shrinkage · tune with CV.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Ridge, Lasso, and Elastic 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Families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penalties shrink coefficients differently as λ grows.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 (L2): shrink all — good with correlated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 (L1): can zero coeffs — feature selection.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regularization-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356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Elastic Net blends L1 + L2 for correlated sparse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Without Regularization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Minimize squared error only — no coefficient penalty.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5347cbd1bc8a1f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894" y="2852928"/>
            <a:ext cx="2408291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as λ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shrinkage.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overfit with many / correlated features.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 Regression (L2)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squared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L2 penalty shrinks coefficients; rarely zeros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598338256a37e9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4118" y="2852928"/>
            <a:ext cx="3601843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 ≥ 0 controls shrinkage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Smooth shrinkage of all coefficients.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when many features correlate.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Lasso Regression (L1)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absolute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L1 penalty can set some coefficients exactly to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3ef1c094ad07b0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680" y="2852928"/>
            <a:ext cx="3700718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Larger λ → sparser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Built-in feature selection.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Best when few predictors truly matter.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Elastic Net (L1 + 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Blend of Lasso and Ridge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Combine L1 + L2 for sparsity with more stable correlation behavior.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-8326348feae989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128" y="2852928"/>
            <a:ext cx="4999823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λ₁ → sparsity  ·  λ₂ → ridge shrinkage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for correlated feature groups.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 λ₁, λ₂ (or mix ratio) with CV.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Each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· Lasso · Elastic 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Match the penalty to the feature structure you expect.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Ridge: many small/medium useful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Lasso: few important features expected.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25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Elastic Net: correlated features + need sparsity.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Comparison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vs Lasso vs Elastic Net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14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Penalty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Main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Feature Selection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L2 (sum βⱼ²)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coefficients smoothly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Lasso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L1 (sum |βⱼ|)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and can set some coefficients to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Elastic Net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L1 + L2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Combines shrinkage + selection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 features before Ridge/Lasso/Elastic Net — penalties depend on coefficient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 — Pros &amp; Cons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Disadvantages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Simple, fast, interpretable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Linear only; outlier-sensitive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Polynomial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Captures curves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Degree sensitive; can overfit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Kernels; robust if tuned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Needs scaling; slow on big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Decision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Interpretable; no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Overfits; unstable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Accurate; lower variance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Less interpretable; heavier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Interpretability → Linear/Tree · Performance →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Summary (Name + Equation)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Core Equation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Polynomial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 + b₂x² + ⋯ + b_d x^d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f(x) = wᵀ φ(x)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Decision Tree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ŷ_leaf = mean(y in S_leaf)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Random Forest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ŷ_RF(x) = (1/N_trees) Σ ŷ_t(x)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interpretability is priority: Linear Regression or Decision Tree. If predictive performance is priority: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Visual Comparison of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Dataset · Different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Same data · five model families side by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Linear/Ridge: fast · watch curves.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Tree/RF: flexible · weak extrapolation.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-5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0627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Families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Closing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Watch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Linear / 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Interpretable, fast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Margin-based, kernels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 on huge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Tree / RF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Nonlinear, little scaling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Extrapolation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 is shown on the previous slide.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5031</Words>
  <Application>Microsoft Macintosh PowerPoint</Application>
  <PresentationFormat>Widescreen</PresentationFormat>
  <Paragraphs>1126</Paragraphs>
  <Slides>79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6" baseType="lpstr">
      <vt:lpstr>Aptos</vt:lpstr>
      <vt:lpstr>Arial</vt:lpstr>
      <vt:lpstr>Calibri</vt:lpstr>
      <vt:lpstr>DIN Next LT W23</vt:lpstr>
      <vt:lpstr>Helvetica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ربى بنت السحيمي الحربي</cp:lastModifiedBy>
  <cp:revision>2</cp:revision>
  <dcterms:created xsi:type="dcterms:W3CDTF">2013-01-27T09:14:16Z</dcterms:created>
  <dcterms:modified xsi:type="dcterms:W3CDTF">2026-08-01T23:17:49Z</dcterms:modified>
  <cp:category/>
</cp:coreProperties>
</file>