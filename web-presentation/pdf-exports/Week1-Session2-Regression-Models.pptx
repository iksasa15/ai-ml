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6"/>
  </p:normalViewPr>
  <p:slideViewPr>
    <p:cSldViewPr snapToGrid="0" snapToObjects="1">
      <p:cViewPr varScale="1">
        <p:scale>
          <a:sx n="91" d="100"/>
          <a:sy n="91" d="100"/>
        </p:scale>
        <p:origin x="192" y="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From linear fits to regularized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After preprocessing — learn models that predict continuous targets.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9544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Linear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4800600"/>
            <a:ext cx="1883664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36976" y="4846320"/>
            <a:ext cx="1883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OLS &amp;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48656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 diagnostics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4800600"/>
            <a:ext cx="256032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48463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OLS &amp;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Residual diagnostics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959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Random Forest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Simple Linear Regression?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· Simple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Simple Linear Regression models the relationship between one independent variable x and one dependent variable y using a straight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y = b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0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+ b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1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b₀ = intercept (value of y when x = 0)  ·  b₁ = slope (change in y per unit change in 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98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x = input feature · y = target to 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Finds the straight line that best fits the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lide-1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 feature → one straight-line fit. Multiple features come next.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Practical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Simple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Suppose x = Hours of Study and y = Exam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y = 40 + 5x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Slope b₁ = 5: +1 study hour → +5 score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251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Intercept b₀ = 40: score when hours =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457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457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Example: 3 hours → ŷ = 40 + 5(3) = 55.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Meaning of Each Symbol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Simple Linear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Symbol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Predicted output (dependent variable).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x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Input feature (independent variable).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b₀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Intercept: predicted value of y when x = 0.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b₁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Slope: expected change in y when x increases by 1 unit.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regression line is the best-fit line that minimizes prediction errors.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Multiple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Linear Regression · Multiple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Multiple Linear Regression describes the relationship between one dependent variable y and two or more independent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y =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0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+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1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1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+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2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2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+ ⋯ +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Each bⱼ is the effect of feature xⱼ holding other features fixed.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 y from several inputs at once.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251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Still linear in the coefficients b₀ … bₙ.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OLS still minimizes the sum of squared residuals.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House Price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Multiple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 house price from size and bedrooms.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y = 50 + 2.5 x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1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+ 15 x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y = price  ·  x₁ = size (m²)  ·  x₂ = bedrooms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+1 m² → price +2.5 (other variables fixed).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251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+1 bedroom → price +15 (other variables fixed).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Interpret each coefficient holding other variables constant.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House Price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Multiple Linear Regression · Example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House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Size x₁ (m²)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Bedrooms x₂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Predicted price y ($1000)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 + 2.5(100) + 15(2) = 330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120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 + 2.5(120) + 15(3) = 395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 + 2.5(80) + 15(1) = 265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formula, different inputs → different predicted prices.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is 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Ordinary Least Squares (OLS)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Ordinary Least Squares is the most common method to fit a linear regression line by minimizing prediction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Chooses the line with the smallest total squared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Residual = actual y − predicted ŷ.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Simple linear case has a closed-form solution for b₀, b₁.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Smaller squared errors → better fit on the training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Sum of Squared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Ordinary Least Squares (OLS)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OLS chooses parameters by minimizing the total squared difference between actual and predicted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 Σ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 = 1 … n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ŷ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Sum of squared residuals over all n training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Actual value: yᵢ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251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Predicted value: ŷᵢ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457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457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Residual error: eᵢ = yᵢ − ŷᵢ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Squared errors make all errors positive, penalize large errors, and provide a clear optimization objective.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Gradient Descent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OLS · Optimization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Loss curve L(w) — minimum at the bottom of the bowl.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w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L(w)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 search for the parameter w that makes the loss as small as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98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Start with a guess for w, then move downhill.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Stop when updates become tiny (converged).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ols-loss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874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Converged: w = 2.00 · L(w) = 0.40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R-Squared (R²)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Goodness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measures how much variation in y is explained by the model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371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80319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8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R² = 1 −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2227" y="3566160"/>
            <a:ext cx="3394252" cy="24323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SS</a:t>
            </a:r>
            <a:r>
              <a:rPr sz="14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1939" y="3836273"/>
            <a:ext cx="3054827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32227" y="3886200"/>
            <a:ext cx="3394252" cy="24323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SS</a:t>
            </a:r>
            <a:r>
              <a:rPr sz="14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tot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5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SS_res = residual SS  ·  SS_tot = total 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274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2744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Near 1 → strong explanatory power.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480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480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Near 0 → little better than predicting the mean.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lide-2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High R² on training data ≠ guaranteed good new-data predictions.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Interpreting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Goodness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R² means more of the variation in y is captured by the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= 1 → perfect fit on that 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= 0 → mean-level baseline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2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8042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Validate generalization with hold-out metrics, not R²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 Sum of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· Building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SS_res measures the unexplained error — how far predictions are from the actual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SS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res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 Σ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 = 1 … n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ŷ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Sum of squared residuals (prediction errors)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Smaller SS_res → predictions closer to the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Appears in the numerator of the R²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Total Sum of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· Building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SS_tot measures the total variation in y around its mean — the baseline scatter to explain.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SS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tot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 Σ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 = 1 … n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ȳ)²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Sum of squared deviations from the mean 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is the variance (up to a constant factor) of the observed y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251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R² asks: what fraction of SS_tot is left unexplained by SS_res?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= 1 − SS_res / SS_tot  ·  explained variation = SS_tot − SS_res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What Do These Terms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· Building Blocks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50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SS_res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Residual Sum of Squares: squared distance between actual values and predictions.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SS_tot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Total Sum of Squares: squared distance between actual values and the mean of 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5701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R² compares unexplained error (SS_res) with total variation (SS_tot).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R² Alone Is Not Enough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Adjusted R-Squared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 multiple regression, adding predictors often increases R² even when the new variables are not useful.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Ordinary R² never decreases when you add a predictor (it stays the same or goes up).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That can reward bloated models that fit noise instead of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 need a metric that balances fit against model complexity.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Next: Adjusted R² applies a penalty for extra predictors.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Adjusted R-Squared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Goodness of Fit · Model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Adjusted R² penalizes unnecessary predictors.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482035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4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R²</a:t>
            </a:r>
            <a:r>
              <a:rPr sz="20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adj</a:t>
            </a:r>
            <a:r>
              <a:rPr sz="24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 1 −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1260" y="2880360"/>
            <a:ext cx="6554419" cy="260604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4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1 − R²)(n − 1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8981" y="3169767"/>
            <a:ext cx="5898977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1260" y="3223260"/>
            <a:ext cx="6554419" cy="2606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 − p − 1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 = samples  ·  p = predictors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78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Better for comparing models with different 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9087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Can fall when R² rises if the new variable is weak.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Adjusted R² — Quick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Adjusted R-Squared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3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Predictors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R²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Adjusted R²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Interpretation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and efficient 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x₂, x₃, x₄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0.79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R², but worse after penalty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5701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B looks better by R², but Adjusted R² shows the extra variables are likely not helpful.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Assumptions of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Overview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Assumption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If Violated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y vs each x is roughly 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Biased predictions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Homoscedasticity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Error variance roughly constant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Unstable SEs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Normal 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Residuals ≈ normal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Weaker inference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Independence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Errors are independent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Biased tests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Low Multicollinearity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Predictors not highly redundant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Unstable coeffs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Limited Outliers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Extremes do not dominate fit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Distorted line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9087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6402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Next slides: practical checks and residual plots.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Assumptions with Practical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Residual Diagnostics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Assumption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Check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Sales ≈ linear in ad spend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Scatter / residual plot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Homoscedasticity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Similar errors high &amp; low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Residuals vs fitted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Normal 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Most residuals near zero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Histogram / Q-Q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Independence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Independent customers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Design / Durbin-Watson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Low Multicollinearity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Ads not near-duplicates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Corr / VIF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Outlier Control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One house ≠ whole model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Cook / leverage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9087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6402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If violated: transforms, robust methods, or another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 Patterns to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Assumption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Common residual-plot signatures for assumption problems.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Good: random cloud around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Fan / curve / outlier → investigate.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esidual-assum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19810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Residuals vs Fitted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Check · Homoscedasticity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Look for random scatter around zero with roughly constant spread.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 curve → linearity looks 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Fan shape → possible heteroscedasticity.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2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Building a Regression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Core 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Best Use 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All-in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Use all predictors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prior knowledge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Backward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 full, remove weakest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Many candidates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Forward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 empty, add strongest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Compact 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Stepwise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Add and remove dynamically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Flexible search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Match the method to candidate count and prior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Model-Building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All-in · Backward · Forward · Stepwise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Different search paths for choosing predictors under a significance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Backward: prune a full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Forward: grow from empty.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Stepwise: add and remove as you 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del-building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0522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Backward Elimination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 ·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Start full, then drop the least useful predictors one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Set SL (e.g. 0.05) and fit all predictors.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Remove highest p if p &gt; SL; refit and repeat.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Best with many candidate predictors.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Forward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 ·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Grow the model from scratch by adding the strongest predictors.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Start empty; add lowest p below SL.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Stop when no remaining variable qualifies.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Best when you want a compact model from the start.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Bidirectional (Stepwise)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 ·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Add and remove predictors dynamically each iteration.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Forward step: add significant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Backward step: drop non-significant 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More adaptive than pure forward or backward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Mini Example — Backward Elimination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Model-Building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Iteration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Candidate Predictors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Selected Action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Start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x₂, x₃, x₄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Full 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highest p-value: x₄ = 0.42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Remove x₄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highest p-value: x₃ = 0.11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Remove x₃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Final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x₁, x₂ with p &lt; 0.05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 final model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With SL = 0.05, variables with p &gt; SL are removed until only significant predictors remain.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Significance Level and p-value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Selection · Decision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Compare p to alpha to decide if a predictor is statistically significant.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0.03 &lt; 0.05  ⇒  Reject H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Example: p = 0.03 · alpha =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98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 &lt; alpha → reject H₀ (significant).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 ≥ alpha → fail to reject H₀.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value-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9315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Predictor is significant at the 5% level in this example.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Key Concepts: H₀, p-value, 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Significance Level and p-value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Concept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Null Hypothesis (H₀)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 effect / no relationship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p-value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Probability of observing current result (or more extreme) if H₀ is true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Significance Level (alpha)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Maximum tolerated Type I error probability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 model building, predictors with p &lt; alpha are kept as statistically significant.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Is SL = 0.05 Common?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Standard Choice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SL = 0.05 balances sensitivity and false-positive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SL = 1 − Confidence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95% confidence → SL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Convention, not a law — adjust for domain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Report effect size and CIs with p-values.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SL vs Confidence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Is SL = 0.05 Common?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Confidence Level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Strictness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0.10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90%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Less strict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0.05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95%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Standard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0.01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strict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Lower SL → higher confidence requirement → stricter evidence to keep a predictor.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Choose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Significance Level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Scenario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Suggested SL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High-stakes decisions (medicine, safety, finance)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General modeling and reporting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0.05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Exploratory analysis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0.10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Start with SL = 0.05, then adjust based on domain risk, dataset size, and model purpose.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Polynomial Regression extends linear regression to model non-linear relationships by adding polynomial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y =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0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+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1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+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2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x² + b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x³ + 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Still linear in the coefficients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Adds polynomial terms to capture curves.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2511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2511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Still linear in parameters b₀, b₁,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Transform x → x², x³, … then fit linear regression.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Polynomial Regression?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Many real-world relationships are curved — a straight line underfits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Population growth · disease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Sales trends · rainfall vs crop yield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Polynomial Regression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Polynomial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Start with input feature 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Create transformed terms: x², x³, …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Fit linear regression on transformed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Estimate coefficients (b₀, b₁, b₂, …)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Use the fitted equation to predict 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2511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 is the polynomial degree.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78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Choosing the Polynomial Degree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Degree controls complexity — too low underfits, too high overfits.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Pick degree with CV / validation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Also compare adjusted R².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oly-degree-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673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Balanced degree → better bias-variance trade-off.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78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When to Use Polynomial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 Use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shows clear curved trends · more flexibility than a straight line · you still want interpretable behavior.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06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Application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Forecasting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Demand and sales trends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Environment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Rainfall vs crop yield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Medicine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Disease / progression patterns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Engineering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Stress-strain and similar curves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Choose polynomial regression when curves matter, but full black-box models are not required yet.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Limitations of Polynomial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Trade-offs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Explanation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Overfitting risk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High-degree models may memorize noise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Outlier sensitivity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Extreme points can shift the curve strongly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Extrapolation weakness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Predictions outside training range can be unreliable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Limited flexibility for very complex patterns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Some tasks are better handled by tree-based or neural models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polynomial regression as a baseline, then compare with alternatives as complexity grows.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Polynomial Regression Visual Explanation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Linear vs Polynomial 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Compare linear vs polynomial fits as degree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Too low degree → high bias (underfit).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Too high degree → high variance (overfit).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3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16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Effect of Polynomial Degree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Visual Explanation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Higher degree = more flexible curve — useful, then noisy.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Pick degree with validation curves.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Do not trust training error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39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16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Support Vector Machine (SVM) and SVR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SVR?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 is the regression version of SVM: a flat function with a tolerance margin (ε-tube).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SVM: widest margin; support vectors define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 ignores small errors inside the ε-tube.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Used in forecasting, engineering curves, disease progression.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vr-epsilon-t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7174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separates classes; SVR predicts continuous y with an ε-insensitive zone.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Formulation and Equations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Model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SVR predicts with a (possibly kernelized) linear function in a feature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f(x) = wᵀ φ(x)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φ(x) maps input to a (possibly) higher-dimensional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φ(x) maps input to a (possibly) higher-dimensional 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With kernels, we avoid computing φ(x) explicitly.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Soft-Margin SVR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Optimization Objective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Keep the function flat while penalizing points outside the ε-tube.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 ½∥w∥² + C Σ (ξᵢ + ξᵢ*)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 trades flatness vs errors outside the 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½∥w∥² → flatter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C → tighter fit; smaller C → smoother.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Soft-Margin SVR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Stay within ε of yᵢ, or pay with a slack variable.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yᵢ − (wᵀφ(xᵢ) + b) ≤ ε + ξᵢ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Also: (wᵀφ(xᵢ)+b) − yᵢ ≤ ε + ξᵢ*  ·  ξᵢ, ξᵢ* ≥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98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Inside tube → no penalty.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Outside tube → slack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vr-epsilon-t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71745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Tuning Knobs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epsilon (ε)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Width of the no-penalty tube around prediction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Penalty strength for points outside the tube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Kernel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Controls curve shape (linear, RBF, polynomial)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Tune ε, C, and the kernel together — changing one often changes how the others behave.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SVR?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Compared with Traditional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Traditional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Minimize all residuals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Ignore inside ε-tube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Outliers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be sensitive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More robust if tuned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Non-linear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Hand-built features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Kernels directly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Large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Usually faster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get expensive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 features · start with RBF · tune C, ε, kernel params.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Visual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SVR?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ε-tube ignores small residuals; larger deviations pull the 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Inside tube → no loss.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Kernels capture curves without hand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4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189309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SVR Fit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SVR?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Tuned tube + kernel follows curves while resisting small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Scale features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Tune C, ε, kernel with CV.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4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322" y="2194560"/>
            <a:ext cx="4532755" cy="3429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Regression (CART)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Decision Tree Regressor?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Decision Tree Regressor predicts continuous values by splitting feature space into rule-based regions and assigning a constant value in each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Captures non-linear relationships.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Easy to interpret if tree depth is controlled.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Handles complex feature interactions.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ecision-tree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56455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Split: recursive partitioning by feature threshold · Root → branches → leaf nodes.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Core Concept of Regression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Tree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regression tree is built from decision rules that partition the input space into regions with constant predictions.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Internal node: decision rule (e.g., x ≤ 4.5).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Branch: outcome of the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25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Leaf node: predicted value (usually region mean).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CART Perspective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and Regression Trees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Tree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Target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Criterion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Classification Tree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Categorical target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Gini / Entropy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Regression Tree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Continuous target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MSE (or MAE)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5701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section focuses on the Regression Tree part of CART.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Splitting Happens (MSE Criterion)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Node 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CART picks the split that maximally reduces MSE (regression) or Gini/entropy (classification).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MSE(S) = (1 / |S|) Σ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 ∈ S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ȳ_S)²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Average squared distance from the node mean ȳ_S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Greedy splits are fast but not globally optimal.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Depth and min-samples-leaf control overfitting on small datasets.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Split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MSE Criterion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candidate split is scored by the size-weighted average MSE of the left and right child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MSE_split = (|S_L|/|S|) MSE(S_L) + (|S_R|/|S|) MSE(S_R)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S_L / S_R = left and right subsets after the candidate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Choose the split with the minimum weighted MSE.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child nodes influence the score more (weighted by |S_L| and |S_R|).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Prediction at Leaf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Once a region is pure enough to stop splitting, the leaf predicts a constant value for every point that lands there.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ŷ_leaf = (1 / |S_leaf|) Σ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 ∈ S_leaf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Usually the mean of the training targets in that leaf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Same prediction for all samples that reach the same leaf.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Deeper trees create smaller regions and more varied leaf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Regression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Simple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Step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Start with all data at the root node.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Evaluate candidate splits across features.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Compute weighted MSE for each split.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Select the split with minimum error.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Repeat recursively on child nodes.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Stop based on rules (max depth, min samples).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Predict using leaf mean value.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05663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12978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Split: greedy recursive partitioning until a stopping rule fires.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Fit (Visual)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Algorithm · Static Plot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fitted regression tree partitions x into intervals and predicts a constant in each leaf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Piecewise-constant prediction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More depth → more steps and finer partitions.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4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16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Important 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Hyperparameter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Effect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max_depth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Controls model complexity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min_samples_split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Minimum samples required to split a node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min_samples_leaf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Minimum samples in each leaf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max_leaf_nodes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Limits number of terminal regions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These settings reduce overfitting and improve generalization.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Random Forest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Random Forest Regressor?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Ensemble of many trees — average their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ŷ_RF(x) = (1 / N_trees) Σ ŷ_t(x)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Average of individual tree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98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Bootstrap samples → many trees.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Averaging reduces variance vs one deep tree.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random-forest-ensem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3775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Also see fitted RF curve: slide-46-3.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Decision Tree vs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Decision Tree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Random Forest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Single tree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Many trees averaged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Split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MSE per split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MSE trees, then average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Overfit risk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Higher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Lower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Stability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Sensitive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More stable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Prediction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One tree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Mean of trees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Interpretability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Medium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9087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6402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Tree for interpretability · Forest for stronger performance.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 / 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Importance (Random Forest)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Decision Tree vs Random Forest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Importance scores show how much each feature helped reduce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Higher bar → more contribution.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Guide for insight — not causal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4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85421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 / 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Evaluating Regression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Key Performance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Formula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Tells Us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(1/n) Σ |yᵢ − ŷᵢ|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Average error size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MSE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(1/n) Σ (yᵢ − ŷᵢ)²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Penalizes large errors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RMSE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√MSE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Error on y scale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R²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1 − SS_res/SS_tot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Variance explained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0799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8114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more than one metric (e.g. RMSE + R²).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 /  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 Methods (Why Needed?)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Overfitting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Too flexible → fits noise instead of true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760720" cy="11430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min_β  Σ (y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ŷ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)² + λ · Ω(β)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loss + λ × penalty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98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Low train error, weak test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High variance / unstable predictions.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regularization-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7356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Penalize large coefficients to control complexity.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 / 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Loss + Penalty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Trade off fit vs small coefficients.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min_β  data loss + λ ·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loss = Σ(yᵢ − ŷᵢ)²  ·  penalty = Ω(β)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λ = 0 → ordinary least squares.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Larger λ → stronger shrinkage · tune with CV.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67  / 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Ridge, Lasso, and Elastic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Regularization Families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Different penalties shrink coefficients differently as λ grows.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Ridge (L2): shrink all — good with correlated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Lasso (L1): can zero coeffs — feature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egularization-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27356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Elastic Net blends L1 + L2 for correlated sparse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68  / 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Without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Ordinary Least Squares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Minimize squared error only — no coefficient penalty.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min_β  Σ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ŷ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)²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as λ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No shrinkage.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Can overfit with many / correlated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69  / 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Ridge Regression (L2)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Penalty: sum of squared coefficients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L2 penalty shrinks coefficients; rarely zeros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min_β  Σ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ŷ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)² + λ Σ βⱼ²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λ ≥ 0 controls shrinkage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Smooth shrinkage of all coefficients.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when many features correlate.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70  / 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Lasso Regression (L1)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Penalty: sum of absolute coefficients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L1 penalty can set some coefficients exactly to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min_β  Σ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ŷ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)² + λ Σ |βⱼ|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Larger λ → sparser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Built-in feature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Best when few predictors truly matter.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71  / 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Elastic Net (L1 + L2)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Blend of Lasso and 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Combine L1 + L2 for sparsity with more stable correlation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min_β  Σ (y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ŷ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)² + λ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1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Σ |βⱼ| + λ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2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Σ βⱼ²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19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λ₁ → sparsity  ·  λ₂ → ridge shrinkage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Good for correlated feature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655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Tune λ₁, λ₂ (or mix ratio) with CV.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72  / 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When to Use Each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Ridge · Lasso · Elastic 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Match the penalty to the feature structure you expect.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Ridge: many small/medium useful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Lasso: few important features expected.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2569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Elastic Net: correlated features + need sparsity.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73  / 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Regularization Comparison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Ridge vs Lasso vs Elastic Net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1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Penalty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Main Behavior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Feature Selection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Ridge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L2 (sum βⱼ²)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Shrinks coefficients smoothly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Lasso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L1 (sum |βⱼ|)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Shrinks and can set some coefficients to zero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Elastic Net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L1 + L2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Combines shrinkage + selection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 features before Ridge/Lasso/Elastic Net — penalties depend on coefficient magnitude.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74  / 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Regression Models — Pros &amp; 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Session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Advantages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Disadvantages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Simple, fast, interpretable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Linear only; outlier-sensitive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Polynomial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Captures curves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Degree sensitive; can overfit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Kernels; robust if tuned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Needs scaling; slow on big data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Decision Tree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Interpretable; no scaling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Overfits; unstable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Random Forest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Accurate; lower variance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Less interpretable; heavier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2511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Interpretability → Linear/Tree · Performance → Random Forest.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75  /  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Model Summary (Name + Equation)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Session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Core Equation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Linear Regression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 = b₀ + b₁x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Polynomial Regression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 = b₀ + b₁x + b₂x² + ⋯ + b_d x^d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f(x) = wᵀ φ(x) + 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Decision Tree Regression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ŷ_leaf = mean(y in S_leaf)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Random Forest Regression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ŷ_RF(x) = (1/N_trees) Σ ŷ_t(x)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2511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If interpretability is priority: Linear Regression or Decision Tree. If predictive performance is priority: Random Forest.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76  /  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Visual Comparison of Regression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Dataset · Different 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303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Same data · five model families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Linear/Ridge: fast · watch curves.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754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Tree/RF: flexible · weak extrapolation.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11680"/>
            <a:ext cx="4983480" cy="37947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-5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4617720" cy="306274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98932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Visual output from Python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77  /  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S02  · 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Model Families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Session Closing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Watch Out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Linear / Ridge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Interpretable, fast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Nonlinear patterns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SVR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Margin-based, kernels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Slow on huge 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Tree / RF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Nonlinear, little scaling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Extrapolation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3250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Visual output from Python code is shown on the previous slide.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78  /  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5294</Words>
  <Application>Microsoft Macintosh PowerPoint</Application>
  <PresentationFormat>Widescreen</PresentationFormat>
  <Paragraphs>1147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4" baseType="lpstr">
      <vt:lpstr>Arial</vt:lpstr>
      <vt:lpstr>Calibri</vt:lpstr>
      <vt:lpstr>DIN Next LT W23</vt:lpstr>
      <vt:lpstr>Helvetica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ربى بنت السحيمي الحربي</cp:lastModifiedBy>
  <cp:revision>3</cp:revision>
  <dcterms:created xsi:type="dcterms:W3CDTF">2013-01-27T09:14:16Z</dcterms:created>
  <dcterms:modified xsi:type="dcterms:W3CDTF">2026-08-01T23:04:48Z</dcterms:modified>
  <cp:category/>
</cp:coreProperties>
</file>