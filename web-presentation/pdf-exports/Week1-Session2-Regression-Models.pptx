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linear fits to regularized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After preprocessing — learn models that predict continuous targets.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9544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76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659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1  ·  Session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8328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Linear regression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36976" y="4800600"/>
            <a:ext cx="1883664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36976" y="4846320"/>
            <a:ext cx="1883664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OLS &amp;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8656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36992" y="4800600"/>
            <a:ext cx="2560320" cy="38404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4846320"/>
            <a:ext cx="25603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OLS &amp; 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Forest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013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5013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 / Lasso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Simple Linear Regression?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· Simple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Simple Linear Regression models the relationship between one independent variable x and one dependent variable y using a straight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y = b</a:t>
            </a:r>
            <a:r>
              <a:rPr sz="18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0</a:t>
            </a:r>
            <a:r>
              <a:rPr sz="22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+ b</a:t>
            </a:r>
            <a:r>
              <a:rPr sz="18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</a:t>
            </a:r>
            <a:r>
              <a:rPr sz="22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0624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b₀ = intercept (value of y when x = 0)  ·  b₁ = slope (change in y per unit change in 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06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 = independent variable (input / feature)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223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y = dependent variable (target we want to predict)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441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441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model finds the straight line that best fits the observed data points.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lide-1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285421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feature → one straight-line relationship. Multiple features come later (multiple linear regression).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Practical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Suppose x = Hours of Study and y = Exam Score.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y = 40 + 5x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Slope (b₁ = 5): each extra study hour increases predicted score by 5 points.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Intercept (b₀ = 40): if study hours are 0, predicted score is 40.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Example: study 3 hours → ŷ = 40 + 5(3) = 55.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regression line is the best-fit line that minimizes prediction errors.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Meaning of Each Symbol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Linear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Predicted output (dependent variable).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Input feature (independent variable).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b₀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Intercept: predicted value of y when x = 0.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b₁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Slope: expected change in y when x increases by 1 unit.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72744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3717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regression line is the best-fit line that minimizes prediction errors.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Multiple Linear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Regression · Multiple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Multiple Linear Regression describes the relationship between one dependent variable y and two or more independent variables.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y = b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0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+ b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+ b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2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2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+ ⋯ + b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Each bⱼ is the effect of feature xⱼ holding other features fixed.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Purpose: predict the target y using multiple input factors.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Compared with simple regression, it models more realistic multi-factor scenarios.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Still a linear model — linear in the coefficients b₀, b₁, …, bₙ.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4360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OLS still applies: choose coefficients that minimize the sum of squared residuals.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House Price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Multiple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Suppose we want to predict house price using house size and number of bedrooms.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y = 50 + 2.5 x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+ 15 x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 = price  ·  x₁ = size (m²)  ·  x₂ = number of bedrooms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 each additional 1 m², price increases by 2.5 (holding other variables constant).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 each additional bedroom, price increases by 15 (holding other variables constant).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Intercept 50: baseline predicted price when size and bedrooms are both 0 (often not realistic alone — focus on slopes).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4360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“Holding other variables constant” is the key idea when interpreting each coefficient.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House Price Calculations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Multiple Linear Regression · Example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House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Size x₁ (m²)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Bedrooms 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Predicted price y ($1000)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100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50 + 2.5(100) + 15(2) = 330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120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50 + 2.5(120) + 15(3) = 395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80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50 + 2.5(80) + 15(1) = 265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2452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formula, different inputs → different predicted prices.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OLS?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 (OLS)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Ordinary Least Squares is the most common method to fit a linear regression line by minimizing prediction errors.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OLS chooses the line that makes the total squared error as small as possible.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Error for one point: residual = actual y − predicted ŷ.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Goal: minimize the sum of squared residuals across all training points.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 simple linear regression, OLS has a closed-form solution for b₀ and b₁.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Smaller squared errors → a better-fitting line on the training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Sum of Squared Errors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 (OLS)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OLS chooses parameters by minimizing the total squared difference between actual and predicted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 Σ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 = 1 … n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(y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residuals over all n training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Actual value: yᵢ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Predicted value: ŷᵢ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Residual error: eᵢ = yᵢ − ŷᵢ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4360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Squared errors make all errors positive, penalize large errors, and provide a clear optimization objective.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Gradient Descent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OLS · Optimization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Loss curve L(w) — minimum at the bottom of the bowl.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</a:t>
            </a:r>
            <a:r>
              <a:rPr sz="18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w</a:t>
            </a:r>
            <a:r>
              <a:rPr sz="22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L(w)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0624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 search for the parameter w that makes the loss as small as possible.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06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with an initial guess for 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223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Move downhill on the loss surface (opposite the gradient).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441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441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Stop when the updates become tiny — the algorithm has converged.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ols-loss-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238746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Converged: w = 2.00 · L(w) = 0.40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R-Squared (R²)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is a goodness-of-fit metric in regression. It measures how much variation in y is explained by model inputs.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1803196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2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R² = 1 −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2227" y="3794760"/>
            <a:ext cx="3394252" cy="156362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2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SS</a:t>
            </a:r>
            <a:r>
              <a:rPr sz="18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01939" y="3968404"/>
            <a:ext cx="3054827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32227" y="4000500"/>
            <a:ext cx="3394252" cy="15636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2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SS</a:t>
            </a:r>
            <a:r>
              <a:rPr sz="18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tot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0624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SS_res = residual sum of squares  ·  SS_tot = total sum of squares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006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close to 1 → the model explains most of the variation in 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223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close to 0 → the inputs explain little beyond predicting the mean of 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441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0441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Higher R² means a better fit on the data used to compute it — not automatically better predictions on new data.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lide-2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285421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= 1 means perfect fit on that sample; R² = 0 means no improvement over the mean baseline.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Interpreting 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R² means better explanatory power — more of the variation in y is captured by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= 1 → perfect fit (predictions match all observed y values).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07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= 0 → mean-level prediction performance (no better than always predicting ȳ).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725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725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 fits visually: points tightly around the line → higher R².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2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180427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R² to judge explanatory power on the fitted sample; validate generalization with hold-out metrics.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 Sum of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SS_res measures the unexplained error — how far predictions are from the actual values.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SS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res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 Σ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 = 1 … n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(y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residuals (prediction errors)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Smaller SS_res → predictions closer to the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Appears in the numerator of the R² formula.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Total Sum of Squares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SS_tot measures the total variation in y around its mean — the baseline scatter to explain.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SS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tot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 Σ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 = 1 … n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(y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ȳ)²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Sum of squared deviations from the mean 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is the variance (up to a constant factor) of the observed y values.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R² asks: what fraction of SS_tot is left unexplained by SS_res?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= 1 − SS_res / SS_tot  ·  explained variation = SS_tot − SS_res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Do These Terms Mean?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· Building Blocks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Term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SS_res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Residual Sum of Squares: squared distance between actual values and predictions.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SS_tot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Total Sum of Squares: squared distance between actual values and the mean of 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721607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31335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R² compares unexplained error (SS_res) with total variation (SS_tot).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R² Alone Is Not Enough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multiple regression, adding predictors often increases R² even when the new variables are not useful.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Ordinary R² never decreases when you add a predictor (it stays the same or goes up).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That can reward bloated models that fit noise instead of signal.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 need a metric that balances fit against model complexity.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Next: Adjusted R² applies a penalty for extra predictors.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Goodness of Fit · Model Comparison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Adjusted R² modifies R² so unnecessary predictors are penalized.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3482035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R²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adj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= 1 −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1260" y="3154680"/>
            <a:ext cx="6554419" cy="191109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1 − R²)(n − 1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28981" y="3366912"/>
            <a:ext cx="5898977" cy="18288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1260" y="3406140"/>
            <a:ext cx="6554419" cy="191109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n − p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 = number of samples  ·  p = number of predictors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Adjusted R² penalizes unnecessary predictors.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is usually a better metric for comparing models with different numbers of predictors.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adding a variable does not help enough, Adjusted R² can fall even when R² rises.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Adjusted R² — Quick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Adjusted R-Squared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Predictors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R²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Adjusted R²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Interpretation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x₁, x₂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0.82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0.81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Strong and efficient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x₁, x₂, x₃, x₄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0.83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0.79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Higher R², but worse after penalty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721607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31335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B looks better by R², but Adjusted R² shows the extra variables are likely not helpful.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of Linear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regression is most reliable when core assumptions are approximately satisfied.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743200"/>
          <a:ext cx="109728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Assumption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If Violated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Relationship between y and each x is roughly linear.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Biased predictions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Homoscedasticity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Error variance is roughly constant across fitted values.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Unstable standard errors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Normality of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Residuals are approximately normal.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Inference becomes less reliable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Independence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Observations/errors are independent.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Biased significance tests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No Severe Multicollinearity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Predictors are not highly redundant.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Coefficients become unstable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Limited Outlier Influence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Extreme points do not dominate the fit.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Distorted regression line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5541264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50992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Diagnostics in the next slides help check these assumptions in practice.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Assumptions with Practical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Residual Diagnostics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Assumption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Simple 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Practical Check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Sales increase approximately linearly with ad spend.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Scatter plot / residual plot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Homoscedasticity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Prediction errors are similar for low and high sales values.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Residuals vs fitted values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Normal Errors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Most residuals are near zero, few at extremes.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Histogram / Q-Q plot of residuals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Independence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Customer records are independent.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Study design / Durbin-Watson for time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Low Multicollinearity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TV_ads and radio_ads are not near-duplicates.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Correlation matrix / VIF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Outlier Control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One extreme house price should not define the whole model.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Cook's distance / leverage diagnostics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901184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10912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one assumption is violated, use transformations, robust methods, feature engineering, or a different model.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Residuals vs Fitted 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Practical Check · Homoscedasticity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residuals-vs-fitted plot is a common practical check: look for random scatter around zero with roughly constant spread.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 clear curve → linearity looks reasonable.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07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Fan shape (spread grows with fitted value) → possible heteroscedasticity.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725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725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 isolated points → check for influential outliers.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lide-25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28542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Static diagnostic plot from the course materials (slide image 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Building a Regression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Model-building methods select the most relevant predictors to balance simplicity, interpretability, and predictive accuracy.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74320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Core 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Best Use 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All-in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Use all predictors directly.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Strong prior knowledge that all variables matter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Backward Elimination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Start full and remove least significant variables.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Many candidate predictors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Forward Selection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Start empty and add most significant variables.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Need a compact model from scratch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Bidirectional (Stepwise)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Add and remove dynamically.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Flexible search for balanced model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536752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7725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Choose a method that matches how many candidates you have and how strong your prior knowledge 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Backward Elimination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with the full model, then drop the least useful predictors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Set significance level (e.g., SL = 0.05).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Fit model with all predictors.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Remove highest p-value if p &gt; SL.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Refit and repeat until every remaining predictor has p ≤ SL.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Best when you begin with many candidate predictors and want to prune the model.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Build the model from scratch by adding the strongest predictors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Start with no predictors.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Add the variable with the lowest p-value below SL.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Continue one-by-one.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Stop when no remaining variable qualifies (all p &gt; SL).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Best when you want a compact model and prefer to grow it carefully from an empty start.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Bidirectional (Stepwise)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 ·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Combine forward and backward moves: add and remove predictors dynamically each iteration.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Add significant variables (forward step).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Remove non-significant ones (backward step).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Repeat until adding or removing no longer improves the model under SL.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Flexible search for a balanced model — often more adaptive than pure forward or backward alone.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Useful when you want a flexible path that can correct earlier include/exclude decisions.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Mini Example — Backward Elimination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Model-Building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Iteration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Candidate Predictors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Selected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Start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x₁, x₂, x₃, x₄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Full model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highest p-value: x₄ = 0.42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Remove x₄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highest p-value: x₃ = 0.11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Remove x₃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Final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x₁, x₂ with p &lt; 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Keep final model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72744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3717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With SL = 0.05, variables with p &gt; SL are removed until only significant predictors remain.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Significance Level and p-value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Selection · Decision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 the p-value to alpha (significance level) to decide whether a predictor is statistically significant.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0.03 &lt; 0.05  ⇒  Reject H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Example: p = 0.03 and alpha = 0.05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p &lt; alpha: reject H₀ (statistically significant).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p ≥ alpha: fail to reject H₀.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4360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So the predictor is considered significant at the 5% level.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Key Concepts: H₀, p-value, Alpha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Significance Level and p-value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Concept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Null Hypothesis (H₀)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No effect / no relationship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p-value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Probability of observing current result (or more extreme) if H₀ is true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Significance Level (alpha)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Maximum tolerated Type I error probability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2452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In model building, predictors with p &lt; alpha are kept as statistically significant.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Is SL = 0.05 Common?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Standard Choice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SL = 0.05 is widely used because it balances sensitivity and false-positive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SL = 1 − Confidence Level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Example: 95% confidence  →  SL = 0.05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α = 0.05 implies a 5% false-positive rate under the null hypothesis.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is a convention, not a law — adjust for domain risk (medical vs A/B tests).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Report effect size and confidence intervals alongside p-values.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SL vs Confidence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Is SL = 0.05 Common?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Confidence Level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Strictness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0.10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90%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Less strict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95%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Standard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0.01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99%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More strict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2452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Lower SL → higher confidence requirement → stricter evidence to keep a predictor.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to Choose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Significance Level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Scenario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Suggested SL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High-stakes decisions (medicine, safety, finance)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0.01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General modeling and reporting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0.05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Exploratory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0.10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2452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Start with SL = 0.05, then adjust based on domain risk, dataset size, and model purpose.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Polynomial Regression extends linear regression to model non-linear relationships by adding polynomial terms.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y = b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0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+ b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 + b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2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x² + b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3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x³ + 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form: y = b_{0} + b_{1}x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regression: y = b₀ + b₁x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Polynomial regression: y = b₀ + b₁x + b₂x² + b₃x³ + 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is still linear in parameters because coefficients remain linear.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94360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 transform features (x², x³, …), then fit ordinary linear regression on those features.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Polynomial Regression?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Simple linear regression fits only straight lines, but many real-world relationships are curved.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Population growth over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Disease progression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Sales and economic trends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Rainfall vs crop yield relationships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5332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5332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Curved or U-shaped data is often underfit by a straight line.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Polynomial Regression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Polynomial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y = b₀ + b₁x + b₂x² + ⋯ + b_d x^d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743200"/>
          <a:ext cx="10972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Description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Start with input feature 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Create transformed terms: x², x³, …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Fit linear regression on transformed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Estimate coefficients (b₀, b₁, b₂,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Use the fitted equation to predict 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5157216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66944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 is the polynomial degree.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Choosing the Polynomial Degree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Complexity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polynomial degree controls model complexity.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74320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Degree Choice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Too 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Underfitting (model too simple)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Too 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Overfitting (fits noise, weak generalization)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Balanced degree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Better bias-variance trade-off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486460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7433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cross-validation · Compare adjusted R² · Compare validation/test error.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to Use 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Good Use Cases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Data shows clear curved trends · more flexibility than a straight line · you still want interpretable behavior.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74320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Application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Example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Forecasting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Demand and sales trends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Environment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Rainfall vs crop yield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Medicine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Disease / progression patterns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Engineering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Stress-strain and similar curves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536752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7725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Choose polynomial regression when curves matter, but full black-box models are not required yet.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Limitations of Polynomial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Trade-offs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Overfitting risk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High-degree models may memorize noise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Outlier sensitivity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Extreme points can shift the curve strongly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Extrapolation weakness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Predictions outside training range can be unreliable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Limited flexibility for very complex patterns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Some tasks are better handled by tree-based or neural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72744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3717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polynomial regression as a baseline, then compare with alternatives as complexity grows.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Polynomial Regression Visual Explanation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vs Polynomial 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section compares linear and polynomial fits, and shows how model behavior changes with polynomial degree.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Underfitting: degree too low — high bias.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07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Overfitting: degree too high — high variance.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725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725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validation curves to pick degree — not training error alone.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lide-39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28516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Comparison plots are shown below.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Effect of Polynomial Degree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Explanation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As degree increases, the curve becomes more flexible — useful at first, then prone to fitting noise.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Underfitting: degree too low — high bias.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07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Overfitting: degree too high — high variance.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725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725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validation curves to pick degree — not training error alone.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lide-39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28516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Comparison plots are shown below.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Support Vector Machine (SVM) and SVR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Support Vector Regression (SVR) is the regression version of SVM. It predicts a continuous target with a flat function and a tolerance margin.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SVM maximum margin: widest gap between classes; support vectors define the margin.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Used in disease progression prediction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Used in engineering curves (e.g., stress-strain)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3153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3153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Used in demand and trend forecasting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53328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53328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uses an epsilon-insensitive zone where small errors are ignored.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SVM maximizes the margin between classes; SVR adapts that idea to continuous targets with an ε-tube.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76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Formulation and Equations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 predicts with a (possibly kernelized) linear function in a feature space.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f(x) = wᵀ φ(x) +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φ(x) maps input to a (possibly) higher-dimensional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φ(x) maps input to a (possibly) higher-dimensional space.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kernels, we avoid computing φ(x) explicitly.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76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Soft-Margin SVR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Optimization Objective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Minimize model complexity while penalizing points that fall outside the epsilon tube.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 ½∥w∥² + C Σ (ξᵢ + ξᵢ*)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 w, b, ξᵢ, ξᵢ*  ·  C trades flatness vs errors outside the tube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½∥w∥² keeps the function flat (prefer smaller weights).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 Σ(ξᵢ + ξᵢ*) penalizes residuals beyond the ε-insensitive zone.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C → fit training points more tightly; smaller C → smoother model.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76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Soft-Margin SVR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Predictions may deviate from yᵢ by at most ε, unless a slack variable absorbs the excess error.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yᵢ − (wᵀφ(xᵢ) + b) ≤ ε + ξᵢ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Upper side of the ε-tube (actual above prediction)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(wᵀφ(xᵢ) + b) − yᵢ ≤ ε + ξᵢ*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ξᵢ, ξᵢ* ≥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Inside the tube → no penalty; outside → pay via the matching slack.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76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Tuning Knobs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epsilon (ε)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Width of the no-penalty tube around prediction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C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Penalty strength for points outside the tube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Kernel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Controls curve shape (linear, RBF, polynomial)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2452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Tune ε, C, and the kernel together — changing one often changes how the others behave.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76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Compared with Traditional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Traditional Regression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Error handling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Minimizes all residuals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Ignores errors inside epsilon-tube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Outlier sensitivity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Can be sensitive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More robust when tube and C are tuned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Non-linear handling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Needs explicit feature engineering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Uses kernels directly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Large datasets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Usually faster for very large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Can become expensive for very large sample sizes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72744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3717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feature scaling before SVR. Start with RBF kernel, then tune C, epsilon, and kernel parameters.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Visual Intuition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epsilon-tube ignores small residuals; only larger deviations pull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Points inside the tube do not contribute to the loss.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07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Kernels let SVR bend to non-linear patterns without hand-built features.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189309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Comparison plots from the course materials.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SVR Fit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SVR?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a tuned tube and kernel, SVR can follow curved trends while staying robust to small noise.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Scale features before fitting.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07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Validate C, ε, and kernel width on hold-out or CV folds.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3493275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Regression (CART)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Decision Tree Regressor?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 Regressor predicts continuous values by splitting feature space into rule-based regions and assigning a constant value in each region.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Captures non-linear relationships.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07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Easy to interpret if tree depth is controlled.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725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725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Handles complex feature interactions.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ecision-tree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25645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Split: recursive partitioning by feature threshold · Root → branches → leaf nodes.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Core Concept of Regression Trees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Tree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regression tree is built from decision rules that partition the input space into regions with constant predictions.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Internal node: decision rule (e.g., x ≤ 4.5).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Branch: outcome of the rule.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Leaf node: predicted value (usually region mean).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CART Perspective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and Regression Trees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Tree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Target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Typical Criterion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Classification Tree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Categorical target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Gini / 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Regression Tree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Continuous target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MSE (or MAE)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721607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831335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section focuses on the Regression Tree part of CART.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Splitting Happens (MSE Criterion)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Node MSE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CART picks the split that maximally reduces MSE (regression) or Gini/entropy (classification).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MSE(S) = (1 / |S|) Σ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 ∈ S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(y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ȳ_S)²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squared distance from the node mean ȳ_S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Greedy splits are fast but not globally optimal.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Depth and min-samples-leaf control overfitting on small datasets.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Split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MSE Criterion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candidate split is scored by the size-weighted average MSE of the left and right child nodes.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MSE_split = (|S_L|/|S|) MSE(S_L) + (|S_R|/|S|) MSE(S_R)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S_L / S_R = left and right subsets after the candidate split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the split with the minimum weighted MSE.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child nodes influence the score more (weighted by |S_L| and |S_R|).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Prediction at Leaf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Tree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Once a region is pure enough to stop splitting, the leaf predicts a constant value for every point that lands there.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ŷ_leaf = (1 / |S_leaf|) Σ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 ∈ S_leaf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y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Usually the mean of the training targets in that leaf region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Same prediction for all samples that reach the same leaf.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Deeper trees create smaller regions and more varied leaf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Regression Algorithm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Simple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Recursive partitioning by feature threshold · Root → branches → leaf nodes.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743200"/>
          <a:ext cx="109728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Start with all data at the root node.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Evaluate candidate splits across features.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Compute weighted MSE for each split.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4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Select the split with minimum error.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Repeat recursively on child nodes.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6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Stop based on rules (max depth, min samples).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7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Predict using leaf mean value.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5897880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600760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Split: greedy recursive partitioning until a stopping rule fires.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Fit (Visual)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Algorithm · Static Plot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fitted regression tree partitions x into intervals and predicts a constant in each leaf region.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Piecewise-constant prediction surface.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07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More depth → more steps and finer partitions.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6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2851629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Important Hyperparameters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Regression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max_depth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Controls model complexity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min_samples_split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Minimum samples required to split a node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min_samples_leaf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Minimum samples in each leaf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max_leaf_nodes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Limits number of terminal regions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72744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3717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These settings reduce overfitting and improve generalization.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Random Forest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is Random Forest Regressor?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Forest Regression is an ensemble method that combines many decision trees and averages their predictions.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ŷ_RF(x) = (1 / N_trees) Σ ŷ_t(x)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0624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Final prediction = average of the individual tree predictions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06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Sample training data with bootstrap.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223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Build many trees on different samples.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441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441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Predict with all trees and average outputs.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66597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66597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Averaging reduces variance and usually improves generalization.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andom-forest-ensem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2377553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Static ensemble diagram · also see the fitted RF curve in course plots (slide-46-3).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Decision Tree vs Random 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Comparison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084831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Tree Split: recursive partitioning by feature threshold · Root → branches → leaf nodes.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743200"/>
          <a:ext cx="109728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Decision Tree Regressor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Random Forest Regressor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Model type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Single tree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Ensemble of many trees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Split criterion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MSE per split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Trees split by MSE, then averaged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Overfitting risk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Higher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Lower (variance reduction)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Stability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Sensitive to data changes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More stable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Final prediction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Output of one tree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Mean of all tree outputs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5541264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50992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Use a single tree for interpretability; use random forest for stronger performance.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 Importance (Random Forest)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Decision Tree vs Random Forest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forests also provide useful feature-importance scores from how often/how strongly features are used across trees.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Higher importance → feature contributed more to reducing error.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07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as a guide for insight — not as a causal proof.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lide-4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285421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Evaluating 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Key Performance Metrics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Formula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What It Tells Us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MAE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(1/n) Σ |yᵢ − ŷᵢ|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Average prediction error magnitude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MSE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(1/n) Σ (yᵢ − ŷᵢ)²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Penalizes large errors more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RMSE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√[(1/n) Σ (yᵢ − ŷᵢ)²]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Error in original target scale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R²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1 − SS_res / SS_tot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Fraction of variance explained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72744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3717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Evaluate using more than one metric (e.g., RMSE with R²) for balanced judgment.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Methods (Why Needed?)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Overfitting Problem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When a model is too flexible, it may fit noise instead of true patterns.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5303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min_β  Σ (y</a:t>
            </a:r>
            <a:r>
              <a:rPr sz="18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2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18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2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 + λ · Ω(β)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0624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loss  +  λ × penalty on coefficients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06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Very low training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223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Weak test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0441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441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High variance and unstable predictions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regularization-p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273569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Regularization controls complexity by penalizing large coefficients.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Loss + Penalty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Trade off fitting the training data against keeping coefficients small.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min_β  data loss + λ · penalty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data loss = Σ(yᵢ − ŷᵢ)²   ·   penalty = Ω(β)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λ = 0 → ordinary least squares (no penalty).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Larger λ → stronger shrinkage of coefficients.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λ with validation / cross-validation.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Ridge, Lasso, and Elastic 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Regularization Families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Different penalties shrink coefficients differently as regularization strength increases.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 (L2): shrinks all coefficients — good when many features correlate.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07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Lasso (L1): can zero out coefficients — embedded feature selection.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725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725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Elastic Net blends L1 + L2 for correlated sparse settings.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94376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294376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Regularization path: coefficients shrink with regularization strength.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egularization-pa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273569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Pick the penalty that matches your goal: stability (Ridge), sparsity (Lasso), or both (Elastic Net).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Without Regularization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Ordinary Least Squares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Fit only by minimizing squared prediction error — no penalty on coefficient size.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min_β  Σ (y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Can overfit when many features or highly correlated predictors are present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No shrinkage of coefficients.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Equivalent to setting λ = 0 in the regularized objectives.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Ridge Regression (L2)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Penalty: sum of squared coefficients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Add an L2 penalty so large coefficients are discouraged, but usually none are forced exactly to zero.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min_β  Σ (y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 + λ Σ βⱼ²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λ ≥ 0 controls shrinkage strength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Shrinks all coefficients toward zero smoothly.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when many features are correlated.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Does not perform hard feature selection (coefficients stay non-zero).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Lasso Regression (L1)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Penalty: sum of absolute coefficients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Add an L1 penalty that can drive some coefficients exactly to zero — built-in feature selection.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min_β  Σ (y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 + λ Σ |βⱼ|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Larger λ → sparser models (more zeros)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Can zero out coefficients — embedded feature selection.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when you expect only a few predictors truly matter.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highly correlated features, Lasso may keep one and drop the others.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Elastic Net (L1 + L2)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Blend of Lasso and Ridge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0972800" cy="7772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Combine L1 and L2 penalties to get sparsity with more stable behavior under correlation.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min_β  Σ (y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− ŷ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)² + λ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1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Σ |βⱼ| + λ</a:t>
            </a:r>
            <a:r>
              <a:rPr sz="2400" b="1" baseline="-25000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2</a:t>
            </a:r>
            <a:r>
              <a:rPr sz="2800" b="1">
                <a:solidFill>
                  <a:srgbClr val="5234B7"/>
                </a:solidFill>
                <a:latin typeface="Helvetica Neue"/>
                <a:ea typeface="Helvetica Neue"/>
                <a:cs typeface="Helvetica Neue"/>
              </a:rPr>
              <a:t> Σ βⱼ²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0241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λ₁ controls sparsity  ·  λ₂ controls ridge-style shrinkage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8912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38912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Elastic Net blends L1 + L2 for correlated sparse settings.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1091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1091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Often preferred when groups of correlated features should be selected together.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63270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3270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Tune both λ₁ and λ₂ (or the mixing ratio) with cross-validation.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When to Use Each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Ridge · Lasso · Elastic 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097280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10332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Match the penalty to the feature structure you expect.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Ridge: many small/medium useful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8795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8795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Lasso: only few important features expected.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974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974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Elastic Net: correlated features and need both stability and sparsity.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 Comparison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Ridge vs Lasso vs Elastic Net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Penalty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Main Behavior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Feature Selection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Ridge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L2 (sum βⱼ²)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Shrinks coefficients smoothly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Lasso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L1 (sum |βⱼ|)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Shrinks and can set some coefficients to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Yes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Elastic Net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L1 + L2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Combines shrinkage + selection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Yes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2452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Scale features before Ridge/Lasso/Elastic Net — penalties depend on coefficient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76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Regression Models — Pros &amp; Cons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Summary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Advantages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Disadvantages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Linear 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Simple, fast, easy to interpret, works well for linear patterns.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Assumes linear relationship and is sensitive to outliers.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Polynomial Regression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Captures curved/non-linear relationships better than linear regression.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Choosing degree is sensitive; high degrees may overfit.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Handles non-linear patterns with kernels; can be robust to noise with tuning.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Needs feature scaling and careful tuning; slower on large datasets.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Decision Tree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Interpretable rules, captures interactions, no feature scaling required.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Can overfit easily and may be unstable with small data changes.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Random Forest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Higher accuracy and stability; reduces overfitting by averaging trees.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Less interpretable and can be computationally heavier.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17136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26864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interpretability is priority: Linear Regression or Decision Tree. If predictive performance is priority: Random Forest.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76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 Summary (Name + Equation)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Summary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"/>
                        </a:rPr>
                        <a:t>Core Equation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Linear 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ŷ = b₀ + b₁x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Polynomial Regression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ŷ = b₀ + b₁x + b₂x² + ⋯ + b_d x^d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f(x) = wᵀ φ(x)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Decision Tree Regression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ŷ_leaf = mean(y in S_leaf)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5234B7"/>
                          </a:solidFill>
                          <a:latin typeface="Helvetica"/>
                        </a:rPr>
                        <a:t>Random Forest 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21018"/>
                          </a:solidFill>
                          <a:latin typeface="Helvetica"/>
                        </a:rPr>
                        <a:t>ŷ_RF(x) = (1/N_trees) Σ ŷ_t(x)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517136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26864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If interpretability is priority: Linear Regression or Decision Tree. If predictive performance is priority: Random Forest.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76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Visual Comparison of Regression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Dataset · Different 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5760720" cy="12344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slide compares model behavior on the same dataset: Linear Regression, Polynomial Regression, SVR, Decision Tree Regression, and Random Forest Regression.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/ Ridge: interpretable, fast — watch nonlinear patterns.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050792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50792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SVR: margin-based with kernels — can be slow on huge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672584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72584"/>
            <a:ext cx="102412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Tree / RF: nonlinear, little scaling — weak at extrapolation.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931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lide-54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40280"/>
            <a:ext cx="4617720" cy="306274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output from Python code is shown below.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76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S02  ·  Regression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Model Families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Session Closing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03120"/>
          <a:ext cx="10972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Watch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Linear / Ridge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Interpretable, fast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Nonlinear patterns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SVR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Margin-based, kernels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Slow on huge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234B7"/>
                          </a:solidFill>
                          <a:latin typeface="Helvetica"/>
                        </a:rPr>
                        <a:t>Tree / RF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Nonlinear, little scaling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21018"/>
                          </a:solidFill>
                          <a:latin typeface="Helvetica"/>
                        </a:rPr>
                        <a:t>Extrapolation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24528"/>
            <a:ext cx="10972800" cy="5029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Visual output from Python code is shown on the previous slide.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76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