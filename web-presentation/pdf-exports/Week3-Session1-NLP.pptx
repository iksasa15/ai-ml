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Workshop: Foundations to Seq2Seq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3 Session 1 — NLP from raw text to Seq2Seq.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62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3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62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Foundations · Tokenization ·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&amp; Cleaning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&amp; 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&amp; 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62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Natural language is ambiguous, context-dependent, and full of idioms.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often depends on pragmatics, domain, and cultural background.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sentence can map to multiple valid interpretations.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62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Fundamentals and Challenges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Natural Language Is Difficult for Machines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inguistic-lev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systems must model form, meaning, and context simultaneously.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String, Two Readings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mbigu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62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Ambiguity in Language: Practical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String, Two Readings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Expression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Possible Interpretation B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bank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Financial institution is closed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River bank area is inaccessible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It's cold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temperature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Emotionally distant behavior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The chicken is ready to eat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Food is ready to be eaten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Animal is ready to eat food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Robust NLP requires disambiguation using surrounding textual and situational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62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Compact Pattern Language for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Regex is a compact pattern language for matching and transforming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uses include validation, extraction, and rule-based cleanup.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emails, phone numbers, logs, and normalization pipelines.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62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Compact Pattern Language for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gex-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62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 Expressions (Regex): Core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Compact Pattern Language for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Match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\d+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digits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2026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\w+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word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nlp_model1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^[A-Z]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starts with uppercase letter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Hello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\S+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or more non-space chars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token123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62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eaning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62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Conceptual Steps &amp; Python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Conceptual stages matched with Python regex implementations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Decode &amp; Clean HTML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html.unescape(text) &amp; re.sub(r'&lt;[^&gt;]+&gt;',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Keep readable text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Contacts/URLs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re.sub(r'https?://\S+|www\.\S+', '', 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URL metadata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Mentions/Socials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re.sub(r'@\w+|#\w+', '', 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handles &amp; hashtags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Non-ASCII &amp; Emoji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text.encode('ascii', 'ignore').decode('ascii')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Drop emoji/special symbols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5. Normalize Whitespace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re.sub(r'\s+', ' ', text).strip()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Normalize extra spaces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regex-based cleaning function is usually the first stage in an NLP preprocessing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62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Text Cleaning — Worked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Trace of raw input transitioning to clean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Operation performed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Text snapshot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0. Raw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Original raw string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&lt;p&gt;John: "AI is amazing!!!! 🤖🔥" Visit: https://ai.com @john #AI&lt;/p&gt;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1. Clean HTML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Decode entities &amp; remove 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https://ai.com @john #AI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2. Remove URLs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web addresses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 @john #AI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3. Remove Socials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Remove @mentions and #hashtags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John: "AI is amazing!!!! 🤖🔥" Visit:  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4. Drop Emoji/Symbols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ASCII-only encoding &amp; cleanup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John AI is amazing!!!! Visit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26110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3425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cleaning produces standard, noise-free input for tokenizer components.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62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Comparing different levels of text splitting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okenize-granu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350008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Granularities (Word, Char, Subword)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Comparing different levels of text splitting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Granularity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output (for 'running')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 / Space-based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Human-readable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on rare/compound words (OOV)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Character-based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 unknown words (no OOV)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long sequences, loss of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['r', 'u', 'n', 'n', 'i', 'n', 'g']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Handles rare words, compact vocab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Requires tokenizer training/tuning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['run', '##ning']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187952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61104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Subword tokenization is the industry standard for modern LLMs and neural NLP models.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Tokenization Views (Code Examples)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sentence, word / char / subword splits side by side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Tokenizer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Python Implementation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Result on "I'm running to the store!"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word_tokenize(text)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Character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list(text)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"'", 'm', ' ', 'r', 'u', 'n', 'n', 'i', 'n', 'g', ...]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Subword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model_tokenizer.tokenize(text)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['I', "'m", 'run', '##ning', 'to', 'the', 'store', '!']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Sentence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sent_tokenize(text)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["I'm running to the store!"]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62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pe-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Subword Tokenization (LLMs) — Why It Wins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subwords solve core vocabulary challenges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 Tokenizer Issue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Solution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Worked Out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Huge vocabulary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Reuse frequent morphemes/pieces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unbelievably → un + ##believe + ##ably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Out-of-Vocabulary (OOV)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Break unknown forms into known units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ChatGPT → ['Chat', 'G', 'PT']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Morphological variants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Shared roots reduce feature sparsity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running/runs/runner share 'run'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Walkthrough: start with chars (l, o, w, e, s, t, r) -&gt; merge l+o (lo) -&gt; merge lo+w (low) -&gt; compact vocabulary.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Inference on 'lowered the lowest curtain': splits rare words to ['low', 'er', 'ed'] and ['low', 'est'] while keeping 'the' and 'curtain' whole.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BPE Walkthrough &amp; Inference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How Byte Pair Encoding learns merges and splits unseen words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Word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Subword Output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Explanation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lowered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'er', 'ed']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learned root and suffix subwords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lowest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['low', 'est']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Decomposes into base 'low' and suffix 'est'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BPE repeatedly merges frequent adjacent units until target vocabulary size is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62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Function words (the, is, and) dominate word counts but carry minimal topic signal.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Removing stop words reduces dimensionality for TF-IDF &amp; Bag-of-Words.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Critical Rule: NEVER remove stop words for language models (GPT/BERT), translation, or sentiment analysis where negation ('not') and syntax carry the core meaning.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Stop Words: Purpose &amp; Tradeoffs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Filtering low-information tokens from texts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 Category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Stop Word Policy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Reasoning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Search &amp; Topic Modeling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Improves speed and focus on key words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Language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Syntactic and semantic flow is vital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Sentiment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Negations like 'not' reverse polarity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em-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62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Stemming vs Lemmatization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Normalizing words to their base forms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Aspect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Stemming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Lemmatization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Mechanism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Rule-based suffix chopping (heuristic)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Dictionary lookup + morphological analysis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Speed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fast, computationally cheap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Slower, requires resource lookup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be non-words (e.g., study -&gt; studi)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Always dictionary words (e.g., study -&gt; study)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POS Awareness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Yes (e.g., saw -&gt; see or saw depending on POS)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Lemmatization preserves semantics better than aggressive stemming.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62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categories include NOUN, VERB, ADJ, ADV, DET, ADP, PROPN, NUM,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POS feeds lemmatization quality and downstream relation extraction.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SpaCy exposes coarse pos_ and fine-grained tag_ plus dependency dep_.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62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s-ta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62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Part-of-Speech (POS) Tagging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Grammar Labels per Token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Quick 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NOUN / PROPN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Things and names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city, Tesla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VERB / AUX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Actions and helpers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run, is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ADJ / ADV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Modifiers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quick, quickly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DET / ADP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Structure words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the,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62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Labels include PERSON, ORG, GPE, DATE, MONEY, PERCENT, PRODUCT, EVENT, 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Useful for indexing, compliance redaction, financial news graphs, and search facets.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Small models err on edge cases — always spot-check domain text.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62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r-sp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62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Named Entity Recognition (NER)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Typed Spans over 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Label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PERSON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Tim Cook, Jensen Huang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ORG / GPE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Apple, Texas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MONEY / PERCENT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$430 billion, 3.5%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62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Doc Object, Many 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doc object: tokens, lemmas, POS, entities, noun_chunks, sents.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export: clean token list, lemma bag, entity list, POS histogram.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length-based heuristics (e.g. longest sentence) only as weak importance cues.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62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Full SpaCy Pipeline Functionally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Doc Object, Many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pacy-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models estimate probabilities over word sequences.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 models predict the next token from a limited context window.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connects N-gram intuition to modern LLM generation.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62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Language Modeling with N-grams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From Count-Based Prediction to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gram-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62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Formal Language Modeling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Score a sentence, or predict the next 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29beb2a23b1f3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74" y="2103120"/>
            <a:ext cx="4426131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language model can score full sentences or predict the next word.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Exact estimation over full histories is intractable for real corpora.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Approximation strategies include N-grams, smoothing, and neural LMs.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62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Worked Bigram Example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Counts to a conditional probability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Given counts: C("want to") = 608, C("want") = 927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c5904c83a427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57" y="2880360"/>
            <a:ext cx="4339765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976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Interpretation: in this corpus, "to" follows "want" about 65.6% of the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731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731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Count quality depends strongly on corpus domain and size.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62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Multiplying many small probabilities causes numerical underflow.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Log transform converts multiplication into stable addition.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scoring becomes computationally robust and efficient.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62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-pr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985" y="2130552"/>
            <a:ext cx="1053010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62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Use Log Probabilities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Underflow → stable sums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Original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Log Space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 = p1 * p2 * ... *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log P = log p1 + log p2 + ... + log pk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Very small numbers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Numerically stable sums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62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Perplexity (PP): 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Average branching uncertainty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2289f503ddb4f4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949" y="2103120"/>
            <a:ext cx="58581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Perplexity is the average branching uncertainty of the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PP means better predictive confidence on unseen text.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 identical test sets when comparing models.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98932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Raw sentence probabilities are length-sensitive; perplexity normalizes by token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62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per type vs a vector per 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tatic-vs-contex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62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Static vs Contextualized Word Representations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per type vs a vector per context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Property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Static Embeddings (Word2Vec/GloVe)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Contextualized Embeddings (ELMo/BERT/GPT)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Vector per word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fixed vector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Different vectors per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Polysemy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Context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Usually local/global corpus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or autoregressive sequence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Moderate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 with pretraining + 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Contextualization is a core enabler for modern LLM 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62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Layers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Static embeddings: one vector per word type.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633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633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Contextual: vector depends on surrounding tokens (ELMo, BERT-style).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Token/base embedding layer maps input ids to dense vectors.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82211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82211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Context encoder layers (often Transformer blocks) enrich each token with sequence context.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4515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4515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head uses contextual features for prediction.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62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How Contextualized Embeddings 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 Semantics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Lower layers capture local syntax/patterns.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improve sense disambiguation.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Upper layers capture richer semantics and task-specific signals.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62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afb3f0f1ce3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947" y="2103120"/>
            <a:ext cx="6568185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52044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4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time t, the RNN consumes current input and previous hidden state.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9592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cell and weights are reused at every time step.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7141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7141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recurrence captures sequential information in variable-length text.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62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Mechanism and Weight Sharing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Same cell, every time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62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patter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62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Common RNN Input/Output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Where recurrence earns its keep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Pattern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Mapping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 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basic regression/classification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One-to-Many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single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image captioning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Many-to-One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single output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sentiment classification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Many-to-Many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sequence input -&gt; sequence output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machine translation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Sequence-aware patterns are where recurrent models provide clear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62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 Family: Vanilla, GRU, BiRNN, LSTM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Gating and direction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Vanishing Gradient 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Simple 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Poor long-range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Efficient gating with fewer parameters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still degrade on very long contexts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BiRNN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Medium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Uses past and future 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 and memory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LSTM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 (relative)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Strong long-term dependency handling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Heavier than GRU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62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Seq2Seq maps variable-length input sequences to variable-length outputs.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Encoder-decoder models were foundational for neural machine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module covers training, decoding, bottlenecks, attention, and metrics.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62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NLP Seq2Seq for Neural Machine Translation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Encoder-Decoder Modeling, Decoding Strategies, and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q2s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62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eedy-vs-b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62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Inference: Greedy Decoding vs Beam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Local pick vs shortlist of hypotheses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Decision Rule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Risk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Greedy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Pick top token each step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simple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May miss globally better sequence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Beam Search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Track top-k hypotheses each step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global sequence quality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compute; can become generic/bland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493008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566160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Typical beam sizes are moderate (e.g., 4-10) to balance quality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62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Information Bottleneck in Basic Seq2Seq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vector cannot carry the whole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Compressing a full source sentence into one fixed vector can lose detail.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Longer/complex inputs worsen the bottleneck effect.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needs different source details at different output steps.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motivates attention over all encoder hidden states.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62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ottleneck-atten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62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as the Bottleneck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Look at relevant encoder positions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attends to relevant encoder positions at each generation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Dynamic alignment improves translation adequacy and fluency.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laid the foundation for transformer-dominant NMT systems.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62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NMT Evaluation Metrics: BLEU and ROUGE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Overlap proxies, not meaning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Orientation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Measures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BLEU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Precision-oriented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candidate to reference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Weak semantic/syntactic sensitivity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ROUGE-N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Recall-oriented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n-gram overlap from reference to candidate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 reward lexical overlap over meaning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F1 (with overlap metrics)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Balance precision/recall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Harmonic tradeoff view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Still limited on deep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62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ormer-encd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NLP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Transformer Encoder-Decoder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Bridge to Week 4 GenAI — encoder-decoder intuition before BERT/GPT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builds contextual token representations from source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6888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generates target tokens autoregressively with attention to encoder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4436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Foundation architecture for translation, summarization, and many LLM pipelines.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Attention mechanisms reduce reliance on recurrence for sequence modeling.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62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S08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Language is ambiguous — cleaning and tokenization choices persist through the pipeline.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N-grams and RNNs model sequences; attention removes the seq2seq bottleneck.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Subword tokenizers and encoder–decoder attention are the bridge to Transformers.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62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code/16-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