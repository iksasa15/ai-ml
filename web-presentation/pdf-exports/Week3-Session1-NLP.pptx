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3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Workshop: Foundations to Seq2Seq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Week 3 Session 1 — NLP from raw text to Seq2Seq.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2679192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74519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3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Foundations · Tokenization · Seq2Seq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8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Regex &amp; Cleaning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17536" y="4297680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4352544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POS &amp; 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8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088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4919472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4974336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41264"/>
            <a:ext cx="3383280" cy="43891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3383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Seq2Seq &amp; 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Foundations · Tokenization · Seq2Seq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Regex &amp;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POS &amp; 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79592"/>
            <a:ext cx="320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79592"/>
            <a:ext cx="9875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Seq2Seq &amp; Attention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Fundamentals and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Natural Language Is Difficult for Machines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nguistic-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138" y="2194560"/>
            <a:ext cx="6453802" cy="4050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Fundamentals and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Natural Language Is Difficult for 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Natural language is ambiguous, context-dependent, and full of idioms.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Meaning often depends on pragmatics, domain, and cultural background.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same sentence can map to multiple valid interpretations.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systems must model form, meaning, and context simultaneously.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Ambiguity in Language: Practical Examples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Expression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Possible Interpretation 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Possible Interpretation B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The bank is closed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Financial institution is closed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River bank area is inaccessible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It's cold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 temperature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Emotionally distant behavior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The chicken is ready to eat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Food is ready to be eaten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Animal is ready to eat food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71246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8561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Robust NLP requires disambiguation using surrounding textual and situational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 Expressions (Regex): 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Regex is a compact pattern language for matching and transforming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Typical uses include validation, extraction, and rule-based cleanup.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Useful for emails, phone numbers, logs, and normalization pipelines.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Regular Expressions (Regex): Core Idea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Pattern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 Match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\d+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or more digits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2026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\w+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or more word chars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nlp_model1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^[A-Z]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starts with uppercase letter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Hello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\S+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or more non-space chars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token123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Text Cleaning — Conceptual Steps &amp; Python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Conceptual stages matched with Python regex implementations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Stage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Python Implementation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Goal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1. Decode &amp; Clean HTML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html.unescape(text) &amp; re.sub(r'&lt;[^&gt;]+&gt;', '', text)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Keep readable text only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2. Remove Contacts/URLs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re.sub(r'https?://\S+|www\.\S+', '', text)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Drop URL metadata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3. Remove Mentions/Socials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re.sub(r'@\w+|#\w+', '', text)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Remove handles &amp; hashtags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4. Drop Non-ASCII &amp; Emoji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text.encode('ascii', 'ignore').decode('ascii')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Drop emoji/special symbols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5. Normalize Whitespace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re.sub(r'\s+', ' ', text).strip()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Normalize extra spaces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5254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2569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 regex-based cleaning function is usually the first stage in an NLP preprocessing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Text Cleaning — Worked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Trace of raw input transitioning to clean text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Stage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Operation performed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Text snapshot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0. Raw Input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Original raw string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&lt;p&gt;John: "AI is amazing!!!! 🤖🔥" Visit: https://ai.com @john #AI&lt;/p&gt;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1. Clean HTML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Decode entities &amp; remove tags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John: "AI is amazing!!!! 🤖🔥" Visit: https://ai.com @john #AI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2. Remove URLs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Remove web addresses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John: "AI is amazing!!!! 🤖🔥" Visit: @john #AI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3. Remove Socials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Remove @mentions and #hashtags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John: "AI is amazing!!!! 🤖🔥" Visit: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234B7"/>
                          </a:solidFill>
                          <a:latin typeface="Helvetica"/>
                        </a:rPr>
                        <a:t>4. Drop Emoji/Symbols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ASCII-only encoding &amp; cleanup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018"/>
                          </a:solidFill>
                          <a:latin typeface="Helvetica"/>
                        </a:rPr>
                        <a:t>John AI is amazing!!!! Visit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35254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2569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cleaning produces standard, noise-free input for tokenizer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Tokenization Granularities (Word, Char, Subword)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Granularity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Tradeoff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 output (for 'running')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Word / Space-based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Human-readable tokens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Weak on rare/compound words (OOV)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['running']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Character-based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 unknown words (no OOV)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Very long sequences, loss of meaning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['r', 'u', 'n', 'n', 'i', 'n', 'g']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Subword-based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Handles rare words, compact vocab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Requires tokenizer training/tuning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['run', '##ning']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87705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5020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Subword tokenization is the industry standard for modern LLMs and neural NLP models.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Tokenization Views (Code Examples)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sentence, word / char / subword splits side by 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llo-world-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8041"/>
            <a:ext cx="10607040" cy="38238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Tokenization Views (Code Examples)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Same sentence, word / char / subword splits side by side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Tokenizer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Python Implementation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Result on "I'm running to the store!"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Word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word_tokenize(text)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['I', "'m", 'running', 'to', 'the', 'store', '!']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Character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list(text)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['I', "'", 'm', ' ', 'r', 'u', 'n', 'n', 'i', 'n', 'g', ...]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Subword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model_tokenizer.tokenize(text)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['I', "'m", 'run', '##ning', 'to', 'the', 'store', '!']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Sentence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sent_tokenize(text)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["I'm running to the store!"]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Subword Tokenization (LLMs) — Why It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subwords solve core vocabulary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llo-world-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8041"/>
            <a:ext cx="10607040" cy="38238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Subword Tokenization (LLMs) — Why It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subwords solve core vocabulary challenges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Word Tokenizer Issue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Subword Solution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 Worked Out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Huge vocabulary size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Reuse frequent morphemes/pieces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unbelievably → un + ##believe + ##ably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Out-of-Vocabulary (OOV) words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Break unknown forms into known units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ChatGPT → ['Chat', 'G', 'PT']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Morphological variants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Shared roots reduce feature sparsity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running/runs/runner share 'run'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BPE Walkthrough &amp; Inference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Byte Pair Encoding learns merges and splits unseen 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llo-world-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8041"/>
            <a:ext cx="10607040" cy="38238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BPE Walkthrough &amp; Inference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Byte Pair Encoding learns merges and splits unseen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Walkthrough: start with chars (l, o, w, e, s, t, r) -&gt; merge l+o (lo) -&gt; merge lo+w (low) -&gt; compact vocabulary.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206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206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Inference on 'lowered the lowest curtain': splits rare words to ['low', 'er', 'ed'] and ['low', 'est'] while keeping 'the' and 'curtain' whole.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BPE Walkthrough &amp; Inference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How Byte Pair Encoding learns merges and splits unseen words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Word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Subword Output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Explanation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lowered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['low', 'er', 'ed']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Decomposes into learned root and suffix subwords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lowest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['low', 'est']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Decomposes into base 'low' and suffix 'est'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584448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BPE repeatedly merges frequent adjacent units until target vocabulary size is reached.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Stop Words: Purpose &amp; Tradeoffs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Filtering low-information tokens from texts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llo-world-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8041"/>
            <a:ext cx="10607040" cy="38238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Stop Words: Purpose &amp; Tradeoffs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Filtering low-information tokens from texts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Function words (the, is, and) dominate word counts but carry minimal topic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39237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39237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Removing stop words reduces dimensionality for TF-IDF &amp; Bag-of-Words.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93642"/>
            <a:ext cx="320040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93642"/>
            <a:ext cx="9875519" cy="8629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Critical Rule: NEVER remove stop words for language models (GPT/BERT), translation, or sentiment analysis where negation ('not') and syntax carry the core meaning.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Stop Words: Purpose &amp; Tradeoffs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Filtering low-information tokens from texts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Task Category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Stop Word Policy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Reasoning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Search &amp; Topic Modeling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Remove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Improves speed and focus on key words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Large Language Models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Syntactic and semantic flow is vital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Sentiment Analysis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Keep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Negations like 'not' reverse polarity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Stemming vs Lemmatization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Normalizing words to their base forms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Aspect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Stemming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Lemmatization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Mechanism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Rule-based suffix chopping (heuristic)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Dictionary lookup + morphological analysis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Speed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Very fast, computationally cheap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Slower, requires resource lookup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be non-words (e.g., study -&gt; studi)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Always dictionary words (e.g., study -&gt; study)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POS Awareness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No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Yes (e.g., saw -&gt; see or saw depending on POS)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535424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0857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Lemmatization preserves semantics better than aggressive stemming.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Part-of-Speech (POS)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Grammar Labels per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llo-world-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08041"/>
            <a:ext cx="10607040" cy="38238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Part-of-Speech (POS)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Grammar Labels per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Universal categories include NOUN, VERB, ADJ, ADV, DET, ADP, PROPN, NUM,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POS feeds lemmatization quality and downstream relation extraction.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SpaCy exposes coarse pos_ and fine-grained tag_ plus dependency dep_.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Part-of-Speech (POS)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Grammar Labels per Token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POS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Role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Quick examples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NOUN / PROPN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Things and names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city, Tesla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VERB / AUX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Actions and helpers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run, is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ADJ / ADV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Modifiers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quick, quickly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DET / ADP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Structure words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the, in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Named Entity Recognition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Typed Spans over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Labels include PERSON, ORG, GPE, DATE, MONEY, PERCENT, PRODUCT, EVENT,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206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206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Useful for indexing, compliance redaction, financial news graphs, and search facets.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92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92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Small models err on edge cases — always spot-check domain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Named Entity Recognition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Typed Spans over Text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84832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Label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PERSON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Tim Cook, Jensen Huang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ORG / GPE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Apple, Texas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MONEY / PERCENT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$430 billion, 3.5%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Full SpaCy Pipeline Functionally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 doc object: tokens, lemmas, POS, entities, noun_chunks, sents.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459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3459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Typical export: clean token list, lemma bag, entity list, POS histogram.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31820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31820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length-based heuristics (e.g. longest sentence) only as weak importance cues.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60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Language Modeling with N-grams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From Count-Based Prediction to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oogle-n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121" y="2194560"/>
            <a:ext cx="6435836" cy="4050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Language Modeling with N-grams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From Count-Based Prediction to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Language models estimate probabilities over word 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N-gram models predict the next token from a limited context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This module connects N-gram intuition to modern LLM generation.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Formal Language Modeling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-329beb2a23b1f3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974" y="1847088"/>
            <a:ext cx="4426131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2644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644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 language model can score full sentences or predict the next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98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Exact estimation over full histories is intractable for real corpora.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15384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4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Approximation strategies include N-grams, smoothing, and neural LMs.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Worked Bigram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56231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Given counts: C("want to") = 608, C("want") = 927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-cc5904c83a4279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57" y="2624328"/>
            <a:ext cx="4339765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0416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Interpretation: in this corpus, "to" follows "want" about 65.6% of the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171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171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Count quality depends strongly on corpus domain and size.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Use Log Probabilities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Multiplying many small probabilities causes numerical underflow.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Log transform converts multiplication into stable addition.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Sequence scoring becomes computationally robust and efficient.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Use Log Probabilities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Original Space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Log Space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 = p1 * p2 * ... * pk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log P = log p1 + log p2 + ... + log pk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Very small numbers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Numerically stable sums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Perplexity (PP): Interpretation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-2289f503ddb4f4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949" y="1847088"/>
            <a:ext cx="58581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2644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644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Perplexity is the average branching uncertainty of the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989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Lower PP means better predictive confidence on unseen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15384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4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identical test sets when comparing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Raw sentence probabilities are length-sensitive; perplexity normalizes by token 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Static vs Contextualized Word Representations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Property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Static Embeddings (Word2Vec/GloVe)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Contextualized Embeddings (ELMo/BERT/GPT)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Vector per word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One fixed vector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Different vectors per context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Polysemy handling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Weak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Context direction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Usually local/global corpus only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Bidirectional or autoregressive sequence context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Task transfer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Moderate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 with pretraining + fine-tuning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8795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6110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Contextualization is a core enabler for modern LLM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Contextualized Embeddings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Words as vectors in embedding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mbedding-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355" y="2194560"/>
            <a:ext cx="6739369" cy="4050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Contextualized Embeddings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Words as vectors in embedding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Static embeddings: one vector per word 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Contextual: vector depends on surrounding tokens (ELMo, BERT-style).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Contextualized Embeddings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Architecture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Token/base embedding layer maps input ids to dense vectors.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206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206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Context encoder layers (often Transformer blocks) enrich each token with sequence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9292"/>
            <a:ext cx="320040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9292"/>
            <a:ext cx="9875519" cy="605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Task head uses contextual features for prediction.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Contextualized Embeddings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Layer Semantics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Lower layers capture local syntax/patterns.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Middle layers improve sense disambiguation.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 Mechanism and Weight Sharing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-afb3f0f1ce38d5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947" y="1847088"/>
            <a:ext cx="6568185" cy="868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 Mechanism and Weight Sharing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nn-un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34305"/>
            <a:ext cx="10607040" cy="382383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Common RNN Input/Output Patterns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Pattern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Mapping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Example Task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One-to-One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single input -&gt; single 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basic regression/classification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One-to-Many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single input -&gt; sequence output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image captioning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Many-to-One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sequence input -&gt; single output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sentiment classification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Many-to-Many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sequence input -&gt; sequence output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machine translation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87952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6110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Sequence-aware patterns are where recurrent models provide clear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 Family: Vanilla, GRU, BiRNN, LSTM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u-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36957"/>
            <a:ext cx="10607040" cy="40185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RNN Family: Vanilla, GRU, BiRNN, LSTM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Vanishing Gradient Risk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Key 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Typical Limitation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Vanilla RNN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Simple architecture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Poor long-range memory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GRU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Efficient gating with fewer parameters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still degrade on very long contexts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BiRNN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Medium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Uses past and future context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compute and memory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LSTM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Low (relative)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Strong long-term dependency handling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Heavier than GRU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Seq2Seq for Neural Machine Translation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Encoder-Decoder Modeling, Decoding Strategies, and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coding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4768"/>
            <a:ext cx="10607040" cy="3730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NLP Seq2Seq for Neural Machine Translation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Encoder-Decoder Modeling, Decoding Strategies, and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Seq2Seq maps variable-length input sequences to variable-length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Encoder-decoder models were foundational for neural machine translation.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This module covers training, decoding, bottlenecks, attention, and metrics.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Inference: Greedy Decoding vs Beam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q2seq-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36957"/>
            <a:ext cx="10607040" cy="40185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Inference: Greedy Decoding vs Beam Search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Decision Rule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Strength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Risk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Greedy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Pick top token each step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Fast and simple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May miss globally better sequence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Beam Search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Track top-k hypotheses each step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Better global sequence quality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Higher compute; can become generic/bland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36976"/>
            <a:ext cx="10972800" cy="4114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Typical beam sizes are moderate (e.g., 4-10) to balance quality and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Information Bottleneck in Basic Seq2Seq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q2seq-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36957"/>
            <a:ext cx="10607040" cy="40185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Information Bottleneck in Basic Seq2Seq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Compressing a full source sentence into one fixed vector can lose detail.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Longer/complex inputs worsen the bottleneck effect.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Decoder needs different source details at different output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motivates attention over all encoder hidden states.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 as the Bottleneck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0972800" cy="4617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ttention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09699"/>
            <a:ext cx="10607040" cy="40730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Attention as the Bottleneck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Decoder attends to relevant encoder positions at each generation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Dynamic alignment improves translation adequacy and fluency.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6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Attention laid the foundation for transformer-dominant NMT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NMT Evaluation Metrics: BLEU and ROUGE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Metric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Orientation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What It Measures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Common Limitation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BLEU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Precision-oriented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n-gram overlap from candidate to reference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Weak semantic/syntactic sensitivity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ROUGE-N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Recall-oriented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n-gram overlap from reference to candidate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Can reward lexical overlap over meaning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F1 (with overlap metrics)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Balance precision/recall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Harmonic tradeoff view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Still limited on deep semantics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Transformer Encoder-Decoder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Bridge to Week 4 GenAI — encoder-decoder intuition before BERT/GPT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ttention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91" y="2194560"/>
            <a:ext cx="10549096" cy="4050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Transformer Encoder-Decoder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Bridge to Week 4 GenAI — encoder-decoder intuition before BERT/GPT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10972800" cy="42702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coding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4768"/>
            <a:ext cx="10607040" cy="3730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241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Transformer Encoder-Decoder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91056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Bridge to Week 4 GenAI — encoder-decoder intuition before BERT/GPT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Encoder builds contextual token representations from source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Decoder generates target tokens autoregressively with attention to encoder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320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35808"/>
            <a:ext cx="9875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Foundation architecture for translation, summarization, and many LLM pipelines.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Attention mechanisms reduce reliance on recurrence for sequence modeling.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60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S08  · 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 Ideas to Keep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Leave with these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Language is ambiguous — cleaning and tokenization choices persist through the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47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N-grams and RNNs model sequences; attention removes the seq2seq bottleneck.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10972800" cy="987552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9087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90872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Subword tokenizers and encoder–decoder attention are the bridge to Transformers.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Labs: code/16-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