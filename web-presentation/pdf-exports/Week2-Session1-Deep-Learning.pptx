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8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9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4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5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6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7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8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9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9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0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1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2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3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4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5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6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7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9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01168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Week 2  ·  Session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68880"/>
            <a:ext cx="105156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Deep Learning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474720"/>
            <a:ext cx="1280160" cy="54864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7947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Neural networks, backpropagation, CNNs, and RNNs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12648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612648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AI &amp; Machine Learning Bootcamp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Big picture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Where Are We in the Bootcamp?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Week 1 classical ML is done — now stacked nonlinear models.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1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Foundations &amp; Preprocessing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Regression Models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Classification Basics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" y="4197095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197095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Naive Bayes &amp; Trees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" y="4727448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727448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SVM &amp; Kernels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" y="525780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525780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Clustering &amp; PCA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64992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64992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364992" y="2679192"/>
            <a:ext cx="45720" cy="25603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11296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13632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Deep Learning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81344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81344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27648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9984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NLP Fundamentals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27648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29984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Tokenization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27648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9984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Text Analysis &amp; NER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27648" y="4197095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9984" y="4197095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Language Modeling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27648" y="4727448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9984" y="4727448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Embeddings &amp; RNNs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27648" y="525780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29984" y="525780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Seq2Seq &amp; NMT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97696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997696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0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46336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Generative AI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0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46336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RAG Systems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44000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46336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MLOps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02  /  86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874519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Week 2  ·  Session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105156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Deep Learning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200400"/>
            <a:ext cx="1280160" cy="54864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5204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Neural Networks · CNNs · RNNs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297680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352544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Deep Learning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33088" y="4297680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33088" y="4352544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Neural Networks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17536" y="4297680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17536" y="4352544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Perceptron &amp; MLP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919472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974336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Backpropagation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33088" y="4919472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33088" y="4974336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CNNs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17536" y="4919472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17536" y="4974336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RNNs &amp; regularization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03  /  86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Neural Networks · CNNs · RNNs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we will cover in this session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Deep Learning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70632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70632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Neural Networks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92424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92424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Perceptron &amp; MLP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01421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014216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Backpropagation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63600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63600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CNNs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25780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25780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RNNs &amp; regularization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04  /  86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Deep Learning: Introduction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Foundations → Optimization → Architectures → Autoencoders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Each phase answers a different question.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Four phases: foundations → optimization → architectures → autoencoders.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033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033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Each phase has a lab-style checkpoint — pause at phase boundaries.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1605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1605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Focus on deep learning basics — phase breaks are intentional.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ann-int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239197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Phase 1 focus: understand the “why” and the mathematical mechanics of a single neuron before scaling to layers and data.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05  /  86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Deep Learning: Introduction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Four phases, four questions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Foundations → optimization → architectures → autoencoders. Pause at each boundary.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4028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our-phas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943" y="2377440"/>
            <a:ext cx="10084193" cy="3703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Phase 1 focus: understand the “why” and the mathematical mechanics of a single neuron before scaling to layers and data.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06  /  86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Phase 1: Foundations &amp; Neural Core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Why depth, neurons, and forward pass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Goal: understand what a neuron computes and why stacking layers enables hierarchical features.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a72afc9ad628496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5917" y="2852928"/>
            <a:ext cx="3238246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84048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Exit check: explain this — and why nonlinearity is required between layers.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702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702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Topics: perceptron, activations, MLP, forward propagation, and loss functions.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78231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78231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Stacking layers builds hierarchical features only if a nonlinearity sits between them.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07  /  86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Phase 1 Roadmap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Why depth, neurons, and forward pass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Block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Question it answers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Perceptron &amp; MLP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What does one layer compute?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Forward pass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How does inference flow through the graph?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Loss &amp; gradients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What are we optimizing?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0325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1056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Exit check: explain z = w·x + b and why nonlinearity is required between layers.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08  /  86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What Is Deep Learning?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Definition in One Sentence — Then the Details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Deep learning learns a parameterized mapping from inputs to outputs by stacking nonlinear transformations (layers).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“Deep” means multiple such transformations — hierarchical features, not one giant linear rule.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ann-int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239197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Layers rewrite features step by step. Depth is composition, not one giant linear rule.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09  /  86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What Is Deep Learning?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Definition in One Sentence — Then the Details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Training = pick a loss that measures mistakes, then adjust weights with gradients so average loss drops on data (generalization to unseen data is the real goal).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1576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1576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Unlike fixed pipelines of hand-crafted features, the network learns representations that are tuned to the task (edges → textures → parts → objects in vision, etc.).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8978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Generalization to unseen data is the real goal — not memorizing the training set.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10  /  86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Three Ingredients You Always Have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Architecture · Loss · Optimizer + data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Ingredient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What it means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Architecture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How signals flow (MLP, CNN, RNN, Transformer, …)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Loss / objective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What “better” means for your task (MSE, cross-entropy, …)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Optimizer + data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How you search parameters and what examples you show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0325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1056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You always have these three. Change one, and the model’s behavior changes with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11  /  86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Three Ingredients You Always Have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Architecture · Loss · Optimizer + data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hree-ingredi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7147" y="2103120"/>
            <a:ext cx="10235785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 strong architecture with the wrong loss still learns the wrong thing.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12  /  86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AI, Machine Learning, and Deep Learning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Subset Relationships — Not Interchangeable Labels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Artificial intelligence (AI): the broad field—rules, search, optimization, learning, planning—anything that aims at intelligent behavior.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1576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1576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Machine learning (ML): a subfield of AI where behavior improves from data via a learning algorithm (not only hand-written rules).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8269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282696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Deep learning (DL): a subfield of ML using deep neural networks—multiple learned nonlinear layers; representation learning is central.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13  /  86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AI, Machine Learning, and Deep Learning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Subset Relationships — Not Interchangeable Labels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i-ml-d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3910" y="2103120"/>
            <a:ext cx="8442258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DL ⊂ ML ⊂ AI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14  /  86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Containment (conceptual)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Subset Relationships — Not Interchangeable Labels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Set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Contains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AI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Rule systems, classical search, ML, knowledge bases, …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ML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Linear models, trees, kernel SVMs, shallow nets, deep nets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DL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CNNs, RNNs/GRU/LSTM, Transformers, GANs, VAEs, …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0325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1056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Saying “we used AI” is vague; “we used supervised DL with a CNN” is precise.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15  /  86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Use-Case Fit: When Deep Learning Shines — and When to Skip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Match Method to Data, Risk, and Budget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DL is strongest when: large data (or strong pre-training), high-dimensional raw inputs (images, text, speech), and compositionality you want learned end-to-end.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1576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1576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Think twice when: tiny tabular datasets, strict interpretability requirements, tight latency on CPU without optimization, or simple baselines already solve the problem.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8269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282696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Always compare against strong baselines (logistic regression, gradient boosting, k-NN on engineered features)—DL must earn its complexity on validation metrics you care about.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16  /  86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Use-Case Fit: When Deep Learning Shines — and When to Skip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Match Method to Data, Risk, and Budget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Situation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Typical first choice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Why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Large labeled images / audio / text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Pre-trained DL + fine-tune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Raw inputs; hierarchical features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Small tabular (&lt; few k rows)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Trees / linear + regularization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Lower variance, fast iteration, interpretability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Need causal or legal explanation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Simpler model or hybrid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Auditability and stability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Plenty of GPUs + big data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Larger nets + careful tuning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Capacity + regularization can scale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Edge device, millisecond latency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Small distilled / quantized models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Memory and power limits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17  /  86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Why Depth Works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Hierarchical Representation Learning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Each layer rewrites the previous layer’s features into a more useful space.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Early layers detect simple patterns (edges, local tokens).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033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033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Middle layers compose those into textures, parts, phrases.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1605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1605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Late layers assemble task semantics (objects, intent, class scores).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hierarchical-featur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158465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Depth is composition. Width is how many features you keep at each level.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18  /  86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Session Roadmap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we build today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Block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Question it answers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Perceptron &amp; MLP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What does one layer compute?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Backpropagation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How do we update the weights?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CNNs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How do we exploit spatial structure?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RNNs &amp; regularization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How do we model sequences and generalize?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50799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58114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Exit check: explain z = w·x + b and why nonlinearity is required between layers.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19  /  86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Single Neuron (Perceptron): Math, Weights, and Bias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One Affine Map + One Nonlinearity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One weighted sum plus bias, then an activation. The output can be used as-is or passed onward.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246120"/>
            <a:ext cx="5760720" cy="1508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337560"/>
            <a:ext cx="5303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Formula</a:t>
            </a:r>
          </a:p>
        </p:txBody>
      </p:sp>
      <p:pic>
        <p:nvPicPr>
          <p:cNvPr id="12" name="Picture 11" descr="f-73e5fa6026bd288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59" y="3648374"/>
            <a:ext cx="5303520" cy="7042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2959" y="4480559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ŷ = a (or further processing)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erceptr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2194560"/>
            <a:ext cx="4617720" cy="1849956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20  /  86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Single Neuron (Perceptron): Math, Weights, and Bias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One Affine Map + One Nonlinearity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Affine part (see formula above): z is the weighted sum of inputs plus b—each xᵢ is multiplied by wᵢ.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060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6060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The bias b shifts the decision boundary (same orientation, normal w); it does not rotate the separating hyperplane.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0632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0632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Weights encode which patterns excite the neuron; training adjusts w and b so that on labeled data the loss decreases.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5204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5204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With no hidden layer and a monotonic activation, the decision boundary in input space is linear (a hyperplane)—powerful but limited.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21  /  86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Symbols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One Affine Map + One Nonlinearity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Symbol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Shape intuition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Role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x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Feature vector (length d)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One training example’s inputs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w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Same length as x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Direction + strength of sensitivity to each feature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Scalar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Offset / threshold in logit space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f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Maps ℝ → ℝ (per neuron)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Introduces nonlinearity (or identity)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50799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58114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Bias shifts the hyperplane; it does not rotate it. Rotation comes from w.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22  /  86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Weight Initialization: Why Zeros Break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Symmetry Must Be Broken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If all weights in a layer start equal (especially zero), every hidden unit receives the same gradient and stays identical forever—symmetry never breaks.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1576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1576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Random initialization makes each unit walk a different path in parameter space so they can specialize as feature detectors.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8269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282696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Frameworks use He (Kaiming) for ReLU and Xavier (Glorot) for Tanh to keep activation scale stable.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23  /  86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Weight Initialization: Why Zeros Break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Symmetry Must Be Broken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He (Kaiming) for ReLU: variance = 2 / n_in. Xavier (Glorot) for Tanh: variance = 2 / (n_in + n_out).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e0a02dc09b771b8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4964" y="2852928"/>
            <a:ext cx="6240150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84048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Keep activation scale stable across layers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702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702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He matches ReLU, which zeros out about half the signals.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78231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78231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Xavier matches Sigmoid / Tanh, which are symmetric around zero.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24  /  86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Weight Initialization: Why Zeros Break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Symmetry Must Be Broken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Init scheme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Problem it avoids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Best suited for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All zeros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Hidden units stay identical; no representation diversity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None (always avoid for weights)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Xavier (Glorot)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Vanishing or exploding variance across layers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Sigmoid / Tanh activations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He (Kaiming)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Variance drop due to ReLU zeroing out half the signals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ReLU / Leaky ReLU activations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25  /  86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Activation Functions: Sigmoid, Tanh, and ReLU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Nonlinearity is the Key to Network Depth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Stacked linear layers collapse to one linear map. Activations prevent that collapse.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05de0967a22523f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4559" y="2852928"/>
            <a:ext cx="8520961" cy="86868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26  /  86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Activation Functions: Sigmoid, Tanh, and ReLU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Nonlinearity is the Key to Network Depth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igmoid-tan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0596" y="2103120"/>
            <a:ext cx="5808886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f(x)=1/(1+e^{−5x}) vs g(x)=1/(1+e^{−10x})  ·  tanh(x) is zero-centered, range (−1, 1)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27  /  86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Activation Functions: Sigmoid, Tanh, and ReLU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Nonlinearity is the Key to Network Depth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Sigmoid: maps inputs to (0, 1)—useful for probabilities, but suffers from vanishing gradients when z is very large or very small (saturation).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1576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1576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Tanh: zero-centered, maps inputs to (-1, 1)—often nicer than sigmoid for hidden layers but still saturates.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8269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282696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ReLU: modern default for deep stacks—cheap to compute, avoids vanishing gradient on positive domain; leaky ReLU / ELU are variants.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28  /  86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Activation Functions: Sigmoid, Tanh, and ReLU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Nonlinearity is the Key to Network Depth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Function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Range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Primary use-case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Sigmoid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(0, 1)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Binary classification output layer, gating networks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Tanh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(-1, 1)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Hidden layers (recurrent networks)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ReLU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[0, ∞)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Default choice for hidden layers in MLPs and CNNs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29  /  86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Sigmoid &amp; Threshold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Probability cutoff for classification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Decision threshold τ = 0.5 splits class 0 from class 1 on the sigmoid probability.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246120"/>
            <a:ext cx="5760720" cy="1508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337560"/>
            <a:ext cx="5303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Formula</a:t>
            </a:r>
          </a:p>
        </p:txBody>
      </p:sp>
      <p:pic>
        <p:nvPicPr>
          <p:cNvPr id="12" name="Picture 11" descr="f-fe500b6844ed3f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4367" y="3566160"/>
            <a:ext cx="2060702" cy="8686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2959" y="4480559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Predict class 1 when σ(z) ≥ 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igmoid-thresh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2194560"/>
            <a:ext cx="4617720" cy="1827556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30  /  86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Activation Curves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Nonlinearity is the Key to Network Depth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ctiva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4712" y="2103120"/>
            <a:ext cx="9040654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Flat tails (sigmoid / tanh) → tiny gradients. ReLU is linear on the positive side.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31  /  86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The XOR Problem: Why Hidden Layers Are Logically Necessary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Why a single line cannot solve XOR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XOR is not linearly separable in the 2D input plane: no single line separates class 1 from class 0 on the four corners.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1576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1576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 single perceptron computes a half-space; XOR requires nonlinear mixing of inputs—exactly what a hidden layer provides.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8269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282696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Hidden units reparameterize inputs into a space where the task becomes linearly separable—this is the core intuition for representation learning.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32  /  86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The XOR Problem: Why Hidden Layers Are Logically Necessary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Why a single line cannot solve XOR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xor-separabil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0706" y="2103120"/>
            <a:ext cx="7668667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 hidden layer remaps the inputs so the output layer can cut with a line.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33  /  86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XOR Truth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Four Points, One Nonlinear Rule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x₁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x₂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XOR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50799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58114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Hidden units reparameterize the inputs so XOR becomes linearly separable.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34  /  86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From Perceptron to MLP (Multi-Layer Perceptron)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Depth = Composed Nonlinear Features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Hidden layer: affine map + nonlinearity → features h. Output: another affine map + τ.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246120"/>
            <a:ext cx="5760720" cy="1508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337560"/>
            <a:ext cx="5303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Formula</a:t>
            </a:r>
          </a:p>
        </p:txBody>
      </p:sp>
      <p:pic>
        <p:nvPicPr>
          <p:cNvPr id="12" name="Picture 11" descr="f-30f6fda99db2df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59" y="3686152"/>
            <a:ext cx="5303520" cy="62869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2959" y="4480559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φ = hidden activation  ·  τ = output activation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mlp-architec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2194560"/>
            <a:ext cx="4617720" cy="1971852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35  /  86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From Perceptron to MLP (Multi-Layer Perceptron)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Depth = Composed Nonlinear Features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lp-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8788" y="2103120"/>
            <a:ext cx="8672502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Every arrow is a weight. Training moves those arrows so the output matches the labels.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36  /  86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From Perceptron to MLP (Multi-Layer Perceptron)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Depth = Composed Nonlinear Features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Each hidden layer applies an affine map followed by a nonlinearity, producing new features h as functions of the original inputs.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1576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1576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Width (units per layer) and depth (number of layers) trade off capacity, data needs, compute, and optimization difficulty.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8269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282696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Universal approximation (broad strokes): one sufficiently wide hidden layer can approximate many continuous functions on compact domains—in practice depth + inductive bias wins.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37  /  86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From Perceptron to MLP (Multi-Layer Perceptron)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Depth = Composed Nonlinear Features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Hyperparameter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What it controls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Hidden width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How many independent nonlinear features per layer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Depth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How many levels of composition (edges→textures→…)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Skip / residual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Ease of optimization in very deep nets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38  /  86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Forward Propagation: The Engine of Inference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Neural Network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nn-forw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588" y="2103120"/>
            <a:ext cx="8228902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Edge thickness reflects weight magnitude.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39  /  86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Forward Propagation: The Engine of Inference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The Engine of Inference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Forward pass: feed input x through each layer in order—compute logits or scores at the end (then softmax for class probabilities if needed).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1576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1576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Implementation-wise this is a computational graph: each op (matmul, ReLU, …) knows how to propagate values forward.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8269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282696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Training repeats forward passes on mini-batches for efficiency and gradient noise that can help generalization.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40  /  86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Forward Propagation: The Engine of Inference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The Engine of Inference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Step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Operation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Output carries…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Linear: z = Wx + b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Weighted sum at each unit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2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Activation: a = f(z)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Nonlinear feature for next layer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3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Repeat / head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Class logits or regression value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41  /  86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Forward Propagation: The Engine of Inference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Linear → Activation → Head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orward-pa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103120"/>
            <a:ext cx="10607040" cy="363999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Training repeats this on mini-batches. The graph also knows how to send gradients backward.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42  /  86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Loss Functions: MSE vs Cross-Entropy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Match the Loss to the Output and Task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Regression — Mean Squared Error (MSE)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a4dcfce770c8664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1708" y="2852928"/>
            <a:ext cx="2466662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8640" y="42702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2702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Penalizes large errors heavily (quadratic); differentiable everywhere—classic for continuous targets.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78231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78231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Assumes Gaussian-like noise in a probabilistic story; outliers can dominate—Huber loss is a robust alternative.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43  /  86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Loss Functions: MSE vs Cross-Entropy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Match the Loss to the Output and Task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Classification — Cross-entropy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c1a6e27e4f37f6d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1297" y="2852928"/>
            <a:ext cx="2907484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84048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Often with logits + log-softmax for stability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702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702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Compares predicted probabilities p̂ to the true distribution (one-hot or soft labels).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78231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78231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Pairs naturally with softmax at the output; gradients are well-behaved when implemented in log-space.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44  /  86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Loss Functions: MSE vs Cross-Entropy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Match the Loss to the Output and Task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Task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Common head + loss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Regression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Linear output + MSE / Huber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Binary classification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Sigmoid + binary cross-entropy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Multi-class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Softmax + cross-entropy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0325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1056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Often with logits + log-softmax for numerical stability.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45  /  86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Backpropagation: Chain Rule on the Computational Graph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Chain along paths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-3536bc02b387f78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0334" y="2167128"/>
            <a:ext cx="2049410" cy="86867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14400" y="3154679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Chain along paths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5844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5844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Backprop applies the chain rule systematically: compute adjoints ∂L/∂ each intermediate tensor from outputs backward.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46  /  86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Backpropagation: Chain Rule on the Computational Graph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Chain along paths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backprop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7732" y="2103120"/>
            <a:ext cx="9714615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Forward computes predictions. Backward carries ∂L/∂w along every path.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47  /  86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Backpropagation: Chain Rule on the Computational Graph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Chain along paths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Reverse-mode autodiff (backprop) is efficient when many parameters feed one scalar loss—exactly the neural net case.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1576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1576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Modern frameworks (PyTorch, JAX, TensorFlow) build the graph (explicit or traced) and implement this reliably—you still debug shapes, numerical stability, and vanishing gradients.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8978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Understanding backprop = understanding which paths carry gradient and which activations saturate.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48  /  86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Backpropagation: Chain Rule on the Computational Graph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Chain along paths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Idea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Meaning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Shared subexpressions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Same forward values reused; backward visits each edge once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Topological order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Visit nodes after their successors—dynamic programming on the graph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3557016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630168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Understanding backprop = understanding which paths carry gradient and which activations saturate.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49  /  86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Phase 2: Optimization &amp; Training 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Stable Optimization + Generalization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Phase 2 is about the art of training: diagnosing fit, controlling gradients, picking optimizers, normalizing, and regularizing.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1576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1576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Good models are not only “big”—they match capacity to data, monitor validation faithfully, and fail visibly when something is wrong.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50  /  86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Phase 2: Optimization &amp; Training 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you will control in practice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Layer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Examples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Optimization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SGD, Adam, gradient clipping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Stabilization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Batch Norm, residual paths, initialization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Generalization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Dropout, weight decay, early stopping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51  /  86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Training Diagnostics: Underfitting, Good Fit, and Overfitting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Read Train vs Validation Behavior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Underfitting: both train and validation error stay high—the model is too simple, features are insufficient, or optimization is stuck (LR too low, wrong loss).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1576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1576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Good fit: train and validation errors are both low and track each other; small gap is normal if train is slightly better.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8269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282696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Overfitting: train error keeps dropping while validation worsens or plateaus badly—the model memorizes idiosyncrasies (noise, augment leakage).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52  /  86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Training Diagnostics: Underfitting, Good Fit, and Overfitting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Read Train vs Validation Behavior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rain-val-curv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5002" y="2103120"/>
            <a:ext cx="8880074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 small train–val gap is normal. A widening gap is overfitting.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53  /  86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Training Diagnostics: Underfitting, Good Fit, and Overfitting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Read Train vs Validation Behavior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Regime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Train loss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Val loss / metric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Typical response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Underfitting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High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High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More capacity, better features, longer train, higher LR (carefully)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Good fit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Low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Low, close to train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Keep regularization; ship or iterate on data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Overfitting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Very low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Worse / diverging gap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More data, dropout, wd, simpler model, early stop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54  /  86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Vanishing and Exploding Gradients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Depth Multiplies Jacobians Layer by Layer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Vanishing: backprop multiplies many factors &lt; 1 (saturated sigmoid/tanh, poor init)—early layers get tiny updates and learn slowly.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1576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1576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Exploding: repeated factors &gt; 1 or large weights produce huge parameter updates—loss spikes, NaNs.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8269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282696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Fixes are layered: architecture (residual paths), activations (ReLU), initialization (He/Xavier), normalization (BN/LN), and optimization (clipping).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55  /  86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Vanishing and Exploding Gradients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Depth Multiplies Jacobians Layer by Layer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Symptom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Likely cause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Mitigation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Early layers barely move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Vanishing chain through saturated units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ReLU, He init, residuals, norm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Loss → NaN quickly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Exploding activations or LR too high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Clip grads, lower LR, check loss scaling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Stable then sudden blow-up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Rare but real—mixed precision, bad data batch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Finite checks, gradient clipping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56  /  86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Optimizers: SGD and Adam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Learning rate, Momentum, and Adaptive Steps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SGD + momentum: accumulates updates in a velocity vector to dampen oscillations in ravines and accelerate along consistent directions.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060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6060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Adam: tracks both first-moment (momentum) and second-moment (recent squared gradients) of gradients to adapt learning rates per parameter.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0632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0632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SGD is often preferred in computer vision for generalization, while Adam is the default starting point for Transformers and general MLPs.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8978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Learning rate (LR) is the single most important hyperparameter to tune (typically searched on a log grid, e.g., 1e-4, 1e-3, 1e-2).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57  /  86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Optimizers: SGD and Adam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Learning rate, Momentum, and Adaptive Steps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-924003666e0f87b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9335" y="2167128"/>
            <a:ext cx="3131409" cy="868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14400" y="3154679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η = learning rate  ·  typical log grid: 1e-4, 1e-3, 1e-2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58  /  86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Optimizers: SGD and Adam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Learning rate, Momentum, and Adaptive Steps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Optimizer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Core mechanism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When to use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Vanilla SGD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Step in negative gradient direction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Rarely used alone today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SGD + Momentum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Adds fraction of previous step direction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Standard for CV models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Adam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Adapts learning rate per parameter based on gradients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Robust default for text/tabular/MLPs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0325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1056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Learning rate (LR) is the single most important hyperparameter to tune (typically searched on a log grid, e.g., 1e-4, 1e-3, 1e-2).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59  /  86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Normalization: Batch Normalization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Stabilize Activations and Speed Up Deep Training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eature-scal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1742" y="2103120"/>
            <a:ext cx="806595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Feature scaling: features brought to a comparable range.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60  /  86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Normalization: Batch Normalization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Stabilize Activations and Speed Up Deep Training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Batch Norm (BN): normalizes activations across the mini-batch for each channel, then learns scale γ and shift β.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cf7bf0202215fa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892" y="2852928"/>
            <a:ext cx="3108294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8640" y="42702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2702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It stabilizes internal activations, allowing higher learning rates and reducing dependency on precise initialization.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78231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78231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Alternative is Layer Norm (LN) which normalizes across features per example—standard in Transformers and sequence models.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61  /  86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Normalization: Batch Normalization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Stabilize Activations and Speed Up Deep Training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Method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Normalization dimension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Typical use-case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Batch Norm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Across batch and spatial dimensions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CNN classifiers, ResNets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Layer Norm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Across features for a single token/example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Transformers, RNNs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62  /  86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Phase 3: Specialized Architectures (Vision &amp; Sequences)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Images vs Ordered Sequences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Images have 2D locality and translation symmetry—convolutions exploit shared weights across space.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1576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1576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Sequences have order—recurrence, causal convolutions, or attention carry context across time or position.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8269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282696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Choosing the right inductive bias beats blindly scaling the wrong architecture.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63  /  86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Phase 3: Specialized Architectures (Vision &amp; Sequences)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Images vs Ordered Sequences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Modality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Core structure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Representative layers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Image / video frames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Spatial grids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Conv2D, pooling, residual blocks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Text / speech / sensors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Ordered tokens or time steps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RNN/GRU/LSTM, causal conv, self-attention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64  /  86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Image Data: How Computers “See” Pixels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Tensors, Channels, and Local Structure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 color image is usually a tensor of shape H×W×3 (RGB); each entry is an intensity discretized into 8 bits (0–255) before normalization.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1576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1576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Meaning lives in local neighborhoods: small patches reveal edges; larger contexts reveal objects—hierarchical composition.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8269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282696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Augmentation (crop, flip, color jitter) teaches invariance; normalization (e.g., ImageNet mean/std) stabilizes optimization.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65  /  86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Image Data: How Computers “See” Pixels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Tensors, Channels, and Local Structure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nn-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5933" y="2103120"/>
            <a:ext cx="9458213" cy="37033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66  /  86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Image Data: How Computers “See” Pixels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Tensors, Channels, and Local Structure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Stage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What happens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Raw sensor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Quantized intensities per channel per pixel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Preprocess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Resize, crop, normalize, augment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Model input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Batch × C × H × W tensor fed to stem convolutions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67  /  86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Convolution: Kernels, Edge Filters, and Feature Maps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Sliding Linear Filters + Nonlinearity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nn-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5933" y="2103120"/>
            <a:ext cx="9458213" cy="37033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68  /  86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Convolution: Kernels, Edge Filters, and Feature Maps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Sliding Linear Filters + Nonlinearity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 kernel is a small learnable matrix (e.g., 3×3) that responds to local patterns; multiple kernels produce a stack of feature maps.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1576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1576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Classical edge detectors (Sobel, shown) are fixed kernels; CNNs learn task-specific filters from data.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8269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282696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Deep stacks widen the receptive field: early layers ≈ edges/textures; late layers ≈ object parts and semantics.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69  /  86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Convolution: Kernels, Edge Filters, and Feature Maps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Sliding Linear Filters + Nonlinearity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onvol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3066" y="2103120"/>
            <a:ext cx="9243946" cy="37033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70  /  86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Convolution: Kernels, Edge Filters, and Feature Maps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Sliding Linear Filters + Nonlinearity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obel-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75917" y="2103120"/>
            <a:ext cx="7918244" cy="37033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71  /  86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Convolution: Kernels, Edge Filters, and Feature Maps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Sliding Linear Filters + Nonlinearity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Hyperparameter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Effect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Kernel size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Immediate neighborhood size (3×3 common)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Stride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Downsample spatially when &gt;1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Padding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Keep spatial size (same padding) or control border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72  /  86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CNN Blocks: Conv–Pool to ResNet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Depth, Downsampling, Residual Learning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 standard CNN alternates convolution, ReLU, and pooling, then a fully connected head.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4028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nn-st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377440"/>
            <a:ext cx="10607040" cy="363999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Max-pool keeps the strongest local response and shrinks the map.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73  /  86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Residual Block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Learn F(x), Keep an Identity Path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Skip connections let gradients flow backward through identity — this is how 100+ layer nets train.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2b076bcbaf5e0bf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0086" y="2852928"/>
            <a:ext cx="3189906" cy="86867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84048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The block learns the residual F; x is copied forward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702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702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AlexNet (2012): scale + ReLU + dropout + GPUs on ImageNet.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69087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69087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ResNet (2015): residual mapping F(x)+x; skip paths help gradients.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8932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If F learns zero, the block still acts as identity — easier than learning identity from scratch.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74  /  86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Residual Path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Shortcut Around the Convolutions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esidual-blo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7147" y="2103120"/>
            <a:ext cx="10235785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The add node is why early layers still receive a usable gradient.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75  /  86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Transfer Learning with Pretrained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Reuse Features, Adapt the Head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Pretraining on ImageNet learns general filters you can reuse on a smaller target task.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4028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transfer-learn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7147" y="2377440"/>
            <a:ext cx="10235785" cy="3703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Freeze the backbone when data is scarce; fine-tune top blocks when you have more labels.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76  /  86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Transfer Recipe by Dataset Size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How Much of the Backbone to Touch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Target dataset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Strategy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Small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Freeze backbone, train head only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Medium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Fine-tune top blocks with a smaller LR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Large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Full fine-tune of all layers with a small LR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0325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1056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Transfer learning cuts labeled-data need and wall-clock time on most vision tasks.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77  /  86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Regularization: Dropout, Weight Decay, and Early Stopping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Constrain Capacity to Prevent Overfitting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Dropout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Randomly zero out hidden units during training with probability p (e.g., 0.2-0.5) so neurons cannot co-adapt.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dropo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2156371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78  /  86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Regularization: Dropout, Weight Decay, and Early Stopping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Constrain Capacity to Prevent Overfitting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Dropout acts as a powerful implicit ensemble method; disabled during inference (evaluation mode).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1576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1576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Weight Decay (L2 regularization): adds a penalty to the loss proportional to the squared sum of weights to keep weights small and smooth.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8269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282696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Early stopping: monitor validation loss during training and stop when it ceases to improve for a certain number of epochs (patience).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79  /  86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Regularization: Dropout, Weight Decay, and Early Stopping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Constrain Capacity to Prevent Overfitting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Technique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Primary action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Inference behavior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Dropout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Randomly drops connections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Turned OFF (weights scaled)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L2 Weight Decay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Shrinks weights toward zero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Turned ON (weights are static)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Early Stopping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Halts training at lowest val loss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N/A (model is checkpointed)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80  /  86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Sequential Data &amp; Vanilla RNNs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One Transition, Unfolded Through Time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Text, audio, and sensors have order. Shuffling them destroys meaning.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2d62af75280505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29632" y="2852928"/>
            <a:ext cx="7010814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84048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Same weights at every timestep  ·  hₜ is a running memory of the past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702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702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Parameter sharing across time is efficient — but long sequences multiply Jacobians.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69087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69087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Vanilla RNNs struggle with long-range dependencies (vanishing / exploding gradients).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8932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Backprop through 50 steps ≈ multiplying a matrix 50 times.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81  /  86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RNN Unfolded Through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Rolled Cell = Shared Weights Across Steps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nn-unf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7732" y="2103120"/>
            <a:ext cx="9714615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Cannot fully parallelize timesteps — each hₜ waits on hₜ₋₁.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82  /  86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LSTM: Gates for Long-Term Memory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Forget, Input, Output — Cell State Flows Linearly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LSTM adds a cell state cₜ with an additive path, so signal can travel many steps without vanishing.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4028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stm-gat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046" y="2377440"/>
            <a:ext cx="9957987" cy="3703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GRU is a simpler cousin (two gates). Transformers later replace recurrence with attention.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83  /  86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LSTM Gates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Each Gate Controls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Gate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Role (intuition)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Forget  fₜ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Erase irrelevant history from the cell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Input  iₜ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Allow new candidate information in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Output  oₜ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Expose part of the cell as hₜ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0325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1056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The cell is the highway; the gates are the on-ramps and off-ramps.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84  /  86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Takeaways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3 Ideas to Keep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Leave with these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148840"/>
            <a:ext cx="10972800" cy="98755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404872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404872"/>
            <a:ext cx="9692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 neuron is z = wᵀx + b then a = f(z). Depth needs nonlinearity between layers.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291840"/>
            <a:ext cx="10972800" cy="98755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547872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3547872"/>
            <a:ext cx="9692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Backprop is the chain rule on a graph. Watch vanishing gradients, LR, and train vs val.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434840"/>
            <a:ext cx="10972800" cy="98755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690872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690872"/>
            <a:ext cx="9692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CNNs share filters across space; RNNs share weights across time; regularize so they generalize.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85  /  86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65176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4747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Labs: code/15- Deep Learning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12648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86  /  86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