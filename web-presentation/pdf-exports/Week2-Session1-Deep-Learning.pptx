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2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networks, backpropagation, CNNs, and RNNs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Week 1 classical ML is done — now stacked nonlinear models.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364992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77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2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Networks · CNNs · RNNs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8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Neural Networks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17536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17536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Perceptron &amp; MLP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8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33088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7536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17536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RNNs &amp; regularization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77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Neural Networks · CNNs · RNNs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Neural Networks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Perceptron &amp; MLP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Backpropagation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CNNs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RNNs &amp; regularization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77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Learning: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→ Optimization → Architectures → Autoencoders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phase answers a different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Four phases: foundations → optimization → architectures → autoencoders.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phase has a lab-style checkpoint — pause at phase boundaries.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Focus on deep learning basics — phase breaks are intentional.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nn-int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39197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Phase 1 focus: understand the “why” and the mathematical mechanics of a single neuron before scaling to layers and data.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Learning: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Four phases, four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→ optimization → architectures → autoencoders. Pause at each boundary.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our-pha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943" y="2377440"/>
            <a:ext cx="10084193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Phase 1 focus: understand the “why” and the mathematical mechanics of a single neuron before scaling to layers and 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77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1: Foundations &amp; Neural 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depth, neurons, and forward pass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Goal: understand what a neuron computes and why stacking layers enables hierarchical features.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a72afc9ad62849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5917" y="2852928"/>
            <a:ext cx="3238246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Exit check: explain this — and why nonlinearity is required between layers.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Topics: perceptron, activations, MLP, forward propagation, and loss functions.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Stacking layers builds hierarchical features only if a nonlinearity sits between them.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77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1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depth, neurons, and forward pass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Block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Question it answers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Perceptron &amp; MLP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does one layer compute?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Forward pass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does inference flow through the graph?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&amp; gradients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are we optimizing?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Exit check: explain z = w·x + b and why nonlinearity is required between layers.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77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Deep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Definition in One Sentence — Then the Details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 learns a parameterized mapping from inputs to outputs by stacking nonlinear transformations (layers).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“Deep” means multiple such transformations — hierarchical features, not one giant linear rule.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nn-int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39197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Layers rewrite features step by step. Depth is composition, not one giant linear rule.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77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Deep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Definition in One Sentence — Then the Details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Training = pick a loss that measures mistakes, then adjust weights with gradients so average loss drops on data (generalization to unseen data is the real goal).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Unlike fixed pipelines of hand-crafted features, the network learns representations that are tuned to the task (edges → textures → parts → objects in vision, etc.).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Generalization to unseen data is the real goal — not memorizing the training set.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77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Three Ingredients You Always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Architecture · Loss · Optimizer +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Ingredient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means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Architecture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signals flow (MLP, CNN, RNN, Transformer, …)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/ objective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“better” means for your task (MSE, cross-entropy, …)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Optimizer + data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you search parameters and what examples you show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You always have these three. Change one, and the model’s behavior changes with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77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Three Ingredients You Always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Architecture · Loss · Optimizer + data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hree-ingredi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103120"/>
            <a:ext cx="1023578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strong architecture with the wrong loss still learns the wrong thing.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77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AI, Machine Learning, and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Subset Relationships — Not Interchangeable Labels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Artificial intelligence (AI): the broad field—rules, search, optimization, learning, planning—anything that aims at intelligent behavior.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Machine learning (ML): a subfield of AI where behavior improves from data via a learning algorithm (not only hand-written rules).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 (DL): a subfield of ML using deep neural networks—multiple learned nonlinear layers; representation learning is central.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AI, Machine Learning, and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Subset Relationships — Not Interchangeable Labels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i-ml-d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910" y="2103120"/>
            <a:ext cx="8442258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DL ⊂ ML ⊂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77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Containment (conceptual)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Subset Relationships — Not Interchangeable Labels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Set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Contains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AI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Rule systems, classical search, ML, knowledge bases, …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 models, trees, kernel SVMs, shallow nets, deep nets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CNNs, RNNs/GRU/LSTM, Transformers, GANs, VAEs, …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Saying “we used AI” is vague; “we used supervised DL with a CNN” is precise.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77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Use-Case Fit: When Deep Learning Shines — and When to Skip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Method to Data, Risk, and Budget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DL is strongest when: large data (or strong pre-training), high-dimensional raw inputs (images, text, speech), and compositionality you want learned end-to-end.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Think twice when: tiny tabular datasets, strict interpretability requirements, tight latency on CPU without optimization, or simple baselines already solve the problem.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Always compare against strong baselines (logistic regression, gradient boosting, k-NN on engineered features)—DL must earn its complexity on validation metrics you care about.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77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Use-Case Fit: When Deep Learning Shines — and When to Skip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Method to Data, Risk, and Budget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Situation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Typical first choice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Why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Large labeled images / audio / 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Pre-trained DL + fine-tune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Raw inputs; hierarchical features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Small tabular (&lt; few k rows)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Trees / linear + regularization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Lower variance, fast iteration, interpretability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Need causal or legal explanation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Simpler model or hybrid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Auditability and stability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Plenty of GPUs + big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Larger nets + careful tuning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Capacity + regularization can scale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Edge device, millisecond latency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Small distilled / quantized models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Memory and power limits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77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Depth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Hierarchical Representation Learning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layer rewrites the previous layer’s features into a more useful space.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Early layers detect simple patterns (edges, local tokens).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Middle layers compose those into textures, parts, phrases.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Late layers assemble task semantics (objects, intent, class scores).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hierarchical-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15846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is composition. Width is how many features you keep at each level.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77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Session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build today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Block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Question it answers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Perceptron &amp; MLP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does one layer compute?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Backpropagation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update the weights?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CNNs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exploit spatial structure?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RNNs &amp; regularization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model sequences and generalize?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Exit check: explain z = w·x + b and why nonlinearity is required between layers.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77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Single Neuron (Perceptron): Math, Weights, and Bias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One weighted sum plus bias, then an activation. The output can be used as-is or passed onward.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73e5fa6026bd28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59" y="3648374"/>
            <a:ext cx="5303520" cy="7042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4805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ŷ = a (or further processing)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rcep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184995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77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Single Neuron (Perceptron): Math, Weights, and Bias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Affine part (see formula above): z is the weighted sum of inputs plus b—each xᵢ is multiplied by wᵢ.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060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bias b shifts the decision boundary (same orientation, normal w); it does not rotate the separating hyperplane.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632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632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Weights encode which patterns excite the neuron; training adjusts w and b so that on labeled data the loss decreases.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204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204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With no hidden layer and a monotonic activation, the decision boundary in input space is linear (a hyperplane)—powerful but limited.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77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Symbols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Symbol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Shape intuition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x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Feature vector (length d)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training example’s inputs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Same length as x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Direction + strength of sensitivity to each feature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Scalar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Offset / threshold in logit space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Maps ℝ → ℝ (per neuron)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Introduces nonlinearity (or identity)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Bias shifts the hyperplane; it does not rotate it. Rotation comes from 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77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If all weights in a layer start equal (especially zero), every hidden unit receives the same gradient and stays identical forever—symmetry never breaks.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Random initialization makes each unit walk a different path in parameter space so they can specialize as feature detectors.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Frameworks use He (Kaiming) for ReLU and Xavier (Glorot) for Tanh to keep activation scale stable.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77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He (Kaiming) for ReLU: variance = 2 / n_in. Xavier (Glorot) for Tanh: variance = 2 / (n_in + n_out).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e0a02dc09b771b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964" y="2852928"/>
            <a:ext cx="624015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Keep activation scale stable across layers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He matches ReLU, which zeros out about half the signals.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Xavier matches Sigmoid / Tanh, which are symmetric around zero.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77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Init scheme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Problem it avoids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Best suited for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All zeros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Hidden units stay identical; no representation diversity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None (always avoid for weights)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Xavier (Glorot)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Vanishing or exploding variance across layers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Sigmoid / Tanh activations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He (Kaiming)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Variance drop due to ReLU zeroing out half the signals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ReLU / Leaky ReLU activations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Stacked linear layers collapse to one linear map. Activations prevent that collapse.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05de0967a22523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4559" y="2852928"/>
            <a:ext cx="8520961" cy="8686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77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gmoid-tan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0596" y="2103120"/>
            <a:ext cx="5808886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f(x)=1/(1+e^{−5x}) vs g(x)=1/(1+e^{−10x})  ·  tanh(x) is zero-centered, range (−1, 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Sigmoid: maps inputs to (0, 1)—useful for probabilities, but suffers from vanishing gradients when z is very large or very small (saturation).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Tanh: zero-centered, maps inputs to (-1, 1)—often nicer than sigmoid for hidden layers but still saturates.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ReLU: modern default for deep stacks—cheap to compute, avoids vanishing gradient on positive domain; leaky ReLU / ELU are variants.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77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Function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Range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Primary use-case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Sigmoid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(0, 1)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Binary classification output layer, gating networks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Tanh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(-1, 1)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Hidden layers (recurrent networks)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ReLU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[0, ∞)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Default choice for hidden layers in MLPs and CNNs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77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Sigmoid &amp; Threshold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Probability cutoff for classification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Decision threshold τ = 0.5 splits class 0 from class 1 on the sigmoid probability.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fe500b6844ed3f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367" y="3566160"/>
            <a:ext cx="2060702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4805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Predict class 1 when σ(z) ≥ 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igmoid-thresh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182755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77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Curves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ctiv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712" y="2103120"/>
            <a:ext cx="9040654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Flat tails (sigmoid / tanh) → tiny gradients. ReLU is linear on the positive side.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77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The XOR Problem: Why Hidden Layers Are Logically Necessary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a single line cannot solve XOR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XOR is not linearly separable in the 2D input plane: no single line separates class 1 from class 0 on the four corners.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single perceptron computes a half-space; XOR requires nonlinear mixing of inputs—exactly what a hidden layer provides.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Hidden units reparameterize inputs into a space where the task becomes linearly separable—this is the core intuition for representation learning.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The XOR Problem: Why Hidden Layers Are Logically Necessary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a single line cannot solve XOR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xor-separ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0706" y="2103120"/>
            <a:ext cx="7668667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hidden layer remaps the inputs so the output layer can cut with a 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XOR Truth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Four Points, One Nonlinear Rule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x₁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x₂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Hidden units reparameterize the inputs so XOR becomes linearly separable.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77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Hidden layer: affine map + nonlinearity → features h. Output: another affine map + τ.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30f6fda99db2df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59" y="3686152"/>
            <a:ext cx="5303520" cy="62869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4805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φ = hidden activation  ·  τ = output activation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lp-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1971852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77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lp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8788" y="2103120"/>
            <a:ext cx="8672502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Every arrow is a weight. Training moves those arrows so the output matches the labels.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77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hidden layer applies an affine map followed by a nonlinearity, producing new features h as functions of the original inputs.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Width (units per layer) and depth (number of layers) trade off capacity, data needs, compute, and optimization difficulty.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Universal approximation (broad strokes): one sufficiently wide hidden layer can approximate many continuous functions on compact domains—in practice depth + inductive bias wins.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Hyperparameter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controls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Hidden width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many independent nonlinear features per layer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Depth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many levels of composition (edges→textures→…)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Skip / residual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Ease of optimization in very deep nets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77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n-forw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588" y="2103120"/>
            <a:ext cx="8228902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Edge thickness reflects weight magnitude.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77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Engine of Inference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Forward pass: feed input x through each layer in order—compute logits or scores at the end (then softmax for class probabilities if needed).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Implementation-wise this is a computational graph: each op (matmul, ReLU, …) knows how to propagate values forward.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Training repeats forward passes on mini-batches for efficiency and gradient noise that can help generalization.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77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Engine of Inference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Step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Operation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Output carries…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Linear: z = Wx + 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Weighted sum at each unit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Activation: a = f(z)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Nonlinear feature for next layer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Repeat / head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Class logits or regression value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77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Linear → Activation → Head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orward-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03120"/>
            <a:ext cx="10607040" cy="363999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Training repeats this on mini-batches. The graph also knows how to send gradients backward.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77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Output and Task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Regression — Mean Squared Error (MSE)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a4dcfce770c866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1708" y="2852928"/>
            <a:ext cx="2466662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Penalizes large errors heavily (quadratic); differentiable everywhere—classic for continuous targets.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Assumes Gaussian-like noise in a probabilistic story; outliers can dominate—Huber loss is a robust alternative.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77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Output and Task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Classification — Cross-entropy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c1a6e27e4f37f6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297" y="2852928"/>
            <a:ext cx="2907484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Often with logits + log-softmax for stability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Compares predicted probabilities p̂ to the true distribution (one-hot or soft labels).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Pairs naturally with softmax at the output; gradients are well-behaved when implemented in log-space.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77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Output and Task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Common head + loss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Regression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 output + MSE / Huber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Binary classification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Sigmoid + binary cross-entropy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Multi-class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Softmax + cross-entropy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Often with logits + log-softmax for numerical stability.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77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3536bc02b387f7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334" y="2167128"/>
            <a:ext cx="2049410" cy="86867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3154679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844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844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 applies the chain rule systematically: compute adjoints ∂L/∂ each intermediate tensor from outputs backward.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77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ackprop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732" y="2103120"/>
            <a:ext cx="971461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Forward computes predictions. Backward carries ∂L/∂w along every path.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77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Reverse-mode autodiff (backprop) is efficient when many parameters feed one scalar loss—exactly the neural net case.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Modern frameworks (PyTorch, JAX, TensorFlow) build the graph (explicit or traced) and implement this reliably—you still debug shapes, numerical stability, and vanishing gradients.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Understanding backprop = understanding which paths carry gradient and which activations saturate.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77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Idea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Shared subexpressions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Same forward values reused; backward visits each edge once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Topological order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Visit nodes after their successors—dynamic programming on the graph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55701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63016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Understanding backprop = understanding which paths carry gradient and which activations saturate.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77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2: Optimization &amp; Training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Stable Optimization + Generalization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Phase 2 is about the art of training: diagnosing fit, controlling gradients, picking optimizers, normalizing, and regularizing.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Good models are not only “big”—they match capacity to data, monitor validation faithfully, and fail visibly when something is wrong.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77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2: Optimization &amp; Training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you will control in practice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Layer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Optimization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SGD, Adam, gradient clipping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Stabilization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Batch Norm, residual paths, initialization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Generalization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Dropout, weight decay, early stopping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77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Diagnostics: Underfitting, Good Fit, and Overfitting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Read Train vs Validation Behavior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Underfitting: both train and validation error stay high—the model is too simple, features are insufficient, or optimization is stuck (LR too low, wrong loss).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Good fit: train and validation errors are both low and track each other; small gap is normal if train is slightly better.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Overfitting: train error keeps dropping while validation worsens or plateaus badly—the model memorizes idiosyncrasies (noise, augment leakage).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77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Diagnostics: Underfitting, Good Fit, and Overfitting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Read Train vs Validation Behavior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rain-val-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002" y="2103120"/>
            <a:ext cx="8880074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small train–val gap is normal. A widening gap is overfitting.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77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Diagnostics: Underfitting, Good Fit, and Overfitting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Read Train vs Validation Behavior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Regime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Train loss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Val loss / metric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response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Underfitting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capacity, better features, longer train, higher LR (carefully)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Good fit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Low, close to train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 regularization; ship or iterate on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Overfitting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low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Worse / diverging gap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data, dropout, wd, simpler model, early stop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77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Vanishing and Exploding Gradients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Multiplies Jacobians Layer by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Vanishing: backprop multiplies many factors &lt; 1 (saturated sigmoid/tanh, poor init)—early layers get tiny updates and learn slowly.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Exploding: repeated factors &gt; 1 or large weights produce huge parameter updates—loss spikes, NaNs.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Fixes are layered: architecture (residual paths), activations (ReLU), initialization (He/Xavier), normalization (BN/LN), and optimization (clipping).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77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Vanishing and Exploding Gradients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Multiplies Jacobians Layer by Layer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Symptom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Likely cause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Mitigation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Early layers barely move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Vanishing chain through saturated units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ReLU, He init, residuals, norm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→ NaN quickly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Exploding activations or LR too high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Clip grads, lower LR, check loss scaling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Stable then sudden blow-up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Rare but real—mixed precision, bad data batch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Finite checks, gradient clipping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77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and Adaptive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SGD + momentum: accumulates updates in a velocity vector to dampen oscillations in ravines and accelerate along consistent directions.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060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Adam: tracks both first-moment (momentum) and second-moment (recent squared gradients) of gradients to adapt learning rates per parameter.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632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632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SGD is often preferred in computer vision for generalization, while Adam is the default starting point for Transformers and general MLPs.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 (LR) is the single most important hyperparameter to tune (typically searched on a log grid, e.g., 1e-4, 1e-3, 1e-2).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 /  77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and Adaptive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924003666e0f87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9335" y="2167128"/>
            <a:ext cx="3131409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3154679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η = learning rate  ·  typical log grid: 1e-4, 1e-3, 1e-2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58  /  77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and Adaptive Steps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Optimizer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Core mechanism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When to 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Vanilla SGD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Step in negative gradient direction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Rarely used alone today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SGD + Momentum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Adds fraction of previous step direction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Standard for CV models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Adam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Adapts learning rate per parameter based on gradients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Robust default for text/tabular/MLPs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 (LR) is the single most important hyperparameter to tune (typically searched on a log grid, e.g., 1e-4, 1e-3, 1e-2).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59  /  77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Normalization: Batch Normalization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Stabilize Activations and Speed Up Deep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eature-sc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1742" y="2103120"/>
            <a:ext cx="80659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scaling: features brought to a comparable range.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  /  77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Normalization: Batch Normalization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Stabilize Activations and Speed Up Deep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BN normalizes each channel across the mini-batch, then learns a scale γ and shift 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cf7bf0202215fa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892" y="2852928"/>
            <a:ext cx="3108294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Stabilizes internal activations and allows a higher learning rate.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Layer Norm normalizes across features per example — standard in Transformers and RNNs.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BN uses batch statistics at train time and running averages at inference.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61  /  77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Image Data: How Computers See Pixels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Tensors, Channels, and Local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color image is a tensor H×W×3 (RGB). Meaning lives in local neighborhoods, not isolated pixels.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Small patches reveal edges; larger context reveals objects — hierarchical composition.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Preprocess: resize, crop, normalize (often ImageNet mean/std), then augment.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Model input is typically Batch × C × H × W fed into stem convolutions.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on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18499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Augmentation (crop, flip, color jitter) teaches invariance the loss never states explicitly.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62  /  77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Convolution: Kernels and Feature 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Sliding Linear Filters + Nonlinearity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kernel is a small learnable matrix (often 3×3). Multiple kernels produce a stack of feature maps.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n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66" y="2377440"/>
            <a:ext cx="9243946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Classical Sobel filters are fixed. CNNs learn task-specific filters from 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63  /  77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 Hyperparameters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Neighborhood, Stride, Border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Hyperparameter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Effect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Kernel size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Immediate neighborhood (3×3 is common)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Stride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Downsample spatially when &gt; 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Padding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 spatial size (same) or control the border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Channels / filters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many distinct patterns this layer can detect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stacks widen the receptive field: early ≈ edges; late ≈ object parts.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64  /  77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 Blocks: Conv–Pool to ResNet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Depth, Downsampling, Residual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standard CNN alternates convolution, ReLU, and pooling, then a fully connected head.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nn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77440"/>
            <a:ext cx="10607040" cy="36399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Max-pool keeps the strongest local response and shrinks the map.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65  /  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Block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 F(x), Keep an Identity 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Skip connections let gradients flow backward through identity — this is how 100+ layer nets train.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2b076bcbaf5e0b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0086" y="2852928"/>
            <a:ext cx="3189906" cy="8686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block learns the residual F; x is copied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AlexNet (2012): scale + ReLU + dropout + GPUs on ImageNet.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ResNet (2015): residual mapping F(x)+x; skip paths help gradients.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If F learns zero, the block still acts as identity — easier than learning identity from scratch.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66  /  77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Shortcut Around the Convolutions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sidual-b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103120"/>
            <a:ext cx="1023578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add node is why early layers still receive a usable gradient.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67  /  77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Learning with Pretrained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Reuse Features, Adapt the Head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Pretraining on ImageNet learns general filters you can reuse on a smaller target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ransfer-le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377440"/>
            <a:ext cx="10235785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Freeze the backbone when data is scarce; fine-tune top blocks when you have more labels.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68  /  77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Recipe by Dataset Size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Much of the Backbone to Touch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Target dataset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Strategy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Small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Freeze backbone, train head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Medium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Fine-tune top blocks with a smaller LR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Large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Full fine-tune of all layers with a small LR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Transfer learning cuts labeled-data need and wall-clock time on most vision tasks.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69  /  77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Regularization: Dropout, Weight Decay, Early Stopping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Constrain Capacity to Generalize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Regularization is how we stop the network from memorizing noise.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rop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9837" y="2377440"/>
            <a:ext cx="7930404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Turn dropout OFF at inference (model.eval()) so predictions are deterministic.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70  /  77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 Toolkit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Three Levers You Will Use Together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Technique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Primary action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At inference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Dropout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Randomly drop hidden units (p ≈ 0.2–0.5)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Off (weights scaled)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L2 weight decay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Shrink weights toward zero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 (weights are static)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Early stopping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Stop at lowest validation loss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N/A — checkpoint the best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Dropout is an implicit ensemble. Weight decay is a smoothness prior. Early stopping is free.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71  /  77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Sequential Data &amp; Vanilla RNNs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Transition, Unfolded Through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Text, audio, and sensors have order. Shuffling them destroys meaning.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2d62af75280505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9632" y="2852928"/>
            <a:ext cx="7010814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weights at every timestep  ·  hₜ is a running memory of the past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Parameter sharing across time is efficient — but long sequences multiply Jacobians.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Vanilla RNNs struggle with long-range dependencies (vanishing / exploding gradients).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Backprop through 50 steps ≈ multiplying a matrix 50 times.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72  /  77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Unfolded Through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Rolled Cell = Shared Weights Across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nn-unf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732" y="2103120"/>
            <a:ext cx="971461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Cannot fully parallelize timesteps — each hₜ waits on hₜ₋₁.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73  /  77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LSTM: Gates for Long-Term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Forget, Input, Output — Cell State Flows Linearly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LSTM adds a cell state cₜ with an additive path, so signal can travel many steps without vanishing.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stm-g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46" y="2377440"/>
            <a:ext cx="9957987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GRU is a simpler cousin (two gates). Transformers later replace recurrence with attention.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74  /  77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LSTM Gates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Each Gate Controls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Gate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 (intuition)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Forget  fₜ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Erase irrelevant history from the cell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Input  iₜ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Allow new candidate information 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Output  oₜ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Expose part of the cell as hₜ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cell is the highway; the gates are the on-ramps and off-ramps.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75  /  77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 Ideas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Leave with these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04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04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neuron is z = wᵀx + b then a = f(z). Depth needs nonlinearity between layers.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47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 is the chain rule on a graph. Watch vanishing gradients, LR, and train vs val.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90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90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CNNs share filters across space; RNNs share weights across time; regularize so they generalize.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76  /  77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Labs: code/15- Deep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77  /  77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