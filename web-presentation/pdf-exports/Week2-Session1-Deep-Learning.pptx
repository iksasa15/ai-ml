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6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8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9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0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3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4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5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6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7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8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9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0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01168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Week 2  ·  Session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468880"/>
            <a:ext cx="105156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Deep Learning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474720"/>
            <a:ext cx="1280160" cy="54864"/>
          </a:xfrm>
          <a:prstGeom prst="rect">
            <a:avLst/>
          </a:prstGeom>
          <a:gradFill rotWithShape="1">
            <a:gsLst>
              <a:gs pos="0">
                <a:srgbClr val="5234B7"/>
              </a:gs>
              <a:gs pos="100000">
                <a:srgbClr val="9E59C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79476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Neural networks, backpropagation, CNNs, and RNNs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12648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612648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AI &amp; Machine Learning Bootcamp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Big picture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Where Are We in the Bootcamp?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Week 1 classical ML is done — now stacked nonlinear models.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1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4944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Foundations &amp; Preprocessing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" y="3136392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136392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Regression Models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666744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666744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Classification Basics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" y="4197095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197095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Naive Bayes &amp; Trees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" y="4727448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727448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SVM &amp; Kernels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" y="525780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525780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Clustering &amp; PCA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64992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364992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364992" y="2679192"/>
            <a:ext cx="45720" cy="25603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11296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13632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Deep Learning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81344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81344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27648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9984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NLP Fundamentals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27648" y="3136392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29984" y="3136392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Tokenization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27648" y="3666744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9984" y="3666744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Text Analysis &amp; NER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27648" y="4197095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29984" y="4197095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Language Modeling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27648" y="4727448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9984" y="4727448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Embeddings &amp; RNNs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27648" y="525780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29984" y="525780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Seq2Seq &amp; NMT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97696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4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997696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0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46336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Generative AI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4000" y="3136392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46336" y="3136392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RAG Systems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44000" y="3666744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46336" y="3666744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MLOps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02  /  53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874519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Week 2  ·  Session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0"/>
            <a:ext cx="105156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Deep Learning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200400"/>
            <a:ext cx="1280160" cy="54864"/>
          </a:xfrm>
          <a:prstGeom prst="rect">
            <a:avLst/>
          </a:prstGeom>
          <a:gradFill rotWithShape="1">
            <a:gsLst>
              <a:gs pos="0">
                <a:srgbClr val="5234B7"/>
              </a:gs>
              <a:gs pos="100000">
                <a:srgbClr val="9E59C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5204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Neural Networks · CNNs · RNNs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297680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4352544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Deep Learning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33088" y="4297680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33088" y="4352544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Neural Networks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17536" y="4297680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17536" y="4352544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Perceptron &amp; MLP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919472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974336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Backpropagation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33088" y="4919472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33088" y="4974336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CNNs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17536" y="4919472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17536" y="4974336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RNNs &amp; regularization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03  /  53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Neural Networks · CNNs · RNNs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What we will cover in this session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Deep Learning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70632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70632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Neural Networks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392424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92424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Perceptron &amp; MLP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014216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014216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Backpropagation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63600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636008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CNNs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25780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25780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RNNs &amp; regularization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04  /  53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Deep Learning: Introduction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Foundations → Optimization → Architectures → Autoencoders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Each phase answers a different question.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461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461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Four phases: foundations → optimization → architectures → autoencoders.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033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033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Each phase has a lab-style checkpoint — pause at phase boundaries.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1605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1605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Focus on deep learning basics — phase breaks are intentional.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ann-int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239197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48640" y="5989320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Phase 1 focus: understand the “why” and the mathematical mechanics of a single neuron before scaling to layers and data.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05  /  53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Deep Learning: Introduction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Four phases, four questions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2024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Foundations → optimization → architectures → autoencoders. Pause at each boundary.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24028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four-phas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943" y="2377440"/>
            <a:ext cx="10084193" cy="3703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Phase 1 focus: understand the “why” and the mathematical mechanics of a single neuron before scaling to layers and data.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06  /  53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Phase 1: Foundations &amp; Neural Core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Why depth, neurons, and forward pass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Goal: understand what a neuron computes and why stacking layers enables hierarchical features.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-a72afc9ad628496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5917" y="2852928"/>
            <a:ext cx="3238246" cy="868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4400" y="3840480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Exit check: explain this — and why nonlinearity is required between layers.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2702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2702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Topics: perceptron, activations, MLP, forward propagation, and loss functions.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78231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78231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Stacking layers builds hierarchical features only if a nonlinearity sits between them.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07  /  53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Phase 1 Roadmap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Why depth, neurons, and forward pass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Block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Question it answers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Perceptron &amp; MLP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What does one layer compute?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Forward pass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How does inference flow through the graph?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Loss &amp; gradients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What are we optimizing?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03250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10565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Exit check: explain z = w·x + b and why nonlinearity is required between layers.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08  /  53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What Is Deep Learning?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Definition in One Sentence — Then the Details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Deep learning learns a parameterized mapping from inputs to outputs by stacking nonlinear transformations (layers).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461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461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“Deep” means multiple such transformations — hierarchical features, not one giant linear rule.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ann-int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239197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48640" y="5989320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Layers rewrite features step by step. Depth is composition, not one giant linear rule.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09  /  53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AI, Machine Learning, and Deep Learning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Subset Relationships — Not Interchangeable Labels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2024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DL ⊂ ML ⊂ AI. Precise language beats “we used AI”.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24028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ai-ml-d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3910" y="2377440"/>
            <a:ext cx="8442258" cy="3703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Say “supervised DL with a CNN” — not just “AI”.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10  /  53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Containment (conceptual)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What sits inside what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Set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Contains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AI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Rule systems, search, planning, ML, knowledge bases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ML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Linear models, trees, kernel SVMs, shallow nets, deep nets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DL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CNNs, RNNs / LSTM, Transformers, autoencoders, GANs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03250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10565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Deep learning is a subfield of ML that uses stacked nonlinear layers.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11  /  53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When Deep Learning Shines — and When to Skip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Match Method to Data, Risk, and Budget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Situation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Typical first choice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Why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Large images / audio / text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Pre-trained DL + fine-tune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Raw inputs; hierarchical features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Small tabular (&lt; few k rows)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Trees / linear + regularization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Lower variance, faster iteration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Need legal / causal explanation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Simpler model or hybrid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Auditability and stability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Tight CPU / edge latency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Small distilled / quantized net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Memory and power limits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507992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581144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Always compare against strong baselines. DL must earn its complexity on validation metrics.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12  /  53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Three Ingredients of Every Deep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Architecture · Loss · Optimizer +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2024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Every neural network is the same three-part recipe, regardless of CNN vs RNN vs MLP.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24028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three-ingredi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7147" y="2377440"/>
            <a:ext cx="10235785" cy="3703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Change one ingredient and the model’s behavior changes with it.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13  /  53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Three Ingredients — What Each Means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You always have these three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Ingredient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What it means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Architecture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How signals flow (MLP, CNN, RNN, Transformer)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Loss / objective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What “better” means (MSE, cross-entropy, …)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Optimizer + data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How you search parameters and which examples you show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03250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10565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 beautiful architecture with the wrong loss still learns the wrong thing.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14  /  53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Why Depth Works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Hierarchical Representation Learning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Each layer rewrites the previous layer’s features into a more useful space.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461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461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Early layers detect simple patterns (edges, local tokens).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033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033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Middle layers compose those into textures, parts, phrases.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1605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1605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Late layers assemble task semantics (objects, intent, class scores).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hierarchical-featur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158465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48640" y="5989320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Depth is composition. Width is how many features you keep at each level.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15  /  53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Session Roadmap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What we build today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Block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Question it answers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Perceptron &amp; MLP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What does one layer compute?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Backpropagation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How do we update the weights?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CNNs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How do we exploit spatial structure?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RNNs &amp; regularization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How do we model sequences and generalize?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507992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581144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Exit check: explain z = w·x + b and why nonlinearity is required between layers.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16  /  53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Single Neuron (Perceptron)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One Affine Map + One Nonlinearity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The perceptron is the building block: weighted sum, plus bias, then an activation.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-44e6077ffb255c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2282" y="2852928"/>
            <a:ext cx="5625515" cy="868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4400" y="3840480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 = sensitivity to each feature  ·  b = offset of the decision boundary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2702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2702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Weights encode which patterns excite the neuron; training moves w and b to lower the loss.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69087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69087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With no hidden layer, the decision boundary in input space is a hyperplane — linear.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98932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 single perceptron is powerful but limited: it cannot solve XOR.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17  /  53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Perceptron — Signal 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Inputs → Weighted Sum → Activation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2024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Each input is multiplied by a weight, summed with bias b, then passed through f.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24028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erceptr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3066" y="2377440"/>
            <a:ext cx="9243946" cy="3703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z is the logit / pre-activation. a is what the next layer actually sees.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18  /  53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Symbols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One Affine Map + One Nonlinearity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Symbol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Shape intuition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Role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x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Feature vector (length d)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One example’s inputs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w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Same length as x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Direction and strength of sensitivity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b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Scalar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Offset / threshold in logit space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f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Maps ℝ → ℝ (per neuron)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Introduces nonlinearity (or identity)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507992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581144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Bias shifts the hyperplane; it does not rotate it. Rotation comes from w.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19  /  53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Weight Initialization: Why Zeros Break Training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Symmetry Must Be Broken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Init scheme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Problem it avoids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Best suited for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All zeros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Hidden units stay identical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Never use for weights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Xavier (Glorot)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Variance collapse / explosion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Sigmoid / Tanh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He (Kaiming)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ReLU zeros out ~half the signal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ReLU / Leaky ReLU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03250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10565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Random init lets each unit specialize. Frameworks apply He / Xavier for you.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20  /  53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Activation Functions: Sigmoid, Tanh, ReLU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Nonlinearity Is What Makes Depth Useful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Stacked linear layers collapse to one linear map. Activations prevent that collapse.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-f250a0955f8365e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2266" y="2852928"/>
            <a:ext cx="7085546" cy="868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8640" y="42702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2702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Sigmoid maps to (0, 1) — good for probabilities; saturates and vanishes gradients.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69087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69087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Tanh is zero-centered (−1, 1) — often nicer than sigmoid, still saturates.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111496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111496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ReLU is the default hidden activation — cheap, and avoids vanishing on z &gt; 0.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98932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Use ReLU (or GELU) in hidden layers; sigmoid / softmax at the output when you need probabilities.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21  /  53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Activation Curves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Shape Controls Gradient Flow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ctivati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4712" y="2103120"/>
            <a:ext cx="9040654" cy="3703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Flat tails (sigmoid / tanh) → tiny gradients. ReLU is linear on the positive side.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22  /  53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The XOR 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Why Hidden Layers Are Necessary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2024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XOR is not linearly separable: no single line separates the four corners.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24028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xor-separabil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0706" y="2377440"/>
            <a:ext cx="7668667" cy="3703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 hidden layer remaps the inputs so the output layer can cut with a line.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23  /  53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XOR Truth 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Four Points, One Nonlinear Rule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x₁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x₂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XOR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507992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581144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This is the core intuition for representation learning: change the space, then classify.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24  /  53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From Perceptron to MLP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Depth = Composed Nonlinear Features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Each hidden layer applies an affine map, then a nonlinearity, producing new features h.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-30f6fda99db2df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1054" y="2852928"/>
            <a:ext cx="7327970" cy="86867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4400" y="3840480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φ = hidden activation (ReLU)  ·  τ = output activation (softmax / linear)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2702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2702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Width = how many independent nonlinear features per layer.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69087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69087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Depth = how many levels of composition (edges → textures → objects).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98932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Universal approximation: one wide hidden layer can fit many functions. In practice, depth + inductive bias wins.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25  /  53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MLP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Input → Hidden → Output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lp-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8788" y="2103120"/>
            <a:ext cx="8672502" cy="3703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Every arrow is a weight. Training is moving those arrows so the output matches the labels.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26  /  53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Forward Propagation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The Engine of Inference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2024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Feed x through each layer in order. The last layer emits logits, then softmax if you need class probabilities.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24028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forward-pa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377440"/>
            <a:ext cx="10607040" cy="363999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Training repeats this on mini-batches. The graph also knows how to send gradients backward.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27  /  53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Loss Functions: MSE vs Cross-Entropy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Match the Loss to the Task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The loss tells the network what “wrong” means. Pick it from the output type.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-989544d55532b04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1021" y="2852928"/>
            <a:ext cx="2888036" cy="868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4400" y="3840480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Regression: quadratic penalty on residuals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2702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2702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MSE: continuous targets; outliers can dominate — Huber is a robust alternative.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69087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69087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Cross-entropy: predicted probabilities vs true class (often with logits + log-softmax).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98932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Wrong loss → the model optimizes the wrong thing, even if the architecture is right.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28  /  53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Loss by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Head + Loss Pairs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Task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Common head + loss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Regression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Linear output + MSE / Huber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Binary classification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Sigmoid + binary cross-entropy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Multi-class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Softmax + cross-entropy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03250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10565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Implement classification losses in log-space for numerical stability.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29  /  53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Backpropagation: Chain Rule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Gradients on the Computational Graph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Backprop applies the chain rule from the scalar loss backward through every tensor.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-3536bc02b387f78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0334" y="2852928"/>
            <a:ext cx="2049410" cy="86867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4400" y="3840480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Reverse-mode autodiff — efficient when many weights feed one loss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2702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2702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Each op knows a forward and a backward rule (matmul, ReLU, …).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69087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69087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PyTorch / JAX / TensorFlow build this graph; you still debug shapes and saturation.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98932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Understanding backprop = knowing which paths carry gradient and which activations flatten it.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30  /  53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Forward Then Backward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Two Passes, One Update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backprop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7732" y="2103120"/>
            <a:ext cx="9714615" cy="3703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Shared subexpressions: each edge is visited once on the way back.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31  /  53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Vanishing and Exploding Gradients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Depth Multiplies Jacobians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Symptom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Likely cause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Mitigation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Early layers barely move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Vanishing chain / saturated units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ReLU, He init, residuals, norm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Loss → NaN quickly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Exploding activations or LR too high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Clip grads, lower LR, check scaling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Stable then sudden blow-up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Bad batch / mixed precision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Finite checks, gradient clipping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03250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10565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Fixes stack: architecture + activation + init + normalization + optimizer.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32  /  53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Optimizers: SGD and Adam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Learning Rate, Momentum, Adaptive Steps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The optimizer turns a gradient into a weight update. Learning rate is the first knob to tune.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-924003666e0f87b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9335" y="2852928"/>
            <a:ext cx="3131409" cy="868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4400" y="3840480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η = learning rate  ·  typical log grid: 1e-4, 1e-3, 1e-2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2702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2702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SGD + momentum: accumulates velocity to ride consistent directions and damp ravines.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69087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69087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Adam: adapts the step per parameter from recent gradient magnitude — a robust default.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98932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SGD+momentum is still common in vision. Adam is the usual start for MLPs and Transformers.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33  /  53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Optimizer Cheat Sheet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When to Use Which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Optimizer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Core mechanism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When to use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Vanilla SGD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Step in −gradient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Rarely used alone today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SGD + Momentum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Adds a fraction of the previous step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Standard for many CV models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Adam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Per-parameter adaptive rates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Default for text / tabular / MLPs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03250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10565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LR is usually more important than switching optimizer too early.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34  /  53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Batch Normalization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Stabilize Activations, Speed Up Training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BN normalizes each channel across the mini-batch, then learns a scale γ and shift β.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-cf7bf0202215fa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892" y="2852928"/>
            <a:ext cx="3108294" cy="868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8640" y="42702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2702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Stabilizes internal activations and allows a higher learning rate.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69087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69087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Layer Norm normalizes across features per example — standard in Transformers and RNNs.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98932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BN uses batch statistics at train time and running averages at inference.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35  /  53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Image Data: How Computers See Pixels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Tensors, Channels, and Local Structure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 color image is a tensor H×W×3 (RGB). Meaning lives in local neighborhoods, not isolated pixels.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461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461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Small patches reveal edges; larger context reveals objects — hierarchical composition.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033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033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Preprocess: resize, crop, normalize (often ImageNet mean/std), then augment.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1605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1605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Model input is typically Batch × C × H × W fed into stem convolutions.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convol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184995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48640" y="5989320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Augmentation (crop, flip, color jitter) teaches invariance the loss never states explicitly.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36  /  53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Convolution: Kernels and Feature Maps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Sliding Linear Filters + Nonlinearity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2024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 kernel is a small learnable matrix (often 3×3). Multiple kernels produce a stack of feature maps.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24028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onvol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3066" y="2377440"/>
            <a:ext cx="9243946" cy="3703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Classical Sobel filters are fixed. CNNs learn task-specific filters from data.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37  /  53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Convolution Hyperparameters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Neighborhood, Stride, Border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Hyperparameter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Effect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Kernel size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Immediate neighborhood (3×3 is common)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Stride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Downsample spatially when &gt; 1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Padding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Keep spatial size (same) or control the border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Channels / filters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How many distinct patterns this layer can detect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507992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581144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Deep stacks widen the receptive field: early ≈ edges; late ≈ object parts.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38  /  53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CNN Blocks: Conv–Pool to ResNet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Depth, Downsampling, Residual Learning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2024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 standard CNN alternates convolution, ReLU, and pooling, then a fully connected head.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24028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nn-st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377440"/>
            <a:ext cx="10607040" cy="363999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Max-pool keeps the strongest local response and shrinks the map.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39  /  53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Residual Block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Learn F(x), Keep an Identity Path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Skip connections let gradients flow backward through identity — this is how 100+ layer nets train.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-2b076bcbaf5e0bf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0086" y="2852928"/>
            <a:ext cx="3189906" cy="86867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4400" y="3840480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The block learns the residual F; x is copied forward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2702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2702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AlexNet (2012): scale + ReLU + dropout + GPUs on ImageNet.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69087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69087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ResNet (2015): residual mapping F(x)+x; skip paths help gradients.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98932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If F learns zero, the block still acts as identity — easier than learning identity from scratch.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40  /  53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Residual Path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Shortcut Around the Convolutions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esidual-blo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7147" y="2103120"/>
            <a:ext cx="10235785" cy="3703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The add node is why early layers still receive a usable gradient.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41  /  53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Transfer Learning with Pretrained Models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Reuse Features, Adapt the Head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2024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Pretraining on ImageNet learns general filters you can reuse on a smaller target task.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24028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transfer-learn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7147" y="2377440"/>
            <a:ext cx="10235785" cy="3703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Freeze the backbone when data is scarce; fine-tune top blocks when you have more labels.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42  /  53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Transfer Recipe by Dataset Size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How Much of the Backbone to Touch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Target dataset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Strategy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Small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Freeze backbone, train head only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Medium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Fine-tune top blocks with a smaller LR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Large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Full fine-tune of all layers with a small LR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03250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10565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Transfer learning cuts labeled-data need and wall-clock time on most vision tasks.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43  /  53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Training Diagnostics: Underfit, Fit, Overfit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Read Train vs Validation Behavior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2024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The gap between train and validation loss tells you whether to add capacity or add constraint.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24028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train-val-curv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5002" y="2377440"/>
            <a:ext cx="8880074" cy="3703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 small train–val gap is normal. A widening gap is overfitting.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44  /  53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What to Do in Each Regime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Capacity vs Constraint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Regime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Train loss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Val loss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Typical response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Underfitting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High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High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More capacity, better features, longer train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Good fit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Low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Low, close to train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Keep regularization; ship or iterate on data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Overfitting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Very low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Worse / diverging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More data, dropout, weight decay, early stop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03250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10565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Fix underfitting before celebrating a tiny training loss.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45  /  53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Regularization: Dropout, Weight Decay, Early Stopping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Constrain Capacity to Generalize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2024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Regularization is how we stop the network from memorizing noise.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24028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dropo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9837" y="2377440"/>
            <a:ext cx="7930404" cy="3703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Turn dropout OFF at inference (model.eval()) so predictions are deterministic.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46  /  53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Regularization Toolkit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Three Levers You Will Use Together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Technique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Primary action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At inference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Dropout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Randomly drop hidden units (p ≈ 0.2–0.5)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Off (weights scaled)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L2 weight decay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Shrink weights toward zero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On (weights are static)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Early stopping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Stop at lowest validation loss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N/A — checkpoint the best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03250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10565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Dropout is an implicit ensemble. Weight decay is a smoothness prior. Early stopping is free.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47  /  53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Sequential Data &amp; Vanilla RNNs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One Transition, Unfolded Through Time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Text, audio, and sensors have order. Shuffling them destroys meaning.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-2d62af75280505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29632" y="2852928"/>
            <a:ext cx="7010814" cy="868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4400" y="3840480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Same weights at every timestep  ·  hₜ is a running memory of the past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2702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2702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Parameter sharing across time is efficient — but long sequences multiply Jacobians.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69087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69087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Vanilla RNNs struggle with long-range dependencies (vanishing / exploding gradients).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98932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Backprop through 50 steps ≈ multiplying a matrix 50 times.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48  /  53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RNN Unfolded Through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Rolled Cell = Shared Weights Across Steps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nn-unf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7732" y="2103120"/>
            <a:ext cx="9714615" cy="3703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Cannot fully parallelize timesteps — each hₜ waits on hₜ₋₁.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49  /  53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LSTM: Gates for Long-Term Memory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Forget, Input, Output — Cell State Flows Linearly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2024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LSTM adds a cell state cₜ with an additive path, so signal can travel many steps without vanishing.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24028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stm-gat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6046" y="2377440"/>
            <a:ext cx="9957987" cy="3703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GRU is a simpler cousin (two gates). Transformers later replace recurrence with attention.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50  /  53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LSTM Gates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What Each Gate Controls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Gate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Role (intuition)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Forget  fₜ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Erase irrelevant history from the cell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Input  iₜ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Allow new candidate information in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Output  oₜ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Expose part of the cell as hₜ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03250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10565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The cell is the highway; the gates are the on-ramps and off-ramps.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51  /  53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Takeaways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3 Ideas to Keep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Leave with these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148840"/>
            <a:ext cx="10972800" cy="98755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404872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2404872"/>
            <a:ext cx="9692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 neuron is z = wᵀx + b then a = f(z). Depth needs nonlinearity between layers.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291840"/>
            <a:ext cx="10972800" cy="98755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547872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3547872"/>
            <a:ext cx="9692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Backprop is the chain rule on a graph. Watch vanishing gradients, LR, and train vs val.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434840"/>
            <a:ext cx="10972800" cy="98755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690872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4690872"/>
            <a:ext cx="9692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CNNs share filters across space; RNNs share weights across time; regularize so they generalize.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52  /  53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65176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47472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Labs: code/15- Deep Learning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12648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53  /  53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