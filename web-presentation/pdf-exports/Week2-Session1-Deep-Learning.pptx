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2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Neural networks, backpropagation, CNNs, and RNNs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Week 1 classical ML is done — now stacked nonlinear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64992" y="2679192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98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74519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2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Neural Networks · CNNs · RNNs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8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Neural Networks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17536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Perceptron &amp; MLP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8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8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RNNs &amp; regularization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98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Neural Networks · CNNs ·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Neural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Perceptron &amp; MLP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Backpropagation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CNNs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RNNs &amp; regularization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Learning: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→ Optimization → Architectures → Autoencoders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phase answers a different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Four phases: foundations → optimization → architectures → autoencoders.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phase has a lab-style checkpoint — pause at phase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Focus on deep learning basics — phase breaks are intentional.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nn-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9197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Phase 1 focus: understand the “why” and the mathematical mechanics of a single neuron before scaling to layers and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98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Learning: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Four phases, four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→ optimization → architectures → autoencoders. Pause at each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ur-ph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43" y="2377440"/>
            <a:ext cx="10084193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Phase 1 focus: understand the “why” and the mathematical mechanics of a single neuron before scaling to layers and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1: Foundations &amp; Neural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depth, neurons, and forward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Goal: understand what a neuron computes and why stacking layers enables hierarchical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a72afc9ad62849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917" y="2852928"/>
            <a:ext cx="3238246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Exit check: explain this — and why nonlinearity is required between layers.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Topics: perceptron, activations, MLP, forward propagation, and loss functions.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Stacking layers builds hierarchical features only if a nonlinearity sits between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1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depth, neurons, and forward pass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Block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Question it answers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Perceptron &amp; MLP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What does one layer compute?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Forward pass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does inference flow through the graph?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Loss &amp; gradients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What are we optimizing?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Exit check: explain z = w·x + b and why nonlinearity is required between layers.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98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Is Deep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Definition in One Sentence — Then the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 learning learns a parameterized mapping from inputs to outputs by stacking nonlinear transformations (layers).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“Deep” means multiple such transformations — hierarchical features, not one giant linear rule.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nn-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919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Layers rewrite features step by step. Depth is composition, not one giant linear rule.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Is Deep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Definition in One Sentence — Then the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Training = pick a loss that measures mistakes, then adjust weights with gradients so average loss drops on data (generalization to unseen data is the real goal).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Unlike fixed pipelines of hand-crafted features, the network learns representations that are tuned to the task (edges → textures → parts → objects in vision, etc.).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Generalization to unseen data is the real goal — not memorizing the training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98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Three Ingredients You Always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Architecture · Loss · Optimizer +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Ingredient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it means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Architecture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signals flow (MLP, CNN, RNN, Transformer, …)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Loss / objective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What “better” means for your task (MSE, cross-entropy, …)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Optimizer + data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you search parameters and what examples you show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You always have these three. Change one, and the model’s behavior changes with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98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Three Ingredients You Always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Architecture · Loss · Optimizer +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hree-ingred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7" y="2103120"/>
            <a:ext cx="10235785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 strong architecture with the wrong loss still learns the wrong 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AI, Machine Learning, and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Subset Relationships — Not Interchangeable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Artificial intelligence (AI): the broad field—rules, search, optimization, learning, planning—anything that aims at intelligent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Machine learning (ML): a subfield of AI where behavior improves from data via a learning algorithm (not only hand-written rules).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 learning (DL): a subfield of ML using deep neural networks—multiple learned nonlinear layers; representation learning is central.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AI, Machine Learning, and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Subset Relationships — Not Interchangeable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i-ml-d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910" y="2103120"/>
            <a:ext cx="8442258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DL ⊂ ML ⊂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98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Containment (conceptual)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Subset Relationships — Not Interchangeable Labels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Set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Contains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AI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Rule systems, classical search, ML, knowledge bases, …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Linear models, trees, kernel SVMs, shallow nets, deep nets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CNNs, RNNs/GRU/LSTM, Transformers, GANs, VAEs, …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Saying “we used AI” is vague; “we used supervised DL with a CNN” is precise.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98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Use-Case Fit: When Deep Learning Shines — and When to Skip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Method to Data, Risk, and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DL is strongest when: large data (or strong pre-training), high-dimensional raw inputs (images, text, speech), and compositionality you want learned end-to-end.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Think twice when: tiny tabular datasets, strict interpretability requirements, tight latency on CPU without optimization, or simple baselines already solve the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Always compare against strong baselines (logistic regression, gradient boosting, k-NN on engineered features)—DL must earn its complexity on validation metrics you care about.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98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Use-Case Fit: When Deep Learning Shines — and When to Skip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Method to Data, Risk, and Budget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Situation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Typical first choice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Why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Large labeled images / audio / text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Pre-trained DL + fine-tune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Raw inputs; hierarchical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Small tabular (&lt; few k rows)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Trees / linear + regularization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Lower variance, fast iteration, interpretability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Need causal or legal explanation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Simpler model or hybrid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Auditability and stability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Plenty of GPUs + big 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Larger nets + careful tuning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Capacity + regularization can scale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Edge device, millisecond latency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Small distilled / quantized models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Memory and power limits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98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Depth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Hierarchical Representation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layer rewrites the previous layer’s features into a more useful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Early layers detect simple patterns (edges, local tokens).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Middle layers compose those into textures, parts, phrases.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Late layers assemble task semantics (objects, intent, class scores).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ierarchical-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15846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is composition. Width is how many features you keep at each level.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98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Session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build today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Block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Question it answers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Perceptron &amp; MLP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What does one layer compute?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Backpropagation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do we update the weights?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CNNs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do we exploit spatial structure?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RNNs &amp; regularization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do we model sequences and generalize?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Exit check: explain z = w·x + b and why nonlinearity is required between layers.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98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Single Neuron (Perceptron): Math, Weights, and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Affine Map + One Nonlinearity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One weighted sum plus bias, then an activation. The output can be used as-is or passed onward.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f-73e5fa6026bd28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648374"/>
            <a:ext cx="5303520" cy="704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ŷ = a (or further processing)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rcep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18499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98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Single Neuron (Perceptron): Math, Weights, and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Affine Map + One Nonlinearity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Affine part (see formula above): z is the weighted sum of inputs plus b—each xᵢ is multiplied by wᵢ.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bias b shifts the decision boundary (same orientation, normal w); it does not rotate the separating hyperplane.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Weights encode which patterns excite the neuron; training adjusts w and b so that on labeled data the loss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With no hidden layer and a monotonic activation, the decision boundary in input space is linear (a hyperplane)—powerful but limited.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98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Symbols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Affine Map + One Nonlinearity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Symbol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Shape intuition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x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Feature vector (length d)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One training example’s inputs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w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Same length as x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Direction + strength of sensitivity to each feature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Scalar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Offset / threshold in logit space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Maps ℝ → ℝ (per neuron)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Introduces nonlinearity (or identity)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Bias shifts the hyperplane; it does not rotate it. Rotation comes from 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98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If all weights in a layer start equal (especially zero), every hidden unit receives the same gradient and stays identical forever—symmetry never breaks.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Random initialization makes each unit walk a different path in parameter space so they can specialize as feature detectors.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Frameworks use He (Kaiming) for ReLU and Xavier (Glorot) for Tanh to keep activation scale stable.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98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He (Kaiming) for ReLU: variance = 2 / n_in. Xavier (Glorot) for Tanh: variance = 2 / (n_in + n_out).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e0a02dc09b771b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964" y="2852928"/>
            <a:ext cx="624015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Keep activation scale stable across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He matches ReLU, which zeros out about half the signals.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Xavier matches Sigmoid / Tanh, which are symmetric around zero.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98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Init scheme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Problem it avoids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Best suited for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All zeros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Hidden units stay identical; no representation diversity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None (always avoid for weights)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Xavier (Glorot)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Vanishing or exploding variance across layers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Sigmoid / Tanh activations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He (Kaiming)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Variance drop due to ReLU zeroing out half the signals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ReLU / Leaky ReLU activations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98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Stacked linear layers collapse to one linear map. Activations prevent that collapse.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05de0967a22523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559" y="2852928"/>
            <a:ext cx="8520961" cy="868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98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gmoid-ta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596" y="2103120"/>
            <a:ext cx="5808886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f(x)=1/(1+e^{−5x}) vs g(x)=1/(1+e^{−10x})  ·  tanh(x) is zero-centered, range (−1,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98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Sigmoid: maps inputs to (0, 1)—useful for probabilities, but suffers from vanishing gradients when z is very large or very small (saturation).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Tanh: zero-centered, maps inputs to (-1, 1)—often nicer than sigmoid for hidden layers but still saturates.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ReLU: modern default for deep stacks—cheap to compute, avoids vanishing gradient on positive domain; leaky ReLU / ELU are variants.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98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Function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Range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Primary use-case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Sigmoid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(0, 1)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Binary classification output layer, gating networks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Tanh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(-1, 1)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Hidden layers (recurrent networks)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ReLU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[0, ∞)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Default choice for hidden layers in MLPs and CNNs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98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Sigmoid &amp;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Probability cutoff for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threshold τ = 0.5 splits class 0 from class 1 on the sigmoid probability.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f-fe500b6844ed3f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367" y="3566160"/>
            <a:ext cx="2060702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Predict class 1 when σ(z) ≥ 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igmoid-thresh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18275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98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Curves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tiv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712" y="2103120"/>
            <a:ext cx="9040654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Flat tails (sigmoid / tanh) → tiny gradients. ReLU is linear on the positive side.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98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The XOR Problem: Why Hidden Layers Are Logically Necessary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a single line cannot solve XOR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XOR is not linearly separable in the 2D input plane: no single line separates class 1 from class 0 on the four corners.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single perceptron computes a half-space; XOR requires nonlinear mixing of inputs—exactly what a hidden layer provides.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Hidden units reparameterize inputs into a space where the task becomes linearly separable—this is the core intuition for representation learning.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98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The XOR Problem: Why Hidden Layers Are Logically Necessary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a single line cannot solve XOR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xor-separ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706" y="2103120"/>
            <a:ext cx="7668667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 hidden layer remaps the inputs so the output layer can cut with a 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98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XOR Truth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Four Points, One Nonlinear Rule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x₁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x₂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XOR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Hidden units reparameterize the inputs so XOR becomes linearly separable.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98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From Perceptron to MLP (Multi-Layer Perceptron)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= Composed Nonlinear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Hidden layer: affine map + nonlinearity → features h. Output: another affine map + 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f-30f6fda99db2df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686152"/>
            <a:ext cx="5303520" cy="6286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φ = hidden activation  ·  τ = output activation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lp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197185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98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From Perceptron to MLP (Multi-Layer Perceptron)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= Composed Nonlinear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lp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788" y="2103120"/>
            <a:ext cx="8672502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Every arrow is a weight. Training moves those arrows so the output matches the labels.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98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From Perceptron to MLP (Multi-Layer Perceptron)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= Composed Nonlinear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hidden layer applies an affine map followed by a nonlinearity, producing new features h as functions of the original inputs.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Width (units per layer) and depth (number of layers) trade off capacity, data needs, compute, and optimization difficulty.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Universal approximation (broad strokes): one sufficiently wide hidden layer can approximate many continuous functions on compact domains—in practice depth + inductive bias wins.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98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From Perceptron to MLP (Multi-Layer Perceptron)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= Composed Nonlinear Features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Hyperparameter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it controls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Hidden width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many independent nonlinear features per layer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Depth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many levels of composition (edges→textures→…)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Skip / residual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Ease of optimization in very deep nets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98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Neural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n-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588" y="2103120"/>
            <a:ext cx="8228902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Edge thickness reflects weight magnitude.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98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Engine of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Forward pass: feed input x through each layer in order—compute logits or scores at the end (then softmax for class probabilities if needed).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Implementation-wise this is a computational graph: each op (matmul, ReLU, …) knows how to propagate values forward.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Training repeats forward passes on mini-batches for efficiency and gradient noise that can help generalization.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98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Engine of Inference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Step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Operation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Output carries…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Linear: z = Wx + 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Weighted sum at each unit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Activation: a = f(z)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Nonlinear feature for next layer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Repeat / head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Class logits or regression value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98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Linear → Activation → 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orward-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10607040" cy="3639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Training repeats this on mini-batches. The graph also knows how to send gradients backward.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98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Regression — Mean Squared Error (MSE)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a4dcfce770c866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708" y="2852928"/>
            <a:ext cx="2466662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Penalizes large errors heavily (quadratic); differentiable everywhere—classic for continuous targets.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Assumes Gaussian-like noise in a probabilistic story; outliers can dominate—Huber loss is a robust alternative.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 /  98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Classification — Cross-entropy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c1a6e27e4f37f6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297" y="2852928"/>
            <a:ext cx="2907484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Often with logits + log-softmax for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Compares predicted probabilities p̂ to the true distribution (one-hot or soft labels).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Pairs naturally with softmax at the output; gradients are well-behaved when implemented in log-space.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 /  98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Task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Common head + loss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Regression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Linear output + MSE / Huber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Binary classification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Sigmoid + binary cross-entropy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Multi-class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Softmax + cross-entropy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Often with logits + log-softmax for numerical stability.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 /  98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-3536bc02b387f7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334" y="2167128"/>
            <a:ext cx="2049410" cy="8686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15467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Backprop applies the chain rule systematically: compute adjoints ∂L/∂ each intermediate tensor from outputs backward.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 /  98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ckprop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32" y="2103120"/>
            <a:ext cx="9714615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Forward computes predictions. Backward carries ∂L/∂w along every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 /  98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Reverse-mode autodiff (backprop) is efficient when many parameters feed one scalar loss—exactly the neural net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Modern frameworks (PyTorch, JAX, TensorFlow) build the graph (explicit or traced) and implement this reliably—you still debug shapes, numerical stability, and vanishing gradients.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Understanding backprop = understanding which paths carry gradient and which activations saturate.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 /  98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Shared subexpressions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Same forward values reused; backward visits each edge once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Topological order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Visit nodes after their successors—dynamic programming on the graph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55701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Understanding backprop = understanding which paths carry gradient and which activations saturate.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 /  98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2: Optimization &amp; Training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Stable Optimization + Generalization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Phase 2 is about the art of training: diagnosing fit, controlling gradients, picking optimizers, normalizing, and regularizing.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Good models are not only “big”—they match capacity to data, monitor validation faithfully, and fail visibly when something is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 /  98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2: Optimization &amp; Training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you will control in practice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Layer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Optimization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SGD, Adam, gradient clipping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Stabilization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Batch Norm, residual paths, initialization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Generalization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Dropout, weight decay, early stopping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 /  98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Diagnostics: Underfitting, Good Fit, and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Read Train vs Validation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Underfitting: both train and validation error stay high—the model is too simple, features are insufficient, or optimization is stuck (LR too low, wrong loss).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Good fit: train and validation errors are both low and track each other; small gap is normal if train is slightly better.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Overfitting: train error keeps dropping while validation worsens or plateaus badly—the model memorizes idiosyncrasies (noise, augment leakage).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 /  98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Diagnostics: Underfitting, Good Fit, and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Read Train vs Validation Behavior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ain-val-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002" y="2103120"/>
            <a:ext cx="8880074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 small train–val gap is normal. A widening gap is overfitting.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 /  98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Diagnostics: Underfitting, Good Fit, and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Read Train vs Validation Behavior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Regime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Train loss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Val loss / metric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response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Underfitting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capacity, better features, longer train, higher LR (carefully)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Good fit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Low, close to train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Keep regularization; ship or iterate on 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Overfitting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Very low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Worse / diverging gap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data, dropout, wd, simpler model, early stop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 /  98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Vanishing and Exploding Gradients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Multiplies Jacobians Layer by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Vanishing: backprop multiplies many factors &lt; 1 (saturated sigmoid/tanh, poor init)—early layers get tiny updates and learn slowly.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Exploding: repeated factors &gt; 1 or large weights produce huge parameter updates—loss spikes, NaNs.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Fixes are layered: architecture (residual paths), activations (ReLU), initialization (He/Xavier), normalization (BN/LN), and optimization (clipping).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 /  98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Vanishing and Exploding Gradients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Multiplies Jacobians Layer by Layer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Symptom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Likely cause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Mitigation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Early layers barely move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Vanishing chain through saturated units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ReLU, He init, residuals, norm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Loss → NaN quickly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Exploding activations or LR too high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Clip grads, lower LR, check loss scaling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Stable then sudden blow-up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Rare but real—mixed precision, bad data batch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Finite checks, gradient clipping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 /  98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SGD + momentum: accumulates updates in a velocity vector to dampen oscillations in ravines and accelerate along consistent directions.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Adam: tracks both first-moment (momentum) and second-moment (recent squared gradients) of gradients to adapt learning rates per parameter.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SGD is often preferred in computer vision for generalization, while Adam is the default starting point for Transformers and general MLPs.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 (LR) is the single most important hyperparameter to tune (typically searched on a log grid, e.g., 1e-4, 1e-3, 1e-2).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 /  98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-924003666e0f87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335" y="2167128"/>
            <a:ext cx="3131409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15467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η = learning rate  ·  typical log grid: 1e-4, 1e-3, 1e-2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 /  98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Optimizer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Core mechanism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When to use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Vanilla SGD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Step in negative gradient direction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Rarely used alone today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SGD + Momentum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Adds fraction of previous step direction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Standard for CV models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Adam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Adapts learning rate per parameter based on gradients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Robust default for text/tabular/MLPs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 (LR) is the single most important hyperparameter to tune (typically searched on a log grid, e.g., 1e-4, 1e-3, 1e-2).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 /  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eature-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742" y="2103120"/>
            <a:ext cx="806595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scaling: features brought to a comparable range.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 /  98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Batch Norm (BN): normalizes activations across the mini-batch for each channel, then learns scale γ and shift 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-cf7bf0202215fa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92" y="2852928"/>
            <a:ext cx="3108294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stabilizes internal activations, allowing higher learning rates and reducing dependency on precise initialization.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Alternative is Layer Norm (LN) which normalizes across features per example—standard in Transformers and sequence models.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61  /  98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Normalization dimension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use-case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Batch Norm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Across batch and spatial dimensions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CNN classifiers, ResNets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Layer Norm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Across features for a single token/example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Transformers, RNNs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62  /  98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3: Specialized Architectures (Vision &amp; Sequences)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Images vs Ordered 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Images have 2D locality and translation symmetry—convolutions exploit shared weights across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Sequences have order—recurrence, causal convolutions, or attention carry context across time or 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Choosing the right inductive bias beats blindly scaling the wrong architecture.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63  /  98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3: Specialized Architectures (Vision &amp; Sequences)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Images vs Ordered Sequences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Modality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Core structure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Representative layers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Image / video frames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Spatial grids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Conv2D, pooling, residual blocks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Text / speech / sensors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Ordered tokens or time steps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RNN/GRU/LSTM, causal conv, self-attention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64  /  98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color image is usually a tensor of shape H×W×3 (RGB); each entry is an intensity discretized into 8 bits (0–255) before normalization.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Meaning lives in local neighborhoods: small patches reveal edges; larger contexts reveal objects—hierarchical composition.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Augmentation (crop, flip, color jitter) teaches invariance; normalization (e.g., ImageNet mean/std) stabilizes optimization.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65  /  98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nn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933" y="2103120"/>
            <a:ext cx="9458213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66  /  98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Stage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happens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Raw sensor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Quantized intensities per channel per pixel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Preprocess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Resize, crop, normalize, augment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Model input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Batch × C × H × W tensor fed to stem convolutions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67  /  98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nn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933" y="2103120"/>
            <a:ext cx="9458213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68  /  98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kernel is a small learnable matrix (e.g., 3×3) that responds to local patterns; multiple kernels produce a stack of feature maps.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Classical edge detectors (Sobel, shown) are fixed kernels; CNNs learn task-specific filters from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 stacks widen the receptive field: early layers ≈ edges/textures; late layers ≈ object parts and semantics.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69  /  98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066" y="2103120"/>
            <a:ext cx="9243946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70  /  98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bel-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917" y="2103120"/>
            <a:ext cx="7918244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71  /  98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Hyperparameter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Effect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Kernel size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Immediate neighborhood size (3×3 common)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Stride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Downsample spatially when &gt;1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Padding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Keep spatial size (same padding) or control border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72  /  98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-2b076bcbaf5e0b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086" y="2167128"/>
            <a:ext cx="3189906" cy="8686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15467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(residual block learns F, identity carries gradient)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73  /  98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nn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933" y="2103120"/>
            <a:ext cx="9458213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74  /  98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sidual-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7" y="2103120"/>
            <a:ext cx="10235785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75  /  98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Standard CNN: Alternates Conv2D, Activation (ReLU), and Pooling (Max Pool) layers to extract spatial features and downsample.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AlexNet (2012): First large-scale CNN to win ImageNet; used ReLU, dropout, and multi-GPU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ResNet (2015): Introduced skip (shortcut) connections, allowing gradients to flow back easily through identity mappings. Enables training networks with 100+ layers.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76  /  98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Landmark ideas (simplified)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Model / block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Idea you should remember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Conv + MaxPool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Feature extraction + spatial downsampling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AlexNet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Scale + ReLU + data aug on GPUs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ResNet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Residual mapping F(x)+x; skip paths help gradients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77  /  98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with Pretrained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Reuse Features, Adapt the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Pretraining on millions of labeled images (e.g. ImageNet) learns general low/mid-level filters (edges, textures) transferable to new domains.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Typical recipe: replace the final classifier head; freeze the pretrained backbone for small datasets, or fine-tune with a very small learning rate for larger datasets.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Transfer learning dramatically reduces training time and required labeled samples for a new vision task.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78  /  98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with Pretrained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Reuse Features, Adapt the 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ansfer-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7" y="2103120"/>
            <a:ext cx="10235785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79  /  98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with Pretrained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Reuse Features, Adapt the Head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Target Dataset Size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Strategy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Small target dataset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Freeze backbone, train head only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Medium dataset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Fine-tune top blocks with a smaller learning rate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Large target dataset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Full fine-tune of all layers with a small learning rate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80  /  98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Dropout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Randomly zero out hidden units during training with probability p (e.g., 0.2-0.5) so neurons cannot co-adapt.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op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15637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81  /  98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Dropout acts as a powerful implicit ensemble method; disabled during inference (evaluation mode).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Weight Decay (L2 regularization): adds a penalty to the loss proportional to the squared sum of weights to keep weights small and smooth.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Early stopping: monitor validation loss during training and stop when it ceases to improve for a certain number of epochs (patience).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82  /  98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Technique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Primary action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Inference behavior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Dropout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Randomly drops connections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Turned OFF (weights scaled)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L2 Weight Decay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Shrinks weights toward zero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Turned ON (weights are static)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Early Stopping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Halts training at lowest val loss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N/A (model is checkpointed)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83  /  98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-2d62af7528050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632" y="2167128"/>
            <a:ext cx="7010814" cy="868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84  /  98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nn-un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360" y="2103120"/>
            <a:ext cx="9513358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85  /  98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Sequence modeling: text, audio, and sensor streams have order; shuffling them breaks their semantic meaning.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Recurrent Neural Networks (RNN): maintain a recurrent state vector hₜ that acts as a memory summary of the past.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same weights W_hh and W_xh are reused across all timesteps (parameter efficiency), but long-range dependencies suffer from vanishing/exploding gradients.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86  /  98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Feature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Limitation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Reuses parameters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Sequential execution (cannot parallelize steps)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Tracks state hₜ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Cannot hold long-term memories in practice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87  /  98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LSTM: Gates for Long-Term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Forget, Input, Output — Cell State Flows Linearly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stm-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74" y="2103120"/>
            <a:ext cx="9412331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88  /  98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LSTM: Gates for Long-Term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Forget, Input, Output — Cell State Flows Linearly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Cell state cₜ can accumulate information with an additive path—mitigates vanishing signal compared with plain tanh RNNs.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Forget gate fₜ decides how much past cell content to erase; input gate iₜ and candidate g̃ control new information written.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Output gate oₜ filters what becomes hidden state hₜ exposed to the next layer or timestep.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89  /  98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LSTM: Gates for Long-Term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Forget, Input, Output — Cell State Flows Linearly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Gate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Role (intuition)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fₜ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Erase irrelevant history from the cell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iₜ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Allow new candidate information in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oₜ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Expose part of the cell as hₜ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90  /  98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4: Generative Models &amp;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Models and Representation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Phase 4 explores unsupervised representation learning and basic generative frameworks.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Autoencoders are the foundation here: they learn to compress inputs to a low-dimensional bottleneck (latent space) and reconstruct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91  /  98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4: Generative Models &amp;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Models and Representation Learning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Concept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Input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Goal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Autoencoder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Unlabeled data x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Compress and reconstruct x̂ ≈ x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92  /  98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Autoencoders (AE): Compression and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 → Bottleneck → Decoder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n-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394" y="2103120"/>
            <a:ext cx="7149290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93  /  98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Autoencoders (AE): Compression and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 → Bottleneck → Decoder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utoen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18" y="2103120"/>
            <a:ext cx="9775042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94  /  98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Autoencoders (AE): Compression and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 → Bottleneck →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Encoder f maps input x to a low-dimensional code z = f(x); decoder g maps z back to x̂ ≈ 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bottleneck forces a compressed representation—useful for denoising (train on noisy→clean), anomaly detection (high recon error = abnormal).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Linear AE with MSE relates to PCA when constraints align—nonlinear AE learns curved manifolds.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95  /  98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Autoencoders (AE): Compression and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 → Bottleneck → Decoder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Variant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Denoising AE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Corrupt input, reconstruct clean—robust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Sparse AE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Penalty on activations—encourages informative sparse codes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Contractive AE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Penalize sensitivity of code to small input changes—smoother latent map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96  /  98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 Ideas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Leave with these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neuron is z = wᵀx + b then a = f(z). Depth needs nonlinearity between layers.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47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Backprop is the chain rule on a graph. Watch vanishing gradients, LR, and train vs 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90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90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CNNs share filters across space; RNNs share weights across time; regularize so they generalize.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97  /  98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Labs: code/15-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98  /  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