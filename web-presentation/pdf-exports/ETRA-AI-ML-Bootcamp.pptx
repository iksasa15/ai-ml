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48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9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5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6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8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6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0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2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5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6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2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2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3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6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0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4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5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6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0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1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2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4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5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9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0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3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4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5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8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9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2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3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4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6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7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8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0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1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2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6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7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9.pn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0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1.png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pre-processing for reliable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Build the end-to-end ML workflow: clean data → train → evaluate.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Train/test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8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Encoding &amp; imputation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Train/test splits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Encoding &amp; imputation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leakage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3 main steps</a:t>
            </a:r>
          </a:p>
        </p:txBody>
      </p:sp>
      <p:pic>
        <p:nvPicPr>
          <p:cNvPr id="8" name="Picture 7" descr="ml-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994" y="2011680"/>
            <a:ext cx="586209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206240"/>
            <a:ext cx="3429000" cy="16916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1  ·  Data Pre-Processing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Load the data · Clean the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4206240"/>
            <a:ext cx="3429000" cy="16916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4434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2  ·  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48920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Build the model · Train 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8976" y="4206240"/>
            <a:ext cx="3429000" cy="16916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4434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3  · 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48920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Calculate performance metrics · Make a final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1: Data Pre-Processing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Load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Clean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Scale numeric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 categorical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Split into training and test sets</a:t>
            </a:r>
          </a:p>
        </p:txBody>
      </p:sp>
      <p:pic>
        <p:nvPicPr>
          <p:cNvPr id="18" name="Picture 17" descr="preprocess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139" y="4572000"/>
            <a:ext cx="5083800" cy="16459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2: Modelling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Build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Make predictions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3: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Calculate performance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Make a final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Preprocessing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Standard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Clean → Scale → Encode →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preprocessing before modeling — a repeatable checklist before you train.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Start by loading the dataset, then follow the workflow in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Standard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Preprocessing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preprocessing before modeling</a:t>
            </a:r>
          </a:p>
        </p:txBody>
      </p:sp>
      <p:pic>
        <p:nvPicPr>
          <p:cNvPr id="9" name="Picture 8" descr="preprocess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272" y="2331720"/>
            <a:ext cx="6213534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1.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Handle missing values, errors, and noise.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2.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Normalize or standardize numeric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3. 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Turn categories into numeric representations.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4.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Separate training and test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Workflow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Preprocessing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Load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Clean — fix missing values, duplicates, and inconsistent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Scale — put numeric features on a comparable range.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 — convert categorical variables into model-ready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Split — create train/test sets before fitting the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Set and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Key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Hold-out partition — train wide, test narrow</a:t>
            </a:r>
          </a:p>
        </p:txBody>
      </p:sp>
      <p:pic>
        <p:nvPicPr>
          <p:cNvPr id="10" name="Picture 9" descr="train-test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08" y="2926080"/>
            <a:ext cx="7582063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Typical split: 80% train · 20%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Set and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Definitions</a:t>
            </a:r>
          </a:p>
        </p:txBody>
      </p:sp>
      <p:pic>
        <p:nvPicPr>
          <p:cNvPr id="8" name="Picture 7" descr="train-test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08" y="2011680"/>
            <a:ext cx="7582063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937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Never tune hyperparameters on the test set — it becomes part of training indirectly.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595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Stratified splits preserve class balance in classification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81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813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 train on one part of the data, then test on another part to make sure the model generalizes well.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Feature Scaling?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Feature scaling means adjusting feature values to a similar range using methods like standardization and normalization.</a:t>
            </a:r>
          </a:p>
        </p:txBody>
      </p:sp>
      <p:pic>
        <p:nvPicPr>
          <p:cNvPr id="10" name="Picture 9" descr="scaling-before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925" y="2926080"/>
            <a:ext cx="5778229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it matters</a:t>
            </a:r>
          </a:p>
        </p:txBody>
      </p:sp>
      <p:pic>
        <p:nvPicPr>
          <p:cNvPr id="8" name="Picture 7" descr="scaling-before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925" y="2011680"/>
            <a:ext cx="5778229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937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prevents large-value features from dominating smaller-value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595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improves performance for distance-based and gradient-based algorithms (e.g., KNN, SVM, Gradient Descent).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81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813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helps training converge faster.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(Before vs After Scaling)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Worked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Height (cm)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Weight (kg)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Height (scaled)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Weight (scaled)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0.25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0.22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170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0.58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185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Before scaling, height and weight have different numeric ranges. After scaling, both features are on a comparable scale and contribute more fairly.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21208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Comparable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brought to a comparable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57400"/>
            <a:ext cx="521208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After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Heights are comparable.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Scales to [0, 1] using min–max — sensitive to outliers.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Standardization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Uses mean 0 and std 1 — preferred when features are roughly Gaussian.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8464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Robust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589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Uses median and IQR when outliers dominate.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1) Normalization (Min-Max Scaling)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Normalization transforms each value to a range between 0 and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02920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305763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norm</a:t>
            </a:r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880360"/>
            <a:ext cx="3171139" cy="4864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4828" y="3420587"/>
            <a:ext cx="2854025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3520440"/>
            <a:ext cx="3171139" cy="4864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pic>
        <p:nvPicPr>
          <p:cNvPr id="15" name="Picture 14" descr="normalization-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23160"/>
            <a:ext cx="5669280" cy="19048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846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Useful for models that depend on distances or absolute magnitudes.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68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Common choice for algorithms such as KNN and K-Means.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2) Standardization (Z-score Scaling)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Standardization centers data around 0 with a standard deviation of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02920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305763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z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880360"/>
            <a:ext cx="3171139" cy="4864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4828" y="3420587"/>
            <a:ext cx="2854025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3520440"/>
            <a:ext cx="3171139" cy="4864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pic>
        <p:nvPicPr>
          <p:cNvPr id="15" name="Picture 14" descr="standardization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423160"/>
            <a:ext cx="4484217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846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Preferred when features are close to a Gaussian distribution.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68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Works well with Logistic Regression, SVM, and Linear Regression.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Choosing the Right Scaling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standardization for SVM, logistic regression, PCA, and gradient-based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Tree-based models are scale-invariant — scaling is optional.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When in doubt, fit the scaler on train only, then transform train and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0972800" cy="16916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Normalization when feature values have very different ranges and you want all values mapped to [0, 1].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Typical method: Min-Max Scaling.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 vs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to use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212080" cy="2926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 for distance-based models where magnitude differences strongly affect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Maps values to [0, 1] · typical method: Min-Max 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03120"/>
            <a:ext cx="5212080" cy="292608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when features are expected to follow (or be close to) a Gaussian distribution, or when the dataset contains outliers.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Keeps data centered around 0 and scales variability to 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Often preferred for linear models and optimization-based algorithms.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 Example (Normalization)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Given feature values: [20, 40, 60, 80, 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Comparable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brought to a comparable 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After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Heights are comparable.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norm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3756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9808" y="374273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381762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min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20 · 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0.75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Before vs After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norm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05740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808" y="246257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253746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min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20 · 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100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5661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Original value (x)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Normalized value (xₙₒᵣₘ)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40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0.25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60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80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0.75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table shows how all values are scaled to the range [0, 1].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 Example (Standardization)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Given feature values: [20, 40, 60, 80, 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Comparable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brought to a comparable 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After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Heights are comparable.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z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3756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9808" y="374273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381762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Mean: μ = 60 · Standard deviation: σ = 28.28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−1.41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−0.71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0.71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1.41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Before vs After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z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05740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808" y="246257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253746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Mean: μ = 60 · Standard deviation: σ = 28.28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5661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Original value (x)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Standardized value (z)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−1.41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40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−0.71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60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80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0.71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1.41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table shows that standardized values are centered around 0 and measured in units of standard deviation.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Categorical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Categorical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Categorical data describes values that belong to named groups rather than continuous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Category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Ordinal vs Nominal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Ordinal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Categories have a meaningful order.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Education Level: High School &lt; Bachelor's &lt; Master's &lt; PhD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Nominal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Categories have no natural order.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Payment Method: Cash, Card, Bank Transfer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206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Choose encoding based on whether order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1: Label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categorical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Raw category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Encoded value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Each category is mapped to a unique integer.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2: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categorical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Raw category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Most machine learning algorithms work with numerical inputs only, so categorical values must be converted into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Deal with Categorical Data (Ordinal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Ordinal Encoding?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Ordinal Encoding converts ordered categories into integers that preserve their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Encoding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Choosing an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Three ways to encode categorical variables</a:t>
            </a:r>
          </a:p>
        </p:txBody>
      </p:sp>
      <p:pic>
        <p:nvPicPr>
          <p:cNvPr id="9" name="Picture 8" descr="encoding-label-vs-one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2286000"/>
            <a:ext cx="6172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Label Encoding  ·  One-Hot Encoding  ·  Ordinal Encoding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Apply Ordinal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 Ordinal Encoding only when categories have a true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1: Identify the correct category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2: Assign an integer to each level based on that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525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3: Replace the original text values with encoded numbers.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Ordinal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Ordinal Encoding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Satisfaction level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Encoded value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Medium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method keeps the order information, which is important for many machine learning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Deal with Categorical Data (One-Hot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One-Hot Encoding?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One-Hot Encoding converts each category into a separate binary column (0 or 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Apply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 One-Hot Encoding for nominal categories (no natural order).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1: List all unique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2: Create one column for each category.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525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3: Put 1 in the matching category column and 0 in all others.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One-Hot Encoding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Payment 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method avoids creating a false ranking between 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Avoiding the Dummy Variable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One-Hot Encoding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helps prevent the dummy variable trap (perfect multicollinearity), especially in linear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1: Start with One-Hot encoded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2: Drop one category as a reference (baseline).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9826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9826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3: Keep the remaining binary columns.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Original categories: Payment Method = [Cash, Card, Bank Transfer].  ·  Reference category (dropped): Cash.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(Reference = Cash)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Dummy variable trap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Payment 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 this setup, Cash is represented when all remaining columns are 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Encoding Methods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Beyond label / one-hot / ordinal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Encoding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Best use 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Frequency Encoding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Replace each category with how often it appears.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Large datasets with many categories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Count Encoding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Similar to frequency, but uses raw counts directly.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Tree-based models with high-cardinality features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Target Encoding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Replace category with target mean for that category.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Supervised tasks (use with care to avoid leakage)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Binary Encoding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Convert category index to binary digits across columns.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High-cardinality data with fewer columns than one-hot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Hash Encoding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Use a hash function to map categories into fixed columns.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Very large and dynamic category sets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1) Frequency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Frequency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0.33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0.17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2) Count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Count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3) Target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Mean target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0.40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4) Binary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Category ID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Binary code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5) Hash Encoding (4 Buckets)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Hash bucket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Handling Missing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Missing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Missing data refers to values that are absent or incomplete in one or more features of a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can introduce bias into model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may reduce prediction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can cause errors in analysis if not handled properly.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Types of Missing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MCAR · MAR · MNAR</a:t>
            </a:r>
          </a:p>
        </p:txBody>
      </p:sp>
      <p:pic>
        <p:nvPicPr>
          <p:cNvPr id="8" name="Picture 7" descr="missing-mcar-mar-m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761" y="2011680"/>
            <a:ext cx="6440556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983480"/>
            <a:ext cx="1097280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MCAR = random · MAR = explained by observed features · MNAR = tied to the missing value itself.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Do We Have Missing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Missing values can appear for many practical reasons during data collection and processing.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values go missing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Human Error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Data is skipped, entered incorrectly, or forgotten.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A user leaves the Age field empty in a form.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Device/Sensor Failure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Measurement tools fail or disconnect.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A medical sensor stops recording heart rate temporarily.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Data Integration Issues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Missing fields appear when combining data from multiple sources.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One database has salary, another does not.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Privacy or Refusal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Participants choose not to share sensitive information.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A customer does not provide income details.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System/Transmission 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Data is lost during storage, transfer, or export.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Network interruption causes missing rows in logs.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Conditional Missingness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Some fields are only relevant for specific groups.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Pregnancy_Status is empty for male patients.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321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Understanding why data is missing helps us choose the right treatment method (deletion, imputation, or advanced modeling).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Missing Completely at Random (MCAR)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MCAR means missing values occur randomly and are independent of both observed and unobserved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MCAR has no systematic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 practice, MCAR is often an unrealistic assumption in real-world datasets.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Before assuming MCAR, review data collection workflow and consult domain experts.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MCAR is reasonable, simple imputation (mean/median/mode) can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Illustrative Data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MCAR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 ID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Score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76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106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321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Missing values appear across different rows and columns with no clear pattern, which is consistent with MCAR.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Missing at Random (MAR)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MAR means missingness is related to observed features in the dataset, but not to the missing feature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Missingness depends on other observed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missing value itself is not the direct cause of the gap.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More realistic than MCAR in many real-world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Model-based imputation that uses observed features usually works better than simple mean/median fills.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Imputation Techniques for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Why it works for MAR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kNN Imputation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Fills missing values using the nearest similar records.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Uses observed features to find similar patterns.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MissForest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Uses random-forest models iteratively to predict missing values.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Captures non-linear relationships from observed data effectively.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206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Both methods leverage observed features — exactly what MAR assumes is available and informative.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kNN Imputation (k =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 student C, the two nearest students based on Grade and Attendance are A and B.</a:t>
            </a:r>
          </a:p>
        </p:txBody>
      </p:sp>
      <p:pic>
        <p:nvPicPr>
          <p:cNvPr id="10" name="Picture 9" descr="knn-neighb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232" y="2788920"/>
            <a:ext cx="5155615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94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observed features (Grade, Attendance) to find the nearest neighbors.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167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167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Impute student C’s missing value from students A and B (e.g. average).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kNN Neighbor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Grade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Attendance (%)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Study Hours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96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634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Student C is closest to A and B on Grade and Attendance — so we ignore distant student 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kNN Imputed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371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Study Hours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C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 (8 + 7) / 2 = 7.5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Average the Study Hours of the two nearest neighbors (A and B) to fill the missing value for student 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Neighbor A → Study Hours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Neighbor B → Study Hours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469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Imputed value for C → 7.5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MissForest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MissForest trains a Random Forest model using known rows to predict the missing value for student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Treat the incomplete column (Study Hours) as the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on complete rows (A, B, D) using observed features such as Grade and Attendance.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 Study Hours for student C from the learned non-linear relationships.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Iterate across features with missing values until predictions stabilize.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MissForest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371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Study Hours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C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≈ 7.6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Random Forest prediction for student C’s missing Study Hours is approximately 7.6.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Uses non-linear patterns learned from complete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Often more accurate than simple neighbor averages when relationships are complex.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MAR Grades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Grade (Observed)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Study Hours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6636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MAR is common in practice because missingness can often be explained by available variables.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Missing Not at Random (MNAR)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MNAR is usually the most complex type because missingness depends on the missing value itself or unobserved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MNAR has a systematic pattern tied to hidden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Standard imputation can be unreliable without additional data or strong domain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Often needs specialized models, sensitivity analysis, or collecting the missing information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Before treating MNAR like MAR/MCAR, validate the missingness mechanism with domain experts.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MNAR Stress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MNAR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Participant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Reported Stress Level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6636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Missing stress reports may be tied to the stress level itself — people with higher stress may skip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Practical Tip: Preserve Missingness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MNAR</a:t>
            </a:r>
          </a:p>
        </p:txBody>
      </p:sp>
      <p:pic>
        <p:nvPicPr>
          <p:cNvPr id="8" name="Picture 7" descr="missingness-indic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144" y="2011680"/>
            <a:ext cx="7591790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983480"/>
            <a:ext cx="1097280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Add an indicator column so the model can still learn from the fact that a value was missing.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Keep the test set unseen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leakage happens when information from outside the training process — especially the test set — influences model fitting or decisions.</a:t>
            </a:r>
          </a:p>
        </p:txBody>
      </p:sp>
      <p:pic>
        <p:nvPicPr>
          <p:cNvPr id="10" name="Picture 9" descr="data-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950" y="2697480"/>
            <a:ext cx="5560179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8006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Never use test labels or test-only signals when choosing features, models, or hyperparameters.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2239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2239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Fit scalers and encoders on the training set only, then transform train and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4418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4418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Peeking at the test set creates optimistic scores that will not hold in production.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Rule: treat the test set as future data you have not seen yet.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From linear fits to regularized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preprocessing — learn models that predict continuous targets.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9544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Linear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4800600"/>
            <a:ext cx="1883664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36976" y="4846320"/>
            <a:ext cx="1883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OLS &amp;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48656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 diagnostics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OLS &amp;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Residual diagnostics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Simple Linear Regression?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· Simple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Simple Linear Regression models the relationship between one independent variable x and one dependent variable y using a straight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956" y="3566160"/>
            <a:ext cx="2247525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206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b₀ = intercept (value of y when x = 0)  ·  b₁ = slope (change in y per unit change in 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028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 = input feature · y = target to 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Finds the straight line that best fits the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feature → one straight-line fit. Multiple features come next.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Practical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Simple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Suppose x = Hours of Study and y = Exam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43" y="2852928"/>
            <a:ext cx="2333993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Slope b₁ = 5: +1 study hour → +5 score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Intercept b₀ = 40: score when hours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3717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3717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Example: 3 hours → ŷ = 40 + 5(3) = 55.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Meaning of Each Symbol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Simple Linear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Symbol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Predicted output (dependent variable).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x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Input feature (independent variable).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b₀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Intercept: predicted value of y when x = 0.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b₁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Slope: expected change in y when x increases by 1 unit.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regression line is the best-fit line that minimizes prediction errors.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Multiple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Regression · Multiple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Multiple Linear Regression describes the relationship between one dependent variable y and two or more independent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114" y="2852928"/>
            <a:ext cx="535585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5661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Each bⱼ is the effect of feature xⱼ holding other features fixed.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 y from several inputs at once.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Still linear in the coefficients b₀ … bₙ.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OLS still minimizes the sum of squared residuals.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House Price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Multiple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 house price from size and bedrooms.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809" y="2852928"/>
            <a:ext cx="413046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5661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y = price  ·  x₁ = size (m²)  ·  x₂ = bedrooms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+1 m² → price +2.5 (other variables fixed).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+1 bedroom → price +15 (other variables fixed).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Interpret each coefficient holding other variables constant.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House Price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Multiple Linear Regression ·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House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Size x₁ (m²)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Bedrooms x₂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Predicted price y ($1000)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 + 2.5(100) + 15(2) = 330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120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 + 2.5(120) + 15(3) = 395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 + 2.5(80) + 15(1) = 265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formula, different inputs → different predicted prices.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Ordinary Least Squares (OLS)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Ordinary Least Squares is the most common method to fit a linear regression line by minimizing prediction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Chooses the line with the smallest total squared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Residual = actual y − predicted ŷ.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Simple linear case has a closed-form solution for b₀, b₁.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Smaller squared errors → better fit on the training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Sum of Squared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Ordinary Least Squares (OLS)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OLS chooses parameters by minimizing the total squared difference between actual and predicted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3" y="2852928"/>
            <a:ext cx="2100132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Sum of squared residuals over all n training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Actual value: yᵢ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Predicted value: ŷᵢ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Residual error: eᵢ = yᵢ − ŷᵢ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Squared errors make all errors positive, penalize large errors, and provide a clear optimization objective.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Gradient Descent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OLS · Optimization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Loss curve L(w) — minimum at the bottom of the bowl.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23" y="3566160"/>
            <a:ext cx="132319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206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 search for the parameter w that makes the loss as small as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028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Start with a guess for w, then move downhill.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Stop when updates become tiny (converged).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3874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Converged: w = 2.00 · L(w) = 0.40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R-Squared (R²)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Goodness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measures how much variation in y is explained by the model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795" y="3566160"/>
            <a:ext cx="2215846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SS_res = residual SS  ·  SS_tot = total 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Near 1 → strong explanatory power.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Near 0 → little better than predicting the mean.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High R² on training data ≠ guaranteed good new-data predictions.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79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Interpreting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Goodness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R² means more of the variation in y is captured by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= 1 → perfect fit on that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= 0 → mean-level baseline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8042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Validate generalization with hold-out metrics, not R²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 Sum of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· Building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SS_res measures the unexplained error — how far predictions are from the actual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07" y="2852928"/>
            <a:ext cx="2447065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Sum of squared residuals (prediction errors)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Smaller SS_res → predictions closer to the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Appears in the numerator of the R²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Total Sum of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· Building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SS_tot measures the total variation in y around its mean — the baseline scatter to explain.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669" y="2852928"/>
            <a:ext cx="236474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Sum of squared deviations from the mean 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is the variance (up to a constant factor) of the observed y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asks: what fraction of SS_tot is left unexplained by SS_res?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= 1 − SS_res / SS_tot  ·  explained variation = SS_tot − SS_res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Do These Terms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· Building Blocks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50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SS_res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Residual Sum of Squares: squared distance between actual values and predictions.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SS_tot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Total Sum of Squares: squared distance between actual values and the mean of 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compares unexplained error (SS_res) with total variation (SS_tot).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R² Alone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Adjusted R-Squared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 multiple regression, adding predictors often increases R² even when the new variables are not useful.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Ordinary R² never decreases when you add a predictor (it stays the same or goes up).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That can reward bloated models that fit noise instead of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 need a metric that balances fit against model complexity.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Next: Adjusted R² applies a penalty for extra predictors.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79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Adjusted R-Squared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Goodness of Fit · Model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Adjusted R² penalizes unnecessary predictors.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319" y="2852928"/>
            <a:ext cx="343144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 = samples  ·  p = predictors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Better for comparing models with different 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Can fall when R² rises if the new variable is weak.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79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Adjusted R² — Quick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Adjusted R-Squared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3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Predictors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R²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Adjusted R²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Interpretation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and efficient 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x₂, x₃, x₄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0.79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R², but worse after penalty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B looks better by R², but Adjusted R² shows the extra variables are likely not helpful.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79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Assumptions of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Overview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Assumption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If Violated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y vs each x is roughly 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Biased predictions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Homoscedasticity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Error variance roughly constant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Unstable SEs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Normal 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Residuals ≈ normal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Weaker inference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Independence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Errors are independent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Biased tests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Low Multicollinearity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Predictors not highly redundant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Unstable coeffs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Limited Outliers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Extremes do not dominate fit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Distorted line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9087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6402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Next slides: practical checks and residual plots.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79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Assumptions with Practical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Residual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Each panel shows a practical picture of one assumption — and what “good” looks like.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965" y="2377440"/>
            <a:ext cx="6286148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Checks: scatter/residuals · residuals vs fitted · histogram/Q-Q · design/DW · corr/VIF · Cook/leverage.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79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Assumptions —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Examples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Assumption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Check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Sales ≈ linear in ad spend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Scatter / residual plot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Homoscedasticity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Similar errors high &amp; low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Residuals vs fitted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Normal 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Most residuals near zero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Histogram / Q-Q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Independence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Independent customers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Design / Durbin-Watson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Low Multicollinearity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Ads not near-duplicates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Corr / VIF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Outlier Control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One house ≠ whole model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Cook / leverage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9087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6402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If violated: transforms, robust methods, or another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79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 Patterns to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Assumption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Common residual-plot signatures for assumption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Good: random cloud around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Fan / curve / outlier → investigate.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19810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79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Residuals vs Fitted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Check · Homoscedasticity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Look for random scatter around zero with roughly constant spread.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 curve → linearity looks 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Fan shape → possible heteroscedasticity.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79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Building a Regression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Core 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Best Use 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All-in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Use all predictors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prior knowledge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Backward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 full, remove weakest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Many candidates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Forward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 empty, add strongest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Compact 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Stepwise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Add and remove dynamically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Flexible search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method to candidate count and prior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79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Model-Building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All-in · Backward · Forward · Stepwise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Different search paths for choosing predictors under a significance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Backward: prune a full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Forward: grow from empty.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Stepwise: add and remove as you 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052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79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Backward Elimination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 ·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Start full, then drop the least useful predictors one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Set SL (e.g. 0.05) and fit all predictors.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Remove highest p if p &gt; SL; refit and repeat.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Best with many candidate predictors.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79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 ·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Grow the model from scratch by adding the strongest predictors.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Start empty; add lowest p below SL.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Stop when no remaining variable qualifies.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Best when you want a compact model from the start.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79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Bidirectional (Stepwise)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 ·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Add and remove predictors dynamically each iteration.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Forward step: add significant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Backward step: drop non-significant 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More adaptive than pure forward or backward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79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Mini Example — Backward Elimination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Iteration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Candidate Predictors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Selected Action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Start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x₂, x₃, x₄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Full 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highest p-value: x₄ = 0.42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Remove x₄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highest p-value: x₃ = 0.11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Remove x₃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Final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 with p &lt; 0.05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 final model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With SL = 0.05, variables with p &gt; SL are removed until only significant predictors remain.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79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Significance Level and p-value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Selection · Decision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Compare p to alpha to decide if a predictor is statistically significant.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544" y="3566160"/>
            <a:ext cx="4040348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206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Example: p = 0.03 · alpha =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028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 &lt; alpha → reject H₀ (significant).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 ≥ alpha → fail to reject H₀.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3931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Predictor is significant at the 5% level in this example.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79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Key Concepts: H₀, p-value, 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Significance Level and p-value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Concept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Null Hypothesis (H₀)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 effect / no relationship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p-value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Probability of observing current result (or more extreme) if H₀ is true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Significance Level (alpha)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Maximum tolerated Type I error probability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 model building, predictors with p &lt; alpha are kept as statistically significant.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79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Is SL = 0.05 Common?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Standard Choice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SL = 0.05 balances sensitivity and false-positive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09" y="2852928"/>
            <a:ext cx="492506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5661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95% confidence → SL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Convention, not a law — adjust for domain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0799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799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Report effect size and CIs with p-values.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79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SL vs Confidence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Is SL = 0.05 Common?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Confidence Level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Strictness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0.10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Less strict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0.05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95%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Standard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0.01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strict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Lower SL → higher confidence requirement → stricter evidence to keep a predictor.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79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Choose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Significance Level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Scenario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Suggested SL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High-stakes decisions (medicine, safety, finance)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General modeling and reporting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0.05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Exploratory analysis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0.10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Start with SL = 0.05, then adjust based on domain risk, dataset size, and model purpose.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79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Polynomial Regression extends linear regression to model non-linear relationships by adding polynomial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966" y="2852928"/>
            <a:ext cx="4838146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5661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Still linear in the coefficients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Adds polynomial terms to capture curves.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Still linear in parameters b₀, b₁,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Transform x → x², x³, … then fit linear regression.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79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Polynomial Regression?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Many real-world relationships are curved — a straight line underfits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Population growth · disease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Sales trends · rainfall vs crop yield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79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Polynomial Regression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Start with input feature 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Create transformed terms: x², x³, …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Fit linear regression on transformed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Estimate coefficients (b₀, b₁, b₂, …)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Use the fitted equation to predict 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2511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 is the polynomial degree.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79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Choosing the Polynomial Degree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Degree controls complexity — too low underfits, too high overfits.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Pick degree with CV / validation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Also compare adjusted R².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673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Balanced degree → better bias-variance trade-off.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79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When to Use Polynomial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 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shows clear curved trends · more flexibility than a straight line · you still want interpretable behavior.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06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Application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Forecasting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Demand and sales trends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Environment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Rainfall vs crop yield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Medicine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Disease / progression patterns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Engineering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Stress-strain and similar curves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Choose polynomial regression when curves matter, but full black-box models are not required yet.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79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Limitations of Polynomial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Trade-offs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Explanation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Overfitting risk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High-degree models may memorize noise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Outlier sensitivity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Extreme points can shift the curve strongly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Extrapolation weakness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Predictions outside training range can be unreliable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Limited flexibility for very complex patterns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Some tasks are better handled by tree-based or neural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polynomial regression as a baseline, then compare with alternatives as complexity grows.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79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Polynomial Regression Visual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vs Polynomial 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Compare linear vs polynomial fits as degree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Too low degree → high bias (underfit).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Too high degree → high variance (overfit).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16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79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Effect of Polynomial Degree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Visual Explanation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Higher degree = more flexible curve — useful, then noisy.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Pick degree with validation curves.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Do not trust training error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16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79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 Machine (SVM) and SVR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SVR?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 is the regression version of SVM: a flat function with a tolerance margin (ε-tube).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SVM: widest margin; support vectors define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 ignores small errors inside the ε-tube.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Used in forecasting, engineering curves, disease progression.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174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separates classes; SVR predicts continuous y with an ε-insensitive zone.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79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Formulation and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 predicts with a (possibly kernelized) linear function in a feature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535" y="2852928"/>
            <a:ext cx="3171008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5661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φ(x) maps input to a (possibly) higher-dimensional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φ(x) maps input to a (possibly) higher-dimensional 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0799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799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With kernels, we avoid computing φ(x) explicitly.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79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Soft-Margin SVR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Optimization 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Keep the function flat while penalizing points outside the ε-tube.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10241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 ½∥w∥² + C Σ (ξᵢ + ξᵢ*)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 trades flatness vs errors outside the 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½∥w∥² → flatter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C → tighter fit; smaller C → smoother.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79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Soft-Margin SVR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Stay within ε of yᵢ, or pay with a slack variable.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294" y="3566160"/>
            <a:ext cx="3876848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206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Also: (wᵀφ(xᵢ)+b) − yᵢ ≤ ε + ξᵢ*  ·  ξᵢ, ξᵢ* ≥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902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028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Inside tube → no penalty.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Outside tube → slack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71745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79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Tuning Knobs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epsilon (ε)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Width of the no-penalty tube around prediction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Penalty strength for points outside the tube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Controls curve shape (linear, RBF, polynomial)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Tune ε, C, and the kernel together — changing one often changes how the others behave.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79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SVR?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Compared with Traditional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Traditional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Minimize all residuals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Ignore inside ε-tube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Outliers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be sensitive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robust if tuned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Non-linear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Hand-built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Kernels directly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Large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Usually faster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get expensive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 features · start with RBF · tune C, ε, kernel params.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79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Visual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SVR?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ε-tube ignores small residuals; larger deviations pull the 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Inside tube → no loss.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Kernels capture curves without hand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1745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79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Fit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SVR?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Tuned tube + kernel follows curves while resisting small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Scale features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Tune C, ε, kernel with CV.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838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79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Regression (CART)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Decision Tree Regressor?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 Regressor predicts continuous values by splitting feature space into rule-based regions and assigning a constant value in each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Captures non-linear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Easy to interpret if tree depth is controlled.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Handles complex feature interactions.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5645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Split: recursive partitioning by feature threshold · Root → branches → leaf nodes.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79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Core Concept of Regression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Tree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regression tree is built from decision rules that partition the input space into regions with constant predictions.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Internal node: decision rule (e.g., x ≤ 4.5).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Branch: outcome of the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25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Leaf node: predicted value (usually region mean).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79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CART Perspective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and Regression Trees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Tree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Target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Criterion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Classification Tree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Categorical target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Gini / Entropy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Regression Tree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Continuous target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MSE (or MAE)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section focuses on the Regression Tree part of CART.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79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Splitting Happens (MSE Criterion)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Node 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CART picks the split that maximally reduces MSE (regression) or Gini/entropy (classification).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246" y="2852928"/>
            <a:ext cx="3561587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Average squared distance from the node mean ȳ_S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Greedy splits are fast but not globally optimal.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Depth and min-samples-leaf control overfitting on small datasets.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79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Split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MSE Criterion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candidate split is scored by the size-weighted average MSE of the left and right child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442" y="2852928"/>
            <a:ext cx="9255195" cy="8686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S_L / S_R = left and right subsets after the candidate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the split with the minimum weighted MSE.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child nodes influence the score more (weighted by |S_L| and |S_R|).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79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Prediction at Leaf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Once a region is pure enough to stop splitting, the leaf predicts a constant value for every point that lands there.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430" y="2852928"/>
            <a:ext cx="2693219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Usually the mean of the training targets in that leaf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Same prediction for all samples that reach the same leaf.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Deeper trees create smaller regions and more varied leaf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79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Regression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Simple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Start with all data at the root node.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Evaluate candidate splits across features.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Compute weighted MSE for each split.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Select the split with minimum error.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Repeat recursively on child nodes.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Stop based on rules (max depth, min samples).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Predict using leaf mean value.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05663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12978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Split: greedy recursive partitioning until a stopping rule fires.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79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Fit (Visual)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Algorithm · Static Plot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fitted regression tree partitions x into intervals and predicts a constant in each leaf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Piecewise-constant prediction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More depth → more steps and finer partitions.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16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79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Important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Effect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max_depth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Controls model complexity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min_samples_split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Minimum samples required to split a node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min_samples_leaf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Minimum samples in each leaf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max_leaf_nodes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Limits number of terminal regions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These settings reduce overfitting and improve generalization.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79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Random Forest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Random Forest Regressor?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Ensemble of many trees — average their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178" y="3566160"/>
            <a:ext cx="2627080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Average of individual tree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Bootstrap samples → many trees.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Averaging reduces variance vs one deep tree.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3775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Also see fitted RF curve: slide-46-3.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79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vs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Decision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Random Forest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Single tree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Many trees averaged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Split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MSE per split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MSE trees, then average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Overfit risk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Higher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Lower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Stability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Sensitive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More stable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Prediction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One tree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Mean of trees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Interpretability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Medium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9087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6402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Tree for interpretability · Forest for stronger performance.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79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Importance (Random Forest)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vs Random Forest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Importance scores show how much each feature helped reduce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Higher bar → more contribution.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Guide for insight — not causal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79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Evaluating 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Key Performance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Formula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Tells Us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(1/n) Σ |yᵢ − ŷᵢ|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Average error size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MSE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(1/n) Σ (yᵢ − ŷᵢ)²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Penalizes large errors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RMSE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√MSE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Error on y scale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R²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1 − SS_res/SS_tot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Variance explained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more than one metric (e.g. RMSE + R²).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79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 Methods (Why Needed?)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Overfitting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Too flexible → fits noise instead of true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97" y="3566160"/>
            <a:ext cx="3714842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loss + λ × penalty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 train error, weak test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 variance / unstable predictions.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7356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Penalize large coefficients to control complexity.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 /  79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Loss + Penalty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Trade off fit vs small coefficients.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986" y="2852928"/>
            <a:ext cx="3074106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56616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loss = Σ(yᵢ − ŷᵢ)²  ·  penalty = Ω(β)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9592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λ = 0 → ordinary least squares.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0799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799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λ → stronger shrinkage · tune with CV.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 /  79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Ridge, Lasso, and Elastic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Regularization Families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Different penalties shrink coefficients differently as λ grows.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Ridge (L2): shrink all — good with correlated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Lasso (L1): can zero coeffs — feature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356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Elastic Net blends L1 + L2 for correlated sparse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 /  79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Without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Ordinary Least Squares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Minimize squared error only — no coefficient penalty.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94" y="2852928"/>
            <a:ext cx="2408291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as λ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 shrinkage.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Can overfit with many / correlated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 /  79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Ridge Regression (L2)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Penalty: sum of squared coefficients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L2 penalty shrinks coefficients; rarely zeros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118" y="2852928"/>
            <a:ext cx="3601843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λ ≥ 0 controls shrinkage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Smooth shrinkage of all coefficients.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when many features correlate.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 /  79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Lasso Regression (L1)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Penalty: sum of absolute coefficients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L1 penalty can set some coefficients exactly to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680" y="2852928"/>
            <a:ext cx="3700718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Larger λ → sparser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Built-in feature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Best when few predictors truly matter.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 /  79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Elastic Net (L1 + L2)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Blend of Lasso and 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Combine L1 + L2 for sparsity with more stable correlation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128" y="2852928"/>
            <a:ext cx="4999823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λ₁ → sparsity  ·  λ₂ → ridge shrinkage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for correlated feature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Tune λ₁, λ₂ (or mix ratio) with CV.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 /  79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When to Use Each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Ridge · Lasso · Elastic 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Match the penalty to the feature structure you expect.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Ridge: many small/medium useful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Lasso: few important features expected.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25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Elastic Net: correlated features + need sparsity.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 /  79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 Comparison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Ridge vs Lasso vs Elastic Net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1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Penalty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Main Behavior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Feature Selection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Ridge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L2 (sum βⱼ²)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Shrinks coefficients smoothly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Lasso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L1 (sum |βⱼ|)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Shrinks and can set some coefficients to zero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Elastic Net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L1 + L2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Combines shrinkage + selection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 features before Ridge/Lasso/Elastic Net — penalties depend on coefficient magnitude.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 /  79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 — Pros &amp; 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Session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Advantages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Disadvantages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Simple, fast, interpretable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Linear only; outlier-sensitive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Polynomial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Captures curves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Degree sensitive; can overfit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Kernels; robust if tuned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Needs scaling; slow on big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Decision Tree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Interpretable; no scaling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Overfits; unstable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Random Forest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Accurate; lower variance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Less interpretable; heavier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2511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Interpretability → Linear/Tree · Performance → Random Forest.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 /  79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Model Summary (Name + Equation)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Session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Core Equation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 Regression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 = b₀ + b₁x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Polynomial Regression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 = b₀ + b₁x + b₂x² + ⋯ + b_d x^d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f(x) = wᵀ φ(x) + 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Decision Tree Regression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ŷ_leaf = mean(y in S_leaf)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Random Forest Regression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ŷ_RF(x) = (1/N_trees) Σ ŷ_t(x)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2511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If interpretability is priority: Linear Regression or Decision Tree. If predictive performance is priority: Random Forest.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 /  79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Visual Comparison of 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Dataset · Different 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Same data · five model families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Linear/Ridge: fast · watch curves.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Tree/RF: flexible · weak extrapolation.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0627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Visual output from Python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 /  79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Model Families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Session Closing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Watch Out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Linear / Ridge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Interpretable, fast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Nonlinear patterns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Margin-based, kernels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Slow on huge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Tree / RF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Nonlinear, little scaling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Extrapolation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Visual output from Python code is shown on the previous slide.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79  /  79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 — from labels to decision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regression — learn models that predict class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39896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17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47672" y="4617720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466344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4617720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466344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0648" y="4617720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466344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5120640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5166359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5120640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5166359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Threshold 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17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Threshold 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17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is a supervised learning task used to assign a new observation to a predefined category based on learned patterns from labeled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Output is a class label (e.g., 0/1, Yes/No).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Used in spam, diagnosis, fraud, and churn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380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in → class label out. Probability models come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17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Logistic Regression: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Binary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Supervised binary classifier that estimates P(y=1|x) from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Outputs probabilities in [0, 1].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 label comes from applying a threshold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95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5344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Models features → log-odds of the positive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1189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Maps a linear score to a probability via the sigmoid.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Not Linear Regression for Classification?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Motivation for Logistic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regression predicts continuous values rather than discrete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Predictions can fall outside [0, 1] — invalid as probabilities.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 natural, stable class boundary for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747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Sigmoid keeps outputs in [0, 1] and supports a clear cutoff.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Sigmoid Mapping and Decision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Sigmoid &amp;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Sigmoid turns the linear score z into a probability.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576072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44952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263858"/>
            <a:ext cx="5303520" cy="7051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2976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Default cutoff: P ≥ 0.5 → class 1, else class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8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τ is tunable for cost of false positives vs false negatives.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31189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Tune τ to business/clinical risk — covered in Threshold tuning.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17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Key Assumptions for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Assumptions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Works on log-odds — check independence, collinearity, and linearity in logit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567" y="2880360"/>
            <a:ext cx="5624945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105655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05655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Observations should be independent.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9703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9703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Avoid severe multicollinearity among predictors.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73751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1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Relationship ≈ linear in the log-odds space.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17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Maximum Likelihood Estimation (MLE)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Logistic Regression Learns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Parameters β are chosen to maximize the likelihood of the observed labels.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curve is a different β (different likelihood).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Best fit: highest likelihood / lowest log-loss.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0204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Pick β that makes the observed labels most probable.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17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Logistic Regression: Strengths and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to Use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Strong baseline when classes are roughly linearly separable; weaker on complex shapes.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Strengths: interpretable odds, fast training, calibrated probabilities.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Limits: linear boundary; struggles with overlap / non-linear shapes.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6506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 wiggly boundaries → polynomials, K-NN, or kernels.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17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Multiclass Extension of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Beyond Binary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Extend binary logistic regression to 3+ classes with Softmax or One-vs-All.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Softmax: one multinomial model for all 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One-vs-All: one binary classifier per class; pick max 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11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Final label = argmax_k P(y=k|x).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17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K-Nearest Neighbors (K-NN):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Instance-Based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Non-parametric classifier: label by majority vote among the K nearest training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K and a distance metric.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Find K nearest neighbors; majority vote wins.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3090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Lazy learner — the training set is the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17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K-NN: Choosing K and Distance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Hyperparameters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 and distance control how smooth the decision boundary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 K: flexible, noise-sensitive.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 K: smoother; may miss local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345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Pick K with CV · scale features before distance modeling.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17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K-NN: Strengths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to Use 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Simple and intuitive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Slow prediction on large datasets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Works well on small, separated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Sensitive to irrelevant features / imbalance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Native multiclass support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Curse of dimensionality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 training phase (lazy baseline)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Needs feature scaling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72000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45152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Great baseline; watch cost at inference and high dimensions.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17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Boundaries Across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Geometry of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decision boundary is the surface where the predicted class flips — its shape depends on the model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Logistic: linear boundary in feature space (unless you add features).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K-NN: local, piecewise boundary that follows nearest neighbors.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95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5344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Kernel / RBF-like models: smooth curved boundaries.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66209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model flexibility to how classes are separated in the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S03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Threshold Tuning: Trading FP vs 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Operating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sigmoid gives P(y=1|x); τ turns that probability into a hard class label.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Lower τ → more positives (↑ recall, ↑ false positives).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Higher τ → fewer positives (↑ precision, ↑ false negatives).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95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5344"/>
            <a:ext cx="4754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Default τ = 0.5 is a starting point, not a law.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324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Set τ from costs: missed fraud ≠ false spam alarm.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17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Bayes, trees, and 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classification basics — probabilistic models, trees, and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70247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18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Bayes, Trees,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212848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2128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4800600"/>
            <a:ext cx="2542032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4846320"/>
            <a:ext cx="2542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9552" y="4800600"/>
            <a:ext cx="2432304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4846320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Precision / recall /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18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Bayes, Trees,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Precision / recall /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18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Bayes: Bayes'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Core Probability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Bayes’ theorem updates our belief about A after observing evidence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1" y="2852928"/>
            <a:ext cx="3214116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Posterior ∝ Likelihood × 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P(A|B): posterior probability after observing evidence 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P(A): prior belief before seeing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P(B|A): likelihood of evidence if class A is true.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P(B): evidence probability (normalization term). This theorem updates beliefs when new evidence appears.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18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Bayes’ Theorem — Visual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Core Probability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Prior × Likelihood → Posterior (normalized by evidence).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911" y="2377440"/>
            <a:ext cx="7092257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rule as the formula slide — different view of the update.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Is It Called 'Naive'?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Conditional Independence Assumption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Naive Bayes assumes features are conditionally independent given the class label.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Simplifies parameter estimation and speeds up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Works well in text classification and high-dimensional sparse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Can still perform well even when independence is not fully true.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10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comparing classes for the same X, P(X) is constant and can be ignored.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18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Naive Bayes: Practical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Variants &amp; Implementation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Variant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Data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Key 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Gaussian NB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Continuous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Each feature ~ Gaussian given the class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Multinomial NB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Count-based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Common for document word counts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Bernoulli NB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Binary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Presence/absence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Handle zero-frequency with smoothing (e.g., Laplace). Scale/preprocess by feature type and variant.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18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Classification (CART)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Recursive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 Classification predicts class labels by recursively splitting feature space into purer class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Internal nodes represent feature-based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Branches represent decision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Leaf nodes output final class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5645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Split · Root → branches → leaf nodes · split by feature threshold.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Splits Are Chosen in Classification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Gini · Entropy · Information 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Splits are chosen greedily to maximize information 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47" y="2852928"/>
            <a:ext cx="400178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Gini / Entropy measure impurity — lower is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the split that best separates classes at each node.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Stop splitting using rules like max depth or minimum samples.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Gini impurity and entropy measure node purity — lower is better.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Better splits reduce impurity and increase class purity in child nodes.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Tree: Classification vs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Structure · Different Objectives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Classification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Regression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Target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Categorical class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Continuous value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Split criterion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Gini / Entropy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MSE / MAE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Leaf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 label or class probability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Numeric mean/median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Both use recursive partitioning (Root → branches → leaves) but optimize different objectives.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Gini Impurity and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Node Purity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Gini (CART default) and entropy both measure node impurity — lower is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1" y="2377440"/>
            <a:ext cx="8219297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Better splits reduce impurity and increase class purity in child nodes.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18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Random Forest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Ensemble Learning by Bagging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many trees on bootstrap samples, then combine predictions by majority vote.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690627"/>
            <a:ext cx="5303520" cy="619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Majority vote across T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Sample bootstrap data and train many trees.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tree predicts a class for the new sample.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3775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Final class = majority vote (mode). Regression RF uses the mean instead.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18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Random Forest Often Outperforms a Single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Bias–Variance Tradeoff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Property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Single Decision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Random Forest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Variance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 (averaging effect)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Overfitting risk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Interpretability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Moderate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Predictive robustness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Sensitive to data noise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stable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Bagging + feature randomness → less variance without much extra bias.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18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Classification Errors: FP and 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Error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Not all mistakes are equal — False Positives and False Negatives carry different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False Positive (Type I): predict positive, actual is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False Negative (Type II): predict negative, actual is positive.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Error impact depends on domain costs (healthcare vs spam).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4112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evaluation should consider error trade-offs, not accuracy alone.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18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Confusion Matrix and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Actual vs Predicted 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Confusion matrix counts TP, FP, FN, TN — Accuracy is overall correctness.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17" y="3566160"/>
            <a:ext cx="4880803" cy="8686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805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Correct predictions ÷ all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4607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TP / TN: correct positives / negatives.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85231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FP / FN: false alarms / missed detections.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297531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High accuracy can hide poor minority-class performance when data is imbalanced.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18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Confusion Matrix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Metric Meanings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Correctly predicted positives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Correctly predicted negatives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Incorrectly predicted positives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Incorrectly predicted negatives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These four counts are the building blocks of precision, recall, and F1.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S04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Precision, Recall, and F1-Score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Beyond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Precision and recall trade off · F1 balances both when classes are imbalanced.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970" y="2377440"/>
            <a:ext cx="7252139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F1 especially when class distribution is imbalanced.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18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and kernel methods for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trees and metrics — maximum-margin classifiers and kernels.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16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Classical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· Kernel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Margin maximization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4800600"/>
            <a:ext cx="2322576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4846320"/>
            <a:ext cx="23225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Kernel trick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87568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4800600"/>
            <a:ext cx="2432304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4846320"/>
            <a:ext cx="2432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Linear vs RBF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16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SVM · Kernel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Margin maximization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Kernel trick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Support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vs RBF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16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 Machine (SVM):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Maximum Margin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SVM is a supervised method that finds the best separating boundary (hyperplane) between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maximizes the margin between 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Only support vectors (closest points) determine the boundary.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larger margin usually improves generalization.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83" y="2194560"/>
            <a:ext cx="4015432" cy="3429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Maximum Margin · widest gap between classes · support vectors define the margin.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SVM Classification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New points are classified by the side of the hyperplane they fall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00" y="2852928"/>
            <a:ext cx="6604879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f(x)&gt;0 → class +1 · f(x)&lt;0 → class 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Hard margin: no misclassification allowed (strict separation).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Soft margin: allows violations for better robustness with overlap/noise.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Soft-margin SVM adds penalty C to control the margin–violation tradeoff.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SVM Is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SVM Shines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Capability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Why It Matters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Maximum-margin principle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Better robustness to small perturbations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 support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Handles non-linear class boundaries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High-dimensional performance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Works well in text and sparse feature spaces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Common in text/image features · often effective on small-to-medium datasets. Support vectors define the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Kernel Trick: From Non-Linear to Linear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Mapping Without Explicit φ(x)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When data is not linearly separable in original space, SVM uses kernel functions to separate it in a transformed feature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Avoids explicit high-dimensional mapping in many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Computes similarity using kernel function K(xᵢ, xⱼ).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279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 with K(xᵢ, xⱼ) = ⟨φ(xᵢ), φ(xⱼ)⟩ instead of building φ(x) by hand.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Kernel Similarity K(xᵢ, xⱼ)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Kernel Trick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Avoids explicit high-dimensional mapping · computes similarity with K(xᵢ, xⱼ).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925" y="2377440"/>
            <a:ext cx="5706229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decision depends on kernel similarities to support vectors — not on building φ(x).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16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RBF Kernel in SVM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Gaussian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RBF measures how close x is to a landmark lᵢ — a common default for non-linear SVM.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68" y="2852928"/>
            <a:ext cx="3386943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404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Close to lᵢ → K≈1 · far → K≈0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02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x is close to landmark lᵢ, similarity is near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x is far, similarity approaches 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RBF is a common default for non-linear SVM.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Effect of σ: large → smoother, wider boundary (higher bias) · small → tighter, complex boundary (higher variance).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Effect of Sigma (σ) in RBF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Bias–Variance of the Kernel 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σ controls how far a landmark’s influence reaches.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 sigma: smoother, wider decision boundary (higher bias).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 sigma: tighter, complex boundary (higher variance / overfitting risk).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0838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Tune σ (or gamma) with cross-validation together with 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SVM Kernels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Choosing K(xᵢ, xⱼ)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Kernel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Notes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High-dimensional sparse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and interpretable margin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RBF (Gaussian)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General non-linear patterns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baseline in many tasks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Polynomial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Polynomial-like interactions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Degree controls complexity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Sigmoid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Neural-style boundary behavior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Less common in practice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Start with Linear (text/sparse) or RBF (general). Support vectors still define the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16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When to Use SVM / When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Guidance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Use SVM When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Avoid SVM When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Data is high-dimensional or moderately sized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Dataset is very large (training can be expensive)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Classes are reasonably separable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Data is extremely noisy with weak class structure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You need non-linear boundaries via kernels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Kernel matrix becomes too costly (features × samples)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Use: medium data, clear margin, high-dim text · Avoid: massive data, heavy noise without tuning.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16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Vectors — Why They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Sparse Decision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Only the points on (or inside) the margin shape the SVM — the rest can be removed without changing the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Support vectors define the margin edges.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depends on a sparse subset of training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Removing non-support points usually leaves the model unchanged.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83" y="2194560"/>
            <a:ext cx="4015432" cy="3429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Wider margin · fewer influential points · often better generalization.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16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SVM vs Logistic Regression vs K-NN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SVM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Logistic Regression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K-NN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Primary task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Classification (and SVR)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Non-linearity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Yes, with kernels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Limited in linear form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 (distance-based)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Compute profile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be heavy on large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Usually efficient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Heavy at prediction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Best for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Complex margins, high-dim spaces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interpretable baseline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Local neighborhood patterns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LogReg: probabilities + τ=0.5 · SVM: max-margin · K-NN: local votes.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16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S05  ·  Classical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SVM Practical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to Tune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Tuning Direction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Penalty for margin violations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C → stricter fit · lower C → smoother margin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Similarity function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 with RBF · compare linear/polynomial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gamma (RBF)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Locality of influence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gamma → tighter boundary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degree (poly)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Polynomial complexity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Increase only when needed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 features first · tune with CV · support vectors define the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16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2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networks, backpropagation, CNNs, and RNNs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1 classical ML is done — now stacked nonlinear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4992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106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2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Networks · CNNs · RNNs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Neural Networks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Perceptron &amp; MLP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RNNs &amp; regularization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106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Neural Networks · CNNs ·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Neural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Perceptron &amp; 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Backpropagation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RNNs &amp; regularization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106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Learning: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→ Optimization → Architectures → Autoencoders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phase answers a different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320040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4754879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Four phases: foundations → optimization → architectures → autoencoders.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6482"/>
            <a:ext cx="320040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6482"/>
            <a:ext cx="4754879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phase has a lab-style checkpoint — pause at phase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5132"/>
            <a:ext cx="320040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5132"/>
            <a:ext cx="4754879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Focus on deep learning basics — phase breaks are intentional.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197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Phase 1 focus: understand the “why” and the mathematical mechanics of a single neuron before scaling to layers and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106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Deep Learning: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Four phases, four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→ optimization → architectures → autoencoders. Pause at each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6771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43" y="2404872"/>
            <a:ext cx="10084193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Phase 1 focus: understand the “why” and the mathematical mechanics of a single neuron before scaling to layers and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106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1: Foundations &amp; Neural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depth, neurons, and forward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Goal: understand what a neuron computes and why stacking layers enables hierarchical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917" y="2880360"/>
            <a:ext cx="3238246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6791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Exit check: explain this — and why nonlinearity is required between layers.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Topics: perceptron, activations, MLP, forward propagation, and loss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491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9491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Stacking layers builds hierarchical features only if a nonlinearity sits between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106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1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depth, neurons, and forward pass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Block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 it answers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Perceptron &amp; MLP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does one layer compute?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Forward pass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does inference flow through the graph?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Loss &amp; gradients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are we optimizing?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6849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Exit check: explain z = w·x + b and why nonlinearity is required between layers.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106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Deep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 in One Sentence — Then the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 learns a parameterized mapping from inputs to outputs by stacking nonlinear transformations (layers).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320040" cy="7600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4754879" cy="7600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“Deep” means multiple such transformations — hierarchical features, not one giant linear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19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Layers rewrite features step by step. Depth is composition, not one giant linear rule.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106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Deep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 in One Sentence — Then the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Training = pick a loss that measures mistakes, then adjust weights with gradients so average loss drops on data (generalization to unseen data is the real goal).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7797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47797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Unlike fixed pipelines of hand-crafted features, the network learns representations that are tuned to the task (edges → textures → parts → objects in vision, etc.).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Generalization to unseen data is the real goal — not memorizing the training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106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Three Ingredients You Always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· Loss · Optimizer +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Ingredient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means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Architecture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signals flow (MLP, CNN, RNN, Transformer, …)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Loss / objective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“better” means for your task (MSE, cross-entropy, …)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Optimizer +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you search parameters and what examples you show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6849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You always have these three. Change one, and the model’s behavior changes with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106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Three Ingredients You Always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· Loss · Optimizer +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7" y="2130552"/>
            <a:ext cx="1023578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strong architecture with the wrong loss still learns the wrong 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106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AI, Machine Learning, and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Artificial intelligence (AI): the broad field—rules, search, optimization, learning, planning—anything that aims at intelligent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Machine learning (ML): a subfield of AI where behavior improves from data via a learning algorithm (not only hand-written rules).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785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785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learning (DL): a subfield of ML using deep neural networks—multiple learned nonlinear layers; representation learning is central.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106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AI, Machine Learning, and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910" y="2130552"/>
            <a:ext cx="8442258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DL ⊂ ML ⊂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106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Containment (conceptual)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Subset Relationships — Not Interchangeable Labels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Set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Contains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AI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Rule systems, classical search, ML, knowledge bases, …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 models, trees, kernel SVMs, shallow nets, deep nets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CNNs, RNNs/GRU/LSTM, Transformers, GANs, VAEs, …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6849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Saying “we used AI” is vague; “we used supervised DL with a CNN” is precise.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106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DL is strongest when: large data (or strong pre-training), high-dimensional raw inputs (images, text, speech), and compositionality you want learned end-to-end.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7253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7253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Think twice when: tiny tabular datasets, strict interpretability requirements, tight latency on CPU without optimization, or simple baselines already solve the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21658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21658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Always compare against strong baselines (logistic regression, gradient boosting, k-NN on engineered features)—DL must earn its complexity on validation metrics you care about.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106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01" y="2350008"/>
            <a:ext cx="10027677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106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Use-Case Fit: When Deep Learning Shines — and When to Skip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Method to Data, Risk, and Budget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Situation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Typical first choice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Why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Large labeled images / audio / 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Pre-trained DL + fine-tune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Raw inputs; hierarchical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Small tabular (&lt; few k rows)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Trees / linear + regularization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Lower variance, fast iteration, interpretability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Need causal or legal explanation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Simpler model or hybrid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Auditability and stability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Plenty of GPUs + big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Larger nets + careful 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Capacity + regularization can scale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Edge device, millisecond latency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Small distilled / quantized models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Memory and power limits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106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Depth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Hierarchical Representation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layer rewrites the previous layer’s features into a more useful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320040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4754879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Early layers detect simple patterns (edges, local tokens).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6482"/>
            <a:ext cx="320040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6482"/>
            <a:ext cx="4754879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Middle layers compose those into textures, parts, phrases.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5132"/>
            <a:ext cx="320040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5132"/>
            <a:ext cx="4754879" cy="5372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Late layers assemble task semantics (objects, intent, class scores).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5846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is composition. Width is how many features you keep at each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106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Session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build today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Block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 it answers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Perceptron &amp; MLP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What does one layer compute?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Backpropagation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 we update the weights?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CNNs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 we exploit spatial structure?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RNNs &amp; regularization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do we model sequences and generalize?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44398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1713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Exit check: explain z = w·x + b and why nonlinearity is required between layers.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106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Single Neuron (Perceptron): Math, Weights, and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 weighted sum plus bias, then an activation. The output can be used as-is or passed onward.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47288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3872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849542"/>
            <a:ext cx="5303520" cy="704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654296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ŷ = a (or further processing)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18499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106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Single Neuron (Perceptron): Math, Weights, and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Affine part (see formula above): z is the weighted sum of inputs plus b—each xᵢ is multiplied by wᵢ.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5788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75788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bias b shifts the decision boundary (same orientation, normal w); it does not rotate the separating hyperplane.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38728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Weights encode which patterns excite the neuron; training adjusts w and b so that on labeled data the loss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1667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1667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With no hidden layer and a monotonic activation, the decision boundary in input space is linear (a hyperplane)—powerful but limited.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106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Symbols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Affine Map + One Nonlinearity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Symbol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Shape intuition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Feature vector (length d)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training example’s inputs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Same length as x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Direction + strength of sensitivity to each feature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Scalar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Offset / threshold in logit space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Maps ℝ → ℝ (per neuron)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Introduces nonlinearity (or identity)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44398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1713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Bias shifts the hyperplane; it does not rotate it. Rotation comes from 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106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all weights in a layer start equal (especially zero), every hidden unit receives the same gradient and stays identical forever—symmetry never breaks.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 initialization makes each unit walk a different path in parameter space so they can specialize as feature detectors.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Frameworks use He (Kaiming) for ReLU and Xavier (Glorot) for Tanh to keep activation scale stable.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106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352" y="2350008"/>
            <a:ext cx="8607375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106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He (Kaiming) for ReLU: variance = 2 / n_in. Xavier (Glorot) for Tanh: variance = 2 / (n_in + n_out).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90088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964" y="3099816"/>
            <a:ext cx="624015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408736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Keep activation scale stable across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171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He matches ReLU, which zeros out about half the signals.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2624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92624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Xavier matches Sigmoid / Tanh, which are symmetric around zero.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106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Weight Initialization: Why Zeros Break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Symmetry Must Be Broken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Init scheme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Problem it avoids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Best suited for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All zeros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Hidden units stay identical; no representation diversity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None (always avoid for weights)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Xavier (Glorot)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Vanishing or exploding variance across layers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Sigmoid / Tanh activations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He (Kaiming)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Variance drop due to ReLU zeroing out half the signals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ReLU / Leaky ReLU activations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106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Stacked linear layers collapse to one linear map. Activations prevent that collapse.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559" y="2880360"/>
            <a:ext cx="8520961" cy="868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106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96" y="2130552"/>
            <a:ext cx="5808886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f(x)=1/(1+e^{−5x}) vs g(x)=1/(1+e^{−10x})  ·  tanh(x) is zero-centered, range (−1,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106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Sigmoid: maps inputs to (0, 1)—useful for probabilities, but suffers from vanishing gradients when z is very large or very small (saturation).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Tanh: zero-centered, maps inputs to (-1, 1)—often nicer than sigmoid for hidden layers but still saturates.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785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785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ReLU: modern default for deep stacks—cheap to compute, avoids vanishing gradient on positive domain; leaky ReLU / ELU are variants.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106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Functions: Sigmoid, Tanh, and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Function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Range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Primary use-case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Sigmoid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(0, 1)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Binary classification output layer, gating networks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Tanh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(-1, 1)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Hidden layers (recurrent networks)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ReLU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[0, ∞)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Default choice for hidden layers in MLPs and CNNs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106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Sigmoid &amp;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Probability cutoff for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threshold τ = 0.5 splits class 0 from class 1 on the sigmoid probability.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27832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1927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67" y="3547872"/>
            <a:ext cx="2060702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43484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Predict class 1 when σ(z) ≥ 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18275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106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Activation Curves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Nonlinearity is the Key to Network Depth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712" y="2130552"/>
            <a:ext cx="9040654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Flat tails (sigmoid / tanh) → tiny gradients. ReLU is linear on the positive 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106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XOR Problem: Why Hidden Layers Are Logically Necessary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a single line cannot solve XOR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XOR is not linearly separable in the 2D input plane: no single line separates class 1 from class 0 on the four corners.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single perceptron computes a half-space; XOR requires nonlinear mixing of inputs—exactly what a hidden layer provides.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Hidden units reparameterize inputs into a space where the task becomes linearly separable—this is the core intuition for representation learning.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106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XOR Problem: Why Hidden Layers Are Logically Necessary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a single line cannot solve XOR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06" y="2350008"/>
            <a:ext cx="7668667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hidden layer remaps the inputs so the output layer can cut with a 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106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XOR Truth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Four Points, One Nonlinear Rule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x₁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x₂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XOR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44398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1713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Hidden units reparameterize the inputs so XOR becomes linearly separable.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106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Hidden layer: affine map + nonlinearity → features h. Output: another affine map + 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47288"/>
            <a:ext cx="5760720" cy="1508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3872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887320"/>
            <a:ext cx="5303520" cy="6286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4654296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φ = hidden activation  ·  τ = output activation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617720" cy="197185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106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Each hidden layer applies an affine map followed by a nonlinearity, producing new features h as functions of the original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7253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7253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Width (units per layer) and depth (number of layers) trade off capacity, data needs, compute, and optimization difficulty.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21658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21658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Universal approximation (broad strokes): one sufficiently wide hidden layer can approximate many continuous functions on compact domains—in practice depth + inductive bias wins.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106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From Perceptron to 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= Composed Nonlinear Features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controls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Hidden width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many independent nonlinear features per layer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Depth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How many levels of composition (edges→textures→…)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Skip / residual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Ease of optimization in very deep nets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106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Neural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588" y="2130552"/>
            <a:ext cx="8228902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Edge thickness reflects weight magnitude.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106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Engine of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Forward pass: feed input x through each layer in order—compute logits or scores at the end (then softmax for class probabilities if needed).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Implementation-wise this is a computational graph: each op (matmul, ReLU, …) knows how to propagate values forward.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785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785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Training repeats forward passes on mini-batches for efficiency and gradient noise that can help generalization.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106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Engine of Inference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Operation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Output carries…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Linear: z = Wx + 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Weighted sum at each unit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Activation: a = f(z)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Nonlinear feature for next layer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Repeat / head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Class logits or regression value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106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Propagation: The Engine of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→ Activation →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0552"/>
            <a:ext cx="10607040" cy="363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Training repeats this on mini-batches. The graph also knows how to send gradients backward.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106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Regression — Mean Squared Error (MSE)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08" y="2880360"/>
            <a:ext cx="2466662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29768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Penalizes large errors heavily (quadratic); differentiable everywhere—classic for continuous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9491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9491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Assumes Gaussian-like noise in a probabilistic story; outliers can dominate—Huber loss is a robust alternative.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106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Classification — Cross-entropy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97" y="2880360"/>
            <a:ext cx="290748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86791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Often with logits + log-softmax for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Compares predicted probabilities p̂ to the true distribution (one-hot or soft labels).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9491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9491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Pairs naturally with softmax at the output; gradients are well-behaved when implemented in log-space.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106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63" y="2130552"/>
            <a:ext cx="1027275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106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Loss Functions: MSE vs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Loss to the Output and Task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Common head + loss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Regression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Linear output + MSE / Huber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Binary classification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Sigmoid + binary cross-entropy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Multi-class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Softmax + cross-entropy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6849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Often with logits + log-softmax for numerical stability.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106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34" y="2322576"/>
            <a:ext cx="2049410" cy="868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310127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Backprop applies the chain rule systematically: compute adjoints ∂L/∂ each intermediate tensor from outputs backward.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106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32" y="2350008"/>
            <a:ext cx="971461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Forward computes predictions. Backward carries ∂L/∂w along every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106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Reverse-mode autodiff (backprop) is efficient when many parameters feed one scalar loss—exactly the neural net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7253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7253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Modern frameworks (PyTorch, JAX, TensorFlow) build the graph (explicit or traced) and implement this reliably—you still debug shapes, numerical stability, and vanishing gradients.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Understanding backprop = understanding which paths carry gradient and which activations saturate.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106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Backpropagation: Chain Rule on the Computational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Chain along paths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Shared subexpressions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Same forward values reused; backward visits each edge once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Topological order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Visit nodes after their successors—dynamic programming on the graph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712463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85615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Understanding backprop = understanding which paths carry gradient and which activations saturate.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106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Stable Optimization + Generalization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Phase 2 is about the art of training: diagnosing fit, controlling gradients, picking optimizers, normalizing, and regularizing.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models are not only “big”—they match capacity to data, monitor validation faithfully, and fail visibly when something is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106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Stable Optimization + Generalization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43" y="2130552"/>
            <a:ext cx="1008419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106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2: Optimization &amp; Training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you will control in practice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Layer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Optimization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SGD, Adam, gradient clipping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Stabilization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Batch Norm, residual paths, initialization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Generalization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Dropout, weight decay, early stopping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106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Underfitting: both train and validation error stay high—the model is too simple, features are insufficient, or optimization is stuck (LR too low, wrong loss).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fit: train and validation errors are both low and track each other; small gap is normal if train is slightly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Overfitting: train error keeps dropping while validation worsens or plateaus badly—the model memorizes idiosyncrasies (noise, augment leakage).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106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002" y="2350008"/>
            <a:ext cx="8880074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small train–val gap is normal. A widening gap is overfitting.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106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Diagnostics: Underfitting, Good Fit, and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Read Train vs Validation Behavior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Regime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Train loss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Val loss / 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response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Underfitting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capacity, better features, longer train, higher LR (carefully)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Good fit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Low, close to train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 regularization; ship or iterate on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Overfitting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Very low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Worse / diverging gap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data, dropout, wd, simpler model, early stop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106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Vanishing: backprop multiplies many factors &lt; 1 (saturated sigmoid/tanh, poor init)—early layers get tiny updates and learn slowly.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Exploding: repeated factors &gt; 1 or large weights produce huge parameter updates—loss spikes, NaNs.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785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785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Fixes are layered: architecture (residual paths), activations (ReLU), initialization (He/Xavier), normalization (BN/LN), and optimization (clipping).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106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78" y="2130552"/>
            <a:ext cx="10001322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106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Vanishing and Exploding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 Multiplies Jacobians Layer by Layer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Symptom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Likely cause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Mitigation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Early layers barely move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Vanishing chain through saturated units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ReLU, He init, residuals, norm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Loss → NaN quickly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Exploding activations or LR too high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Clip grads, lower LR, check loss scaling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Stable then sudden blow-up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Rare but real—mixed precision, bad data batch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Finite checks, gradient clipping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106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SGD + momentum: accumulates updates in a velocity vector to dampen oscillations in ravines and accelerate along consistent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6332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6332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Adam: tracks both first-moment (momentum) and second-moment (recent squared gradients) of gradients to adapt learning rates per parameter.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9272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9272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SGD is often preferred in computer vision for generalization, while Adam is the default starting point for Transformers and general MLPs.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 (LR) is the single most important hyperparameter to tune (typically searched on a log grid, e.g., 1e-4, 1e-3, 1e-2).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106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63" y="2130552"/>
            <a:ext cx="1027275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106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335" y="2103120"/>
            <a:ext cx="3131409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09067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η = learning rate  ·  typical log grid: 1e-4, 1e-3, 1e-2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106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Optimizers: SGD and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rate, Momentum, and Adaptive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Optimizer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Core mechanism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When to 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Vanilla SGD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Step in negative gradient direction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Rarely used alone today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SGD + Momentum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Adds fraction of previous step direction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Standard for CV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Adam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Adapts learning rate per parameter based on gradients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Robust default for text/tabular/MLPs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6849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Learning rate (LR) is the single most important hyperparameter to tune (typically searched on a log grid, e.g., 1e-4, 1e-3, 1e-2).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106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257" y="2130552"/>
            <a:ext cx="954156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scaling: features brought to a comparable range.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106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Batch Norm (BN): normalizes activations across the mini-batch for each channel, then learns scale γ and shift 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92" y="2880360"/>
            <a:ext cx="3108294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29768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stabilizes internal activations, allowing higher learning rates and reducing dependency on precise initialization.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9491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9491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Alternative is Layer Norm (LN) which normalizes across features per example—standard in Transformers and sequence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106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01" y="2130552"/>
            <a:ext cx="10027677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 /  106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Normalization: Batch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Stabilize Activations and Speed Up Deep Training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Normalization dimension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use-case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Batch Norm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Across batch and spatial dimensions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CNN classifiers, ResNets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Layer Norm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Across features for a single token/example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Transformers, RNNs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 /  106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7600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754879" cy="7600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Randomly zero out hidden units during training with probability p (e.g., 0.2-0.5) so neurons cannot co-adapt.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1563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 /  106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Dropout acts as a powerful implicit ensemble method; disabled during inference (evaluation mode).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Weight Decay (L2 regularization): adds a penalty to the loss proportional to the squared sum of weights to keep weights small and smooth.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Early stopping: monitor validation loss during training and stop when it ceases to improve for a certain number of epochs (patience).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 /  106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888" y="2350008"/>
            <a:ext cx="893230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 /  106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Regularization: Dropout, Weight Decay, and Early Stopping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Constrain Capacity to Prevent Overfitting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Technique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Primary action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Inference behavior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Dropout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Randomly drops connections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Turned OFF (weights scaled)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L2 Weight Decay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Shrinks weights toward zero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Turned ON (weights are static)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Early Stopping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Halts training at lowest val loss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N/A (model is checkpointed)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 /  106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Images have 2D locality and translation symmetry—convolutions exploit shared weights across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Sequences have order—recurrence, causal convolutions, or attention carry context across time or 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Choosing the right inductive bias beats blindly scaling the wrong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 /  106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01" y="2350008"/>
            <a:ext cx="10027677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 /  106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3: Specialized Architectures (Vision &amp; Sequences)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Images vs Ordered Sequences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Modality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Core structure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Representative layers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Image / video frames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Spatial grids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Conv2D, pooling, residual blocks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Text / speech / sensors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Ordered tokens or time steps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RNN/GRU/LSTM, causal conv, self-attention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 /  106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color image is usually a tensor of shape H×W×3 (RGB); each entry is an intensity discretized into 8 bits (0–255) before normalization.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Meaning lives in local neighborhoods: small patches reveal edges; larger contexts reveal objects—hierarchical composition.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785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785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Augmentation (crop, flip, color jitter) teaches invariance; normalization (e.g., ImageNet mean/std) stabilizes optimization.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 /  106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01" y="2130552"/>
            <a:ext cx="10027677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 /  106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33" y="2130552"/>
            <a:ext cx="945821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 /  106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Image Data: How Computers “See”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Tensors, Channels, and Local Structure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happens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Raw sensor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Quantized intensities per channel per pixel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Preprocess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Resize, crop, normalize, augment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Model input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Batch × C × H × W tensor fed to stem convolutions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79  /  106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kernel is a small learnable matrix (e.g., 3×3) that responds to local patterns; multiple kernels produce a stack of feature maps.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Classical edge detectors (Sobel, shown) are fixed kernels; CNNs learn task-specific filters from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 stacks widen the receptive field: early layers ≈ edges/textures; late layers ≈ object parts and semantics.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  /  106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066" y="2350008"/>
            <a:ext cx="9243946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81  /  106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917" y="2350008"/>
            <a:ext cx="7918244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82  /  106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63" y="2350008"/>
            <a:ext cx="10272753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83  /  106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Convolution: Kernels, Edge Filters, and Feature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Sliding Linear Filters + Nonlinearity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Effect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 size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Immediate neighborhood size (3×3 common)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Stride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Downsample spatially when &gt;1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Padding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 spatial size (same padding) or control border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84  /  106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086" y="2103120"/>
            <a:ext cx="3189906" cy="868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09067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(residual block learns F, identity carries gradient)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85  /  106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0552"/>
            <a:ext cx="10607040" cy="363999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86  /  106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7" y="2130552"/>
            <a:ext cx="10235785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87  /  106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Depth, Regularization, and Residual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Standard CNN: Alternates Conv2D, Activation (ReLU), and Pooling (Max Pool) layers to extract spatial features and downsample.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7797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47797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AlexNet (2012): First large-scale CNN to win ImageNet; used ReLU, dropout, and multi-GPU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0220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220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ResNet (2015): Introduced skip (shortcut) connections, allowing gradients to flow back easily through identity mappings. Enables training networks with 100+ layers.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88  /  106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CNN Blocks: From Conv-Pool to ResNet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Landmark ideas (simplified)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 / block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Idea you should remember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Conv + MaxPool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Feature extraction + spatial downsampling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AlexNet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Scale + ReLU + data aug on GPUs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ResNet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Residual mapping F(x)+x; skip paths help gradients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89  /  106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Pretraining on millions of labeled images (e.g. ImageNet) learns general low/mid-level filters (edges, textures) transferable to new domains.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7797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47797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Typical recipe: replace the final classifier head; freeze the pretrained backbone for small datasets, or fine-tune with a very small learning rate for larger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0220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220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Transfer learning dramatically reduces training time and required labeled samples for a new vision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90  /  106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7" y="2130552"/>
            <a:ext cx="10235785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91  /  106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with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Reuse Features, Adapt the Head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Target Dataset Size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Strategy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Small target dataset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Freeze backbone, train head only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Medium dataset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Fine-tune top blocks with a smaller learning rate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Large target dataset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Full fine-tune of all layers with a small learning rate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92  /  106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32" y="2103120"/>
            <a:ext cx="7010814" cy="868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93  /  106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60" y="2130552"/>
            <a:ext cx="9513358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94  /  106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Sequence modeling: text, audio, and sensor streams have order; shuffling them breaks their semantic meaning.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7797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47797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Recurrent Neural Networks (RNN): maintain a recurrent state vector hₜ that acts as a memory summary of the past.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0220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220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same weights W_hh and W_xh are reused across all timesteps (parameter efficiency), but long-range dependencies suffer from vanishing/exploding gradients.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95  /  106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Sequential Data &amp; Vanilla RNNs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Transition, Unfolded Through Time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Feature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Reuses parameters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Sequential execution (cannot parallelize steps)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Tracks state hₜ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Cannot hold long-term memories in practice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96  /  106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74" y="2130552"/>
            <a:ext cx="9412331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97  /  106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Cell state cₜ can accumulate information with an additive path—mitigates vanishing signal compared with plain tanh RNNs.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Forget gate fₜ decides how much past cell content to erase; input gate iₜ and candidate g̃ control new information written.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785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785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Output gate oₜ filters what becomes hidden state hₜ exposed to the next layer or timestep.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98  /  106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LSTM: Gates for Long-Term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Forget, Input, Output — Cell State Flows Linearly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Gate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 (intuition)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fₜ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Erase irrelevant history from the cell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iₜ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Allow new candidate information in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oₜ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Expose part of the cell as hₜ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99  /  106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4: Generative Models &amp;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Models and Representation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Phase 4 explores unsupervised representation learning and basic generative frameworks.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062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062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Autoencoders are the foundation here: they learn to compress inputs to a low-dimensional bottleneck (latent space) and reconstruct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  /  106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Phase 4: Generative Models &amp;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Models and Representation Learning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93392"/>
          <a:ext cx="1097280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Concept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Input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Goal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Autoencoder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Unlabeled data 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Compress and reconstruct x̂ ≈ 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101  /  106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0972800" cy="3977639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18" y="2350008"/>
            <a:ext cx="9775042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102  /  106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Encoder f maps input x to a low-dimensional code z = f(x); decoder g maps z back to x̂ ≈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007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007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bottleneck forces a compressed representation—useful for denoising (train on noisy→clean), anomaly detection (high recon error = abnormal).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07308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7308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AE with MSE relates to PCA when constraints align—nonlinear AE learns curved manifolds.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103  /  106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Autoencoders (AE): Compression and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 → Bottleneck → Decoder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12848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Variant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Denoising AE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Corrupt input, reconstruct clean—robust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Sparse AE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Penalty on activations—encourages informative sparse codes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Contractive AE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Penalize sensitivity of code to small input changes—smoother latent map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104  /  106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S07  · 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neuron is z = wᵀx + b then a = f(z). Depth needs nonlinearity between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47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Backprop is the chain rule on a graph. Watch vanishing gradients, LR, and train vs 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90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CNNs share filters across space; RNNs share weights across time; regularize so they generalize.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105  /  106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code/15-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106  /  106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3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Workshop: Foundations to Seq2Seq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3 Session 1 — NLP from raw text to Seq2Seq.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66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3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· Tokenization · Seq2Seq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Regex &amp; Cleaning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POS &amp;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41264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Seq2Seq &amp;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66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Foundations · Tokenization · Seq2Seq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Regex &amp;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POS &amp; 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Seq2Seq &amp;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66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Fundamentals and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Natural Language Is Difficult for Machines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644" y="2194560"/>
            <a:ext cx="4050791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66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Fundamentals and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Natural Language Is Difficult for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Natural language is ambiguous, context-dependent, and full of idioms.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Meaning often depends on pragmatics, domain, and cultural background.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same sentence can map to multiple valid interpretations.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systems must model form, meaning, and context simultaneously.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66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Ambiguity in Language: Practical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66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Ambiguity in Language: Practical Examples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Expression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Possible Interpretation 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Possible Interpretation B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The bank is closed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Financial institution is closed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River bank area is inaccessible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It's cold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 temperature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Emotionally distant behavior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The chicken is ready to eat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Food is ready to be eaten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Animal is ready to eat food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71246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Robust NLP requires disambiguation using surrounding textual and situational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66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 Expressions (Regex): Core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66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 Expressions (Regex):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Regex is a compact pattern language for matching and transforming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Typical uses include validation, extraction, and rule-based cleanup.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Useful for emails, phone numbers, logs, and normalization pipelines.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66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 Expressions (Regex): Core Idea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Pattern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Match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\d+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or more digits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2026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\w+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or more word chars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nlp_model1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^[A-Z]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starts with uppercase letter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Hello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\S+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or more non-space chars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token123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66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Text Cleaning — Conceptual Steps &amp; Python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Conceptual stages matched with Python regex implementations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61314"/>
            <a:ext cx="10607040" cy="39172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66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Text Cleaning — Conceptual Steps &amp; Python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Conceptual stages matched with Python regex implementations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Python Implementation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Goal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1. Decode &amp; Clean HTML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html.unescape(text) &amp; re.sub(r'&lt;[^&gt;]+&gt;', '', 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Keep readable text only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2. Remove Contacts/URLs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re.sub(r'https?://\S+|www\.\S+', '', text)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Drop URL metadata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3. Remove Mentions/Socials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re.sub(r'@\w+|#\w+', '', 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Remove handles &amp; hashtags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4. Drop Non-ASCII &amp; Emoji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text.encode('ascii', 'ignore').decode('ascii')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Drop emoji/special symbols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5. Normalize Whitespace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re.sub(r'\s+', ' ', text).strip()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Normalize extra spaces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5254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regex-based cleaning function is usually the first stage in an NLP preprocessing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66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Text Cleaning — 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Trace of raw input transitioning to clean text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Operation performed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Text snapshot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0. Raw Input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Original raw string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&lt;p&gt;John: "AI is amazing!!!! 🤖🔥" Visit: https://ai.com @john #AI&lt;/p&gt;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1. Clean HTML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Decode entities &amp; remove tags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John: "AI is amazing!!!! 🤖🔥" Visit: https://ai.com @john #AI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2. Remove URLs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Remove web addresses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John: "AI is amazing!!!! 🤖🔥" Visit: @john #AI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3. Remove Socials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Remove @mentions and #hashtags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John: "AI is amazing!!!! 🤖🔥" Visit: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4. Drop Emoji/Symbols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ASCII-only encoding &amp; cleanup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 AI is amazing!!!! Visit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5254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cleaning produces standard, noise-free input for tokenizer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66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 Granularities (Word, Char, Subword)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Granularity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Tradeoff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output (for 'running')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Word / Space-based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Human-readable tokens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Weak on rare/compound words (OOV)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['running']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Character-based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 unknown words (no OOV)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Very long sequences, loss of meaning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['r', 'u', 'n', 'n', 'i', 'n', 'g']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Subword-based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Handles rare words, compact vocab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Requires tokenizer training/tuning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['run', '##ning']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87705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5020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Subword tokenization is the industry standard for modern LLMs and neural NLP models.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66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 Views (Code Examples)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sentence, word / char / subword splits side by side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Tokenizer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Python Implementation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Result on "I'm running to the store!"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Word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word_tokenize(text)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['I', "'m", 'running', 'to', 'the', 'store', '!']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Character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list(text)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['I', "'", 'm', ' ', 'r', 'u', 'n', 'n', 'i', 'n', 'g', ...]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Subword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model_tokenizer.tokenize(text)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['I', "'m", 'run', '##ning', 'to', 'the', 'store', '!']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Sentence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sent_tokenize(text)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["I'm running to the store!"]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66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Subword Tokenization (LLMs) — Why It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subwords solve core vocabulary challenges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Word Tokenizer Issue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Subword Solution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Worked Out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Huge vocabulary size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Reuse frequent morphemes/pieces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unbelievably → un + ##believe + ##ably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Out-of-Vocabulary (OOV) words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Break unknown forms into known units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ChatGPT → ['Chat', 'G', 'PT']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Morphological variants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Shared roots reduce feature sparsity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running/runs/runner share 'run'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66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BPE Walkthrough &amp; Inference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Byte Pair Encoding learns merges and splits unseen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66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BPE Walkthrough &amp; Inference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Byte Pair Encoding learns merges and splits unseen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Walkthrough: start with chars (l, o, w, e, s, t, r) -&gt; merge l+o (lo) -&gt; merge lo+w (low) -&gt; compact vocabulary.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Inference on 'lowered the lowest curtain': splits rare words to ['low', 'er', 'ed'] and ['low', 'est'] while keeping 'the' and 'curtain' whole.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66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BPE Walkthrough &amp; Inference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Byte Pair Encoding learns merges and splits unseen words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Word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Subword Output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Explanation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lowered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['low', 'er', 'ed']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Decomposes into learned root and suffix subwords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lowest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['low', 'est']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Decomposes into base 'low' and suffix 'est'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84448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BPE repeatedly merges frequent adjacent units until target vocabulary size is reached.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66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Stop Words: Purpose &amp;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Filtering low-information tokens from 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Function words (the, is, and) dominate word counts but carry minimal topic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9237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39237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Removing stop words reduces dimensionality for TF-IDF &amp; Bag-of-Words.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9364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9364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Critical Rule: NEVER remove stop words for language models (GPT/BERT), translation, or sentiment analysis where negation ('not') and syntax carry the core meaning.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66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Stop Words: Purpose &amp;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Filtering low-information tokens from texts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Task Category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Stop Word Policy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Reasoning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Search &amp; Topic Modeling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Remove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Improves speed and focus on key words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Large Language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Syntactic and semantic flow is vital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Sentiment Analysis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Negations like 'not' reverse polarity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66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Stemming vs Lemmatization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Normalizing words to their base 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66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Stemming vs Lemmatization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Normalizing words to their base forms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Stemming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Lemmatization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Mechanism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Rule-based suffix chopping (heuristic)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Dictionary lookup + morphological analysis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Speed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Very fast, computationally cheap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Slower, requires resource lookup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be non-words (e.g., study -&gt; studi)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Always dictionary words (e.g., study -&gt; study)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POS Awareness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 (e.g., saw -&gt; see or saw depending on POS)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3542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0857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Lemmatization preserves semantics better than aggressive stemming.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66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Part-of-Speech (POS)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Grammar Labels per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4768"/>
            <a:ext cx="10607040" cy="3730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66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Part-of-Speech (POS)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Grammar Labels per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Universal categories include NOUN, VERB, ADJ, ADV, DET, ADP, PROPN, NUM,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POS feeds lemmatization quality and downstream relation extraction.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SpaCy exposes coarse pos_ and fine-grained tag_ plus dependency dep_.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66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Part-of-Speech (POS)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Grammar Labels per Token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Quick examples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NOUN / PROPN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Things and names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city, Tesla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VERB / AUX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Actions and helpers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run, is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ADJ / ADV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Modifiers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quick, quickly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DET / ADP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Structure words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the, in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66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Named Entity Recognition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Typed Spans over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4768"/>
            <a:ext cx="10607040" cy="3730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66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Named Entity Recognition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Typed Spans over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Labels include PERSON, ORG, GPE, DATE, MONEY, PERCENT, PRODUCT, EVENT,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Useful for indexing, compliance redaction, financial news graphs, and search facets.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92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92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 models err on edge cases — always spot-check domain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66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Named Entity Recognition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Typed Spans over Text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Label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PERSON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Tim Cook, Jensen Huang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ORG / GPE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Apple, Texas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MONEY / PERCENT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$430 billion, 3.5%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66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Full SpaCy Pipeline Functionally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81032"/>
            <a:ext cx="10607040" cy="3730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66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Full SpaCy Pipeline Functionally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 doc object: tokens, lemmas, POS, entities, noun_chunks, sents.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9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459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Typical export: clean token list, lemma bag, entity list, POS histogram.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182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182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length-based heuristics (e.g. longest sentence) only as weak importance cues.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66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Language Modeling with N-grams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From Count-Based Prediction to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748" y="2194560"/>
            <a:ext cx="8304582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66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Language Modeling with N-grams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From Count-Based Prediction to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Language models estimate probabilities over word 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N-gram models predict the next token from a limited context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module connects N-gram intuition to modern LLM generation.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66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Formal Language Modeling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66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Formal Language Modeling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74" y="1847088"/>
            <a:ext cx="4426131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644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language model can score full sentences or predict the next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Exact estimation over full histories is intractable for real corpora.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Approximation strategies include N-grams, smoothing, and neural LMs.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66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Worked Bigram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Given counts: C("want to") = 608, C("want") = 927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57" y="2624328"/>
            <a:ext cx="4339765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0416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Interpretation: in this corpus, "to" follows "want" about 65.6% of the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171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Count quality depends strongly on corpus domain and size.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66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Use Log Probabilities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81032"/>
            <a:ext cx="10607040" cy="3730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66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Use Log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Multiplying many small probabilities causes numerical underflow.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 transform converts multiplication into stable addition.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Sequence scoring becomes computationally robust and efficient.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66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Use Log Probabilities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Original Space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Log Space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 = p1 * p2 * ... * pk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log P = log p1 + log p2 + ... + log pk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Very small numbers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Numerically stable sums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66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Perplexity (PP):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949" y="1847088"/>
            <a:ext cx="58581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644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Perplexity is the average branching uncertainty of the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Lower PP means better predictive confidence on unseen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identical test sets when comparing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Raw sentence probabilities are length-sensitive; perplexity normalizes by token 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66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Static vs Contextualized Word Representations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7578"/>
            <a:ext cx="10607040" cy="39172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66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Static vs Contextualized Word Representations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Property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Static Embeddings (Word2Vec/GloVe)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Contextualized Embeddings (ELMo/BERT/GPT)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Vector per word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fixed vector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Different vectors per 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Polysemy handling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Weak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Context direction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Usually local/global corpus only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Bidirectional or autoregressive sequence 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Task transfer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Moderate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 with pretraining + fine-tuning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8795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6110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Contextualization is a core enabler for modern LLM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66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Words as vectors in embedding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355" y="2194560"/>
            <a:ext cx="6739369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66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Words as vectors in embedding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Static embeddings: one vector per word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Contextual: vector depends on surrounding tokens (ELMo, BERT-style).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66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Token/base embedding layer maps input ids to dense vectors.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Context encoder layers (often Transformer blocks) enrich each token with sequence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92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92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Task head uses contextual features for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66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Layer Semantics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Lower layers capture local syntax/patterns.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Middle layers improve sense disambiguation.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66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Mechanism and Weight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47" y="1847088"/>
            <a:ext cx="6568185" cy="868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66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Mechanism and Weight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78380"/>
            <a:ext cx="10607040" cy="3535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66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RNN Input/Output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66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RNN Input/Output Patterns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Pattern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Mapping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Task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One-to-One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single input -&gt; single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basic regression/classification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One-to-Many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single input -&gt; sequence output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image captioning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Many-to-One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sequence input -&gt; single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sentiment 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Many-to-Many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sequence input -&gt; sequence output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machine translation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8795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6110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Sequence-aware patterns are where recurrent models provide clear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66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Family: Vanilla, GRU, BiRNN, LSTM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993" y="1847088"/>
            <a:ext cx="9896094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66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Family: Vanilla, GRU, BiRNN, LSTM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Vanishing Gradient Risk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Key 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Vanilla RNN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Simple architecture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Poor long-range memory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GRU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Efficient gating with fewer parameters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still degrade on very long contexts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BiRNN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Medium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Uses past and future 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compute and memory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LSTM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 (relative)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long-term dependency handling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Heavier than GRU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66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Seq2Seq for Neural Machine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Encoder-Decoder Modeling, Decoding Strategies, and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61314"/>
            <a:ext cx="10607040" cy="39172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66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Seq2Seq for Neural Machine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Encoder-Decoder Modeling, Decoding Strategies, and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Seq2Seq maps variable-length input sequences to variable-length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Encoder-decoder models were foundational for neural machine translation.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module covers training, decoding, bottlenecks, attention, and metrics.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66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Inference: Greedy Decoding vs Beam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66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Inference: Greedy Decoding vs Beam Search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Decision Rule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Risk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Greedy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Pick top token each step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and simple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May miss globally better sequence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Beam Search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Track top-k hypotheses each step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Better global sequence quality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compute; can become generic/bland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3697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Typical beam sizes are moderate (e.g., 4-10) to balance quality and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66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Information Bottleneck in Basic Seq2Seq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7578"/>
            <a:ext cx="10607040" cy="39172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66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Information Bottleneck in Basic Seq2Seq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Compressing a full source sentence into one fixed vector can lose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Longer/complex inputs worsen the bottleneck effect.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needs different source details at different output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motivates attention over all encoder hidden states.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66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 as the Bottleneck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105" y="1847088"/>
            <a:ext cx="2985869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66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 as the Bottleneck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attends to relevant encoder positions at each generation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Dynamic alignment improves translation adequacy and fluency.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 laid the foundation for transformer-dominant NMT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66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NMT Evaluation Metrics: BLEU and ROUGE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Orientation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Measures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Common 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BLEU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Precision-oriented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n-gram overlap from candidate to reference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Weak semantic/syntactic sensitivity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ROUGE-N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Recall-oriented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n-gram overlap from reference to candidate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reward lexical overlap over meaning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F1 (with overlap metrics)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Balance precision/recall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Harmonic tradeoff view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Still limited on deep semantics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66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Transformer Encoder-Decoder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Bridge to Week 4 GenAI — encoder-decoder intuition before BERT/GPT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66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Transformer Encoder-Decoder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Bridge to Week 4 GenAI — encoder-decoder intuition before BERT/GPT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Encoder builds contextual token representations from source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generates target tokens autoregressively with attention to encoder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Foundation architecture for translation, summarization, and many LLM pipelines.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Attention mechanisms reduce reliance on recurrence for sequence modeling.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66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Language is ambiguous — cleaning and tokenization choices persist through the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47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N-grams and RNNs model sequences; attention removes the seq2seq bottleneck.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90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Subword tokenizers and encoder–decoder attention are the bridge to Transformers.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66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code/16-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66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4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GenAI: BERT, T5, GPT,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4 Session 1 — GenAI: BERT, T5, GPT,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97696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42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4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BERT · T5 · GPT ·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Core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41264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Scaling &amp; Practice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42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· T5 · GPT ·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Core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Transfer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Scaling &amp; Practice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42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Generative AI: Core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BERT, T5, GPT, LLMs, and Attention (Focused Edition)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61314"/>
            <a:ext cx="10607040" cy="39172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42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Generative AI: Core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BERT, T5, GPT, LLMs, and Attention (Focused Edition)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section extracts the most important ideas into a compact teaching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Focus areas: transfer learning, model families, attention mechanics, scaling, and practical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92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92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Designed for bootcamp delivery within roughly 20 slides.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42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in 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81032"/>
            <a:ext cx="10607040" cy="3730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42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Transfer Learning in Generative 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Data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Goal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Pretraining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Large mostly unlabeled corpora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Learn general language representations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Fine-tuning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Task-labeled dataset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Adapt model to specific downstream objective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Inference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User prompt/context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Generate or classify outputs for real tasks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71246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Transfer learning reduces labeled data needs and accelerates convergence.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42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Feature-Based Transfer vs Fine-Tuning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42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Feature-Based Transfer vs Fine-Tuning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Strategy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Changes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Tradeoff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Feature-based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Freeze pretrained backbone; use embeddings as input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and lightweight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Less task adaptation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Fine-tuning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Update model weights (often with a task head)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task performance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compute and tuning effort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42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BERT: Encoder-Only Bidirectional 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398" y="1847088"/>
            <a:ext cx="4181282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42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BERT: Encoder-Only Bidirectional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BERT learns contextual token representations using both left and right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9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459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Strong for understanding tasks: classification, NER, QA, and retrieval-oriented use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182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182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Pretrained at scale (Wikipedia + BooksCorpus), then adapted to downstream tasks.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42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Pretraining Objectives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Objective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How It Works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Teaches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MLM (Masked Language Modeling)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Mask subset of tokens and predict originals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Bidirectional contextual semantics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NSP (Next Sentence Prediction)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Predict whether sentence B follows sentence 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Inter-sentence coherence signals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3697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MLM and NSP were jointly used in original BERT training setup.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42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Special Tokens: [CLS] and [SEP]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81032"/>
            <a:ext cx="10607040" cy="3730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42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BERT Special Tokens: [CLS] and [SEP]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[CLS] is prepended and its final embedding is used as a sequence-level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[SEP] separates sentence segments and marks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 classification tasks, [CLS] passes through a lightweight prediction 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 design helps unify single- and pair-sentence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42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Arabic Adaptation Example: AraBERT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AraBERT follows BERT-base style architecture with Arabic-specific preprocessing.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Segmentation and Arabic-tailored tokenization improve vocabulary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Domain/language adaptation quality can matter more than raw parameter 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42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Arabic Adaptation Example: AraBERT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Component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Adaptation Benefit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Farasa-style segmentation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Better handling of prefixes/suffixes and morphology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Arabic-focused vocabulary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 fragmentation and stronger lexical coverage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Arabic corpus curation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Improved contextual understanding in target language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42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T5: Unified Text-to-Text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42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T5: Unified Text-to-Text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T5 reframes every NLP task as text input -&gt; text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Task instruction is included as a prefix (e.g., "summarize:", "translate:").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 shared architecture/training recipe serves multiple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design strongly influenced modern prompt-based LLM usage.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42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 Pretraining Objective: Span Corruption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7578"/>
            <a:ext cx="10607040" cy="39172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42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 Pretraining Objective: Span Corruption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Remove contiguous text spans from input and replace with sentinel 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model to reconstruct missing spans autoregressively.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Encourages stronger generative behavior than token-only masking.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42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 Pretraining Objective: Span Corruption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Corruption Style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BERT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Random masked individual tokens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Language understanding tasks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Contiguous span corruption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Generation + multitask transfer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42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 Attention Strategies (Encoder/Decoder)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6957"/>
            <a:ext cx="10607040" cy="4018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42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T5 Attention Strategies (Encoder/Decoder)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Attention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Visibility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Used In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Fully visible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All tokens attend to all tokens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Encoder representations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Causal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Token attends to past only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Autoregressive generation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Prefix-causal hybrid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Full source access + causal target decoding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Seq2Seq decoding in T5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42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GPT: Decoder-Only Autoregressive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430" y="1847088"/>
            <a:ext cx="3665219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42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GPT: Decoder-Only Autoregressive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GPT predicts next token from left context only (causal modeling).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Uses masked self-attention in decoder stack for no-lookahead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Excellent for open-ended completion, instruction following, and synthesis.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42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GPT Evolution and Foundation Model Scale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Generation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Approx. Parameters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Key Theme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GPT-1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117M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Proof of transfer-learning viability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GPT-2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1.5B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Large-scale web pretraining for generation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GPT-3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175B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Few-shot in-context capabilities at scale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71246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utility scales with data, architecture, and training compute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42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Attention: Why It Was a Breakthrough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105" y="1847088"/>
            <a:ext cx="2985869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42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Attention: Why It Was a Breakthrough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 solves fixed-vector bottlenecks in sequence transduction.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 each step, model dynamically focuses on most relevant source positions.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Entire mechanism is differentiable and learned end-to-end.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42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 Computation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62" y="1847088"/>
            <a:ext cx="528895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644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Compute relevance scores between query state and source states.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Apply softmax to obtain attention weights (probability distribution).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Return weighted sum of value/source states as contextual output.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42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Bahdanau vs Luong Attention (Classic RNN Era)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Variant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Scoring Function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Placement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Luong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Bilinear/dot-style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Attention after decoder state update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Bahdanau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MLP/additive score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Attention integrated before decoder update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3697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Both approximate alignment; design choice affects speed and accuracy tradeoffs.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42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Self-Attention, Q/K/V, and Multi-Head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978" y="1847088"/>
            <a:ext cx="6648122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42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Self-Attention, Q/K/V, and Multi-Head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Query asks for relevant context; Key indexes available context; Value carries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Self-attention lets each token aggregate information from other tokens in sequence.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Multi-head attention captures different linguistic relations in parallel.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Different heads can specialize in syntax, agreement, locality, or semantics.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42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Masked Self-Attention in Decoders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625" y="1847088"/>
            <a:ext cx="7800829" cy="439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42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Masked Self-Attention in Decoders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cannot access future tokens during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9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459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Causal mask enforces left-to-right consistency and prevents information leakage.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182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182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Enables parallel training over full target sequence while preserving autoregressive objective.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42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Long-Sequence Challenge in Transformers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7578"/>
            <a:ext cx="10607040" cy="39172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42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Long-Sequence Challenge in Transformers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Bottleneck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Complexity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Practical Impact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Attention map computation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O(L²)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Time/memory explode as context grows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Activation storage (training)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O(N*L*d_model)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 VRAM demand for deep long-context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3697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Long-context efficiency is now a central LLM engineering topic.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42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Scaling Laws and Compute-Optimal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Performance improves with data, model size, and compute, but with diminishing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9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459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Compute-optimal training balances parameter count and token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182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182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Chinchilla-style insight: many large models are under-trained relative to their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42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Scaling Laws and Compute-Optimal Training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Principle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Implication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Fixed compute budget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Tune model size and data volume jointly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Data-quality filtering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Small fraction of tokens may dominate useful learning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Chinchilla ratio (rule of thumb)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Roughly ~20 training tokens per parameter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42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Generative AI Practical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architecture by task type: encoder-only, encoder-decoder, or decoder-only.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00300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0300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Prefer transfer learning and fine-tuning over training from scratch when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attention-aware designs and decoding strategy (greedy/beam) based on product constraints.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26179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26179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Plan for memory/compute early: quantization, context limits, and deployment targets.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32004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987551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 domain-heavy use cases, adapt with specialized corpora and evaluation protocols.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Strong GenAI systems come from balanced choices across data, architecture, compute, and evaluation.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42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S14  · 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architecture by task: encoder-only (BERT), encoder-decoder (T5), or decoder-only (GPT).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47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Prefer transfer learning and fine-tuning over training from scratch.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90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Attention, decoding strategy, and compute limits shape what you can 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42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code/17- GenAI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