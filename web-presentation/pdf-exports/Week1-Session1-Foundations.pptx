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 for reliable machine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Build the end-to-end ML workflow: clean data → train → evaluate.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25496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25496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02352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02352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9208" y="4800600"/>
            <a:ext cx="214884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79208" y="4846320"/>
            <a:ext cx="2148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Pre-Processing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Train/test splits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Encoding &amp; imputation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3 main steps</a:t>
            </a:r>
          </a:p>
        </p:txBody>
      </p:sp>
      <p:pic>
        <p:nvPicPr>
          <p:cNvPr id="8" name="Picture 7" descr="ml-pro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11680"/>
            <a:ext cx="10972800" cy="376551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4160520"/>
            <a:ext cx="3429000" cy="16916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38912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1  ·  Data Pre-Processing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4632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Import the data · Clean the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78808" y="4160520"/>
            <a:ext cx="3429000" cy="16916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8" y="438912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2  ·  Modelling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484632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Build the model · Train the 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08976" y="4160520"/>
            <a:ext cx="3429000" cy="16916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6" y="438912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3  ·  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37576" y="4846320"/>
            <a:ext cx="2926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Calculate performance metrics · Make a final prediction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1: Data Pre-Processing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Import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 the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 into training and test sets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pic>
        <p:nvPicPr>
          <p:cNvPr id="16" name="Picture 15" descr="preprocess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0972800" cy="3552529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2: Modelling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Build the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the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Make predictions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Step 3: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Machine Learning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Calculate performance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Make a final prediction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Clean → Scale → Encode → Split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preprocessing before modeling — a repeatable checklist before you train.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480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Start by loading the dataset, then follow the workflow in order.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before modeling</a:t>
            </a:r>
          </a:p>
        </p:txBody>
      </p:sp>
      <p:pic>
        <p:nvPicPr>
          <p:cNvPr id="9" name="Picture 8" descr="preprocess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31720"/>
            <a:ext cx="10972800" cy="355252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48640" y="4572000"/>
            <a:ext cx="2560320" cy="13258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80060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1. Clean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21208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Handle missing values, errors, and noise.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4572000"/>
            <a:ext cx="2560320" cy="13258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480060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2.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521208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Normalize or standardize numeric features.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4572000"/>
            <a:ext cx="2560320" cy="13258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80060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3. Encode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21208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Turn categories into numeric representations.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4572000"/>
            <a:ext cx="2560320" cy="13258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480060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4. Split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521208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Separate training and test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Preprocessing 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Load the dataset.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Clean — fix missing values, duplicates, and inconsistent records.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Scale — put numeric features on a comparable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 — convert categorical variables into model-ready form.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Split — create train/test sets before fitting the model.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Set and Test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Key Idea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Hold-out partition — train wide, test narrow</a:t>
            </a:r>
          </a:p>
        </p:txBody>
      </p:sp>
      <p:pic>
        <p:nvPicPr>
          <p:cNvPr id="10" name="Picture 9" descr="train-test-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71800"/>
            <a:ext cx="10972800" cy="39699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split: 80% train · 20%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Set and Test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Definitions</a:t>
            </a:r>
          </a:p>
        </p:txBody>
      </p:sp>
      <p:pic>
        <p:nvPicPr>
          <p:cNvPr id="8" name="Picture 7" descr="train-test-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11680"/>
            <a:ext cx="10972800" cy="39699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709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Never tune hyperparameters on the test set — it becomes part of training indirectly.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30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30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Stratified splits preserve class balance in classification tasks.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52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52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 train on one part of the data, then test on another part to make sure the model generalizes well.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Feature Scaling?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Feature scaling means adjusting feature values to a similar range using methods like standardization and normalization.</a:t>
            </a:r>
          </a:p>
        </p:txBody>
      </p:sp>
      <p:pic>
        <p:nvPicPr>
          <p:cNvPr id="10" name="Picture 9" descr="scaling-before-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71800"/>
            <a:ext cx="10972800" cy="520930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it matters</a:t>
            </a:r>
          </a:p>
        </p:txBody>
      </p:sp>
      <p:pic>
        <p:nvPicPr>
          <p:cNvPr id="8" name="Picture 7" descr="scaling-before-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11680"/>
            <a:ext cx="10972800" cy="52093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709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prevents large-value features from dominating smaller-value features.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330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30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improves performance for distance-based and gradient-based algorithms (e.g., KNN, SVM, Gradient Descent).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52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52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helps training converge faster.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(Before vs After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Height (cm)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Weight (kg)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Height (scaled)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Weight (scaled)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0.58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0.67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605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Before scaling, height and weight have different numeric ranges. After scaling, both features are on a comparable scale and contribute more fairly.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521208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057400"/>
            <a:ext cx="521208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945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2160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Scales to [0, 1] using min–max — sensitive to outliers.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1596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Uses mean 0 and std 1 — preferred when features are roughly Gaussian.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7492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84648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Robust scaling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5896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Uses median and IQR when outliers dominate.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1) Normalization (Min-Max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Normalization transforms each value to a range between 0 and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502920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305763" cy="12801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norm</a:t>
            </a:r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2880360"/>
            <a:ext cx="3171139" cy="486460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x</a:t>
            </a:r>
            <a:r>
              <a:rPr sz="1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4828" y="3420587"/>
            <a:ext cx="2854025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76272" y="3520440"/>
            <a:ext cx="3171139" cy="4864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x</a:t>
            </a:r>
            <a:r>
              <a:rPr sz="1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pic>
        <p:nvPicPr>
          <p:cNvPr id="15" name="Picture 14" descr="normalization-sc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423160"/>
            <a:ext cx="5669280" cy="19048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48463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models that depend on distances or absolute magnitudes.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681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681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Common choice for algorithms such as KNN and K-Means.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2) Standardization (Z-score Scaling)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Methods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Standardization centers data around 0 with a standard deviation of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502920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305763" cy="12801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z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2880360"/>
            <a:ext cx="3171139" cy="486460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4828" y="3420587"/>
            <a:ext cx="2854025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76272" y="3520440"/>
            <a:ext cx="3171139" cy="4864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σ</a:t>
            </a:r>
          </a:p>
        </p:txBody>
      </p:sp>
      <p:pic>
        <p:nvPicPr>
          <p:cNvPr id="15" name="Picture 14" descr="standardization-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423160"/>
            <a:ext cx="5669280" cy="254331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48463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463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Preferred when features are close to a Gaussian distribution.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681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681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Works well with Logistic Regression, SVM, and Linear Regression.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Choosing the Right Scaling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guidance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standardization for SVM, logistic regression, PCA, and gradient-based training.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24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24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Tree-based models are scale-invariant — scaling is optional.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46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46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When in doubt, fit the scaler on train only, then transform train and test.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60520"/>
            <a:ext cx="10972800" cy="16916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40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70916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Normalization when feature values have very different ranges and you want all values mapped to [0, 1].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303520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Typical method: Min-Max Scaling.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 vs Standardization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When to use each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5212080" cy="2926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 for distance-based models where magnitude differences strongly affect results.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4572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Maps values to [0, 1] · typical method: Min-Max Scaling.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103120"/>
            <a:ext cx="5212080" cy="29260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Standardization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83464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when features are expected to follow (or be close to) a Gaussian distribution, or when the dataset contains outliers.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297680"/>
            <a:ext cx="4572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Keeps data centered around 0 and scales variability to 1.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578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578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preferred for linear models and optimization-based algorithms.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Example (Normalization)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feature values: [20, 40, 60, 80, 100]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4612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37560"/>
            <a:ext cx="2893161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norm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8496" y="3337560"/>
            <a:ext cx="7026249" cy="364845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9808" y="3742730"/>
            <a:ext cx="6323624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8496" y="3817620"/>
            <a:ext cx="7026249" cy="36484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29768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200" b="0" baseline="-2500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min</a:t>
            </a:r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 = 20 · x</a:t>
            </a:r>
            <a:r>
              <a:rPr sz="1200" b="0" baseline="-2500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 = 100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892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0.25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348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7804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0.75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7260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1.00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Before vs After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Example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2893161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norm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2057400"/>
            <a:ext cx="7026249" cy="364845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9808" y="2462570"/>
            <a:ext cx="6323624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8496" y="2537460"/>
            <a:ext cx="7026249" cy="36484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x</a:t>
            </a:r>
            <a:r>
              <a:rPr sz="16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1752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1200" b="0" baseline="-2500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min</a:t>
            </a:r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 = 20 · x</a:t>
            </a:r>
            <a:r>
              <a:rPr sz="1200" b="0" baseline="-2500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max</a:t>
            </a:r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 = 100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56616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Original value (x)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Normalized value (xₙₒᵣₘ)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0.25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60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1.00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table shows how all values are scaled to the range [0, 1].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Scaling Example (Standardization)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Worked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feature values: [20, 40, 60, 80, 100]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Comparable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Features brought to a comparable range.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468880"/>
            <a:ext cx="5212080" cy="9601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4663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After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Heights are comparable.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4612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37560"/>
            <a:ext cx="2893161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z 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8496" y="3337560"/>
            <a:ext cx="7026249" cy="364845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9808" y="3742730"/>
            <a:ext cx="6323624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8496" y="3817620"/>
            <a:ext cx="7026249" cy="36484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29768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Mean: μ = 60 · Standard deviation: σ = 28.28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−1.41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892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−0.71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348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7804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0.71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72600" y="4754880"/>
            <a:ext cx="210312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49377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303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1.41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Before vs After Standardization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 Example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2893161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z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496" y="2057400"/>
            <a:ext cx="7026249" cy="364845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− 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9808" y="2462570"/>
            <a:ext cx="6323624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8496" y="2537460"/>
            <a:ext cx="7026249" cy="364845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0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1752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Helvetica Neue"/>
                <a:ea typeface="Helvetica Neue"/>
                <a:cs typeface="Helvetica Neue"/>
              </a:rPr>
              <a:t>Mean: μ = 60 · Standard deviation: σ = 28.28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56616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Original value (x)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Standardized value (z)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−1.41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−0.71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60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0.71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1.41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table shows that standardized values are centered around 0 and measured in units of standard deviation.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Categorical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Categorical Data?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Categorical data describes values that belong to named groups rather than continuous numbers.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Category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Ordinal vs Nominal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Ordinal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Categories have a meaningful order.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Education Level: High School &lt; Bachelor's &lt; Master's &lt; PhD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Nominal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Categories have no natural order.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Payment Method: Cash, Card, Bank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062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348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Choose encoding based on whether order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1: Label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categorical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Raw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Encoded value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605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category is mapped to a unique integer.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2: One-Hot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categorical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Raw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605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Most machine learning algorithms work with numerical inputs only, so categorical values must be converted into numbers.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Deal with Categorical Data (Ordinal Encoding)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Ordinal Encoding?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Ordinal Encoding converts ordered categories into integers that preserve their ranking.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Choosing an encoding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ways to encode categorical variables</a:t>
            </a:r>
          </a:p>
        </p:txBody>
      </p:sp>
      <p:pic>
        <p:nvPicPr>
          <p:cNvPr id="9" name="Picture 8" descr="encoding-label-vs-one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86000"/>
            <a:ext cx="10972800" cy="4876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Label Encoding  ·  One-Hot Encoding  ·  Ordinal Encoding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Apply Ordinal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 Ordinal Encoding only when categories have a true order.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Identify the correct category order.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307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Assign an integer to each level based on that order.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525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525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Replace the original text values with encoded numbers.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Ordinal Encoding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Satisfaction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Encoded value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605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method keeps the order information, which is important for many machine learning models.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Deal with Categorical Data (One-Hot Encoding)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One-Hot Encoding?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One-Hot Encoding converts each category into a separate binary column (0 or 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Choosing an encoding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Three ways to encode categorical variables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Label Encoding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Maps each category to a unique integer. Simple, but can invent false order for nominal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Creates a binary column per category. Safe for nominal data; increases feature count.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560320"/>
            <a:ext cx="342900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2880360"/>
            <a:ext cx="2880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246120"/>
            <a:ext cx="2880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Ordinal Encoding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931920"/>
            <a:ext cx="2880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Assigns integers that preserve a meaningful ranking for ordered categories.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Apply One-Hot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402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 One-Hot Encoding for nominal categories (no natural order).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List all unique categories.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307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Create one column for each category.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525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525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Put 1 in the matching category column and 0 in all others.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Payment 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605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method avoids creating a false ranking between categories.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Avoiding the Dummy Variable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One-Hot Encoding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914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helps prevent the dummy variable trap (perfect multicollinearity), especially in linear models.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1: Start with One-Hot encoded columns.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7647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7647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2: Drop one category as a reference (baseline).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39826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9826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Step 3: Keep the remaining binary columns.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120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Original categories: Payment Method = [Cash, Card, Bank Transfer].  ·  Reference category (dropped): Cash.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(Reference = Cash)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Dummy variable trap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Payment 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Cash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Bank Transfer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605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 this setup, Cash is represented when all remaining columns are 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Encoding Methods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Beyond label / one-hot / ordinal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Encoding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Best use 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Frequency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Replace each category with how often it appears.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Large datasets with many categories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Count Encoding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Similar to frequency, but uses raw counts directly.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Tree-based models with high-cardinality features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Target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Replace category with target mean for that category.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Supervised tasks (use with care to avoid leakage)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Binary Encoding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Convert category index to binary digits across columns.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High-cardinality data with fewer columns than one-hot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Hash Encoding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 a hash function to map categories into fixed columns.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Very large and dynamic category sets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1) Frequency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Frequency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0.50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0.33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0.17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2) Count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Count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3) Target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Mean target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0.80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0.40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0.20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4) Binary Encoding (City)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Category ID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Binary code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5) Hash Encoding (4 Buckets)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Hash bucket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Riyadh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Jeddah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Dammam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Handling Missing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Missing Data?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 data refers to values that are absent or incomplete in one or more features of a dataset.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can introduce bias into model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may reduce prediction accuracy.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can cause errors in analysis if not handled properly.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Types of Missing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MCAR · MAR · NMAR</a:t>
            </a:r>
          </a:p>
        </p:txBody>
      </p:sp>
      <p:pic>
        <p:nvPicPr>
          <p:cNvPr id="8" name="Picture 7" descr="missing-mcar-mar-mn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11680"/>
            <a:ext cx="10972800" cy="4673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074920"/>
            <a:ext cx="1097280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5780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MCAR = random · MAR = explained by observed features · MNAR = tied to the missing value itself.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Do We Have Missing Data?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0972800" cy="14630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 values can appear for many practical reasons during data collection and processing.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Causes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values go missing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Human Error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Data is skipped, entered incorrectly, or forgotten.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user leaves the Age field empty in a form.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Device/Sensor Failure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Measurement tools fail or disconnect.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medical sensor stops recording heart rate temporarily.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Data Integration Issues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Missing fields appear when combining data from multiple sources.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One database has salary, another does not.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Privacy or Refusal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Participants choose not to share sensitive information.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 customer does not provide income details.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System/Transmission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Data is lost during storage, transfer, or export.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Network interruption causes missing rows in logs.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Conditional Missingness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Some fields are only relevant for specific groups.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Pregnancy_Status is empty for male patients.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5321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why data is missing helps us choose the right treatment method (deletion, imputation, or advanced modeling).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Completely at Random (MCAR)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MCAR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MCAR means missing values occur randomly and are independent of both observed and unobserved variables.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MCAR has no systematic pattern.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practice, MCAR is often an unrealistic assumption in real-world datasets.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Before assuming MCAR, review data collection workflow and consult domain experts.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MCAR is reasonable, simple imputation (mean/median/mode) can work.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Illustrative Data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MCAR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 ID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106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53212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Missing values appear across different rows and columns with no clear pattern, which is consistent with MCAR.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at Random (MAR)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MAR means missingness is related to observed features in the dataset, but not to the missing feature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Missingness depends on other observed variables.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missing value itself is not the direct cause of the gap.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More realistic than MCAR in many real-world datasets.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Model-based imputation that uses observed features usually works better than simple mean/median fills.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Imputation Techniques for 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6553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Why it works for MAR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kNN Imputation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Fills missing values using the nearest similar records.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Uses observed features to find similar patterns.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MissForest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Uses random-forest models iteratively to predict missing values.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Captures non-linear relationships from observed data effectively.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062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348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Both methods leverage observed features — exactly what MAR assumes is available and informative.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858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031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 student C, the two nearest students based on Grade and Attendance are A and B.</a:t>
            </a:r>
          </a:p>
        </p:txBody>
      </p:sp>
      <p:pic>
        <p:nvPicPr>
          <p:cNvPr id="10" name="Picture 9" descr="knn-neighb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88920"/>
            <a:ext cx="10972800" cy="505995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3492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observed features (Grade, Attendance) to find the nearest neighbors.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710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710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Impute student C’s missing value from students A and B (e.g. average).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Grade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Attendance (%)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Study Hours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66344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Student C is closest to A and B on Grade and Attendance — so we ignore distant student 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kNN Imputation (k =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Study Hours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C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 (8 + 7) / 2 = 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the Study Hours of the two nearest neighbors (A and B) to fill the missing value for student 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Neighbor A → Study Hours =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251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251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Neighbor B → Study Hours =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469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469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Imputed value for C → 7.5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MissForest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MissForest trains a Random Forest model using known rows to predict the missing value for student 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Treat the incomplete column (Study Hours) as the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on complete rows (A, B, D) using observed features such as Grade and Attendance.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 Study Hours for student C from the learned non-linear relationships.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Iterate across features with missing values until predictions stabilize.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Example: MissForest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Study Hours</a:t>
            </a:r>
            <a:r>
              <a:rPr sz="22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C</a:t>
            </a:r>
            <a:r>
              <a:rPr sz="26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≈ 7.6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Random Forest prediction for student C’s missing Study Hours is approximately 7.6.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033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033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Uses non-linear patterns learned from complete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251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251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more accurate than simple neighbor averages when relationships are complex.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Grade (Observed)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Study Hours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92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88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16636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94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MAR is common in practice because missingness can often be explained by available variables.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Missing Not at Random (MNAR)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MNAR is usually the most complex type because missingness depends on the missing value itself or unobserved variables.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MNAR has a systematic pattern tied to hidden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Standard imputation can be unreliable without additional data or strong domain assumptions.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needs specialized models, sensitivity analysis, or collecting the missing information directly.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Before treating MNAR like MAR/MCAR, validate the missingness mechanism with domain experts.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Example (Table)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Participant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Reported Stress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Missing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166360"/>
            <a:ext cx="1097280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94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Missing stress reports may be tied to the stress level itself — people with higher stress may skip the question.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Practical Tip: Preserve Missingness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Handling Missing Data · MNAR</a:t>
            </a:r>
          </a:p>
        </p:txBody>
      </p:sp>
      <p:pic>
        <p:nvPicPr>
          <p:cNvPr id="8" name="Picture 7" descr="missingness-indic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011680"/>
            <a:ext cx="10972800" cy="396488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074920"/>
            <a:ext cx="10972800" cy="868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57800"/>
            <a:ext cx="10332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Add an indicator column so the model can still learn from the fact that a value was missing.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S01  ·  Foundations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Data leakage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5 of 5</a:t>
            </a:r>
          </a:p>
        </p:txBody>
      </p:sp>
      <p:pic>
        <p:nvPicPr>
          <p:cNvPr id="8" name="Picture 7" descr="data-lea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10972800" cy="396997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4892040"/>
            <a:ext cx="10972800" cy="10515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Never let test-set information influence training, scaling, or feature choices.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