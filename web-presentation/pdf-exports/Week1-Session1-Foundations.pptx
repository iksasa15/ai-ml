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 for reliable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end-to-end ML workflow: clean data → train → evaluate.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208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9208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3 main steps</a:t>
            </a:r>
          </a:p>
        </p:txBody>
      </p:sp>
      <p:pic>
        <p:nvPicPr>
          <p:cNvPr id="8" name="Picture 7" descr="ml-pro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994" y="2011680"/>
            <a:ext cx="5862090" cy="2011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206240"/>
            <a:ext cx="3429000" cy="16916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1  ·  Data Pre-Processing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9204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Import the data · Clean the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78808" y="4206240"/>
            <a:ext cx="3429000" cy="16916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44348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2  ·  Modelling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489204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model · Train the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8976" y="4206240"/>
            <a:ext cx="3429000" cy="16916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6" y="44348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3  · 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7576" y="489204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Calculate performance metrics · Make a final prediction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1: 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pic>
        <p:nvPicPr>
          <p:cNvPr id="16" name="Picture 15" descr="preprocess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139" y="4572000"/>
            <a:ext cx="5083800" cy="16459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2: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3: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Clean → Scale → Encode → 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preprocessing before modeling — a repeatable checklist before you train.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by loading the dataset, then follow the workflow in order.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before modeling</a:t>
            </a:r>
          </a:p>
        </p:txBody>
      </p:sp>
      <p:pic>
        <p:nvPicPr>
          <p:cNvPr id="9" name="Picture 8" descr="preprocess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272" y="2331720"/>
            <a:ext cx="6213534" cy="20116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572000"/>
            <a:ext cx="2560320" cy="13258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 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2120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Handle missing values, errors, and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4572000"/>
            <a:ext cx="2560320" cy="13258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48006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2.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52120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Normalize or standardize numeric features.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572000"/>
            <a:ext cx="2560320" cy="13258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006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3. Encode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2120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categories into numeric representations.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4572000"/>
            <a:ext cx="2560320" cy="13258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48006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4. Split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52120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Separate training and test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Load the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— fix missing values, duplicates, and inconsistent records.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— put numeric features on a comparable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 — convert categorical variables into model-ready 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— create train/test sets before fitting the model.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Idea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Hold-out partition — train wide, test narrow</a:t>
            </a:r>
          </a:p>
        </p:txBody>
      </p:sp>
      <p:pic>
        <p:nvPicPr>
          <p:cNvPr id="10" name="Picture 9" descr="train-test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008" y="2926080"/>
            <a:ext cx="7582063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split: 80% train · 20%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Definitions</a:t>
            </a:r>
          </a:p>
        </p:txBody>
      </p:sp>
      <p:pic>
        <p:nvPicPr>
          <p:cNvPr id="8" name="Picture 7" descr="train-test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008" y="2011680"/>
            <a:ext cx="7582063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9377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Never tune hyperparameters on the test set — it becomes part of training indirectly.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595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595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Stratified splits preserve class balance in classification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813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813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train on one part of the data, then test on another part to make sure the model generalizes well.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Feature Scaling?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 means adjusting feature values to a similar range using methods like standardization and normalization.</a:t>
            </a:r>
          </a:p>
        </p:txBody>
      </p:sp>
      <p:pic>
        <p:nvPicPr>
          <p:cNvPr id="10" name="Picture 9" descr="scaling-before-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925" y="2926080"/>
            <a:ext cx="5778229" cy="27432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it matters</a:t>
            </a:r>
          </a:p>
        </p:txBody>
      </p:sp>
      <p:pic>
        <p:nvPicPr>
          <p:cNvPr id="8" name="Picture 7" descr="scaling-before-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925" y="2011680"/>
            <a:ext cx="5778229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9377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prevents large-value features from dominating smaller-value features.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595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595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improves performance for distance-based and gradient-based algorithms (e.g., KNN, SVM, Gradient Descent).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813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813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training converge faster.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(Before vs After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(cm)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(kg)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0.67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Before scaling, height and weight have different numeric ranges. After scaling, both features are on a comparable scale and contribute more fairly.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2160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Scales to [0, 1] using min–max — sensitive to outliers.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1596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mean 0 and std 1 — preferred when features are roughly Gaussian.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8464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Robust 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5896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median and IQR when outliers dominate.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Normalization (Min-Max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Normalization transforms each value to a range between 0 and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502920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305763" cy="12801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norm</a:t>
            </a:r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880360"/>
            <a:ext cx="3171139" cy="486460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x</a:t>
            </a:r>
            <a:r>
              <a:rPr sz="1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4828" y="3420587"/>
            <a:ext cx="2854025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6272" y="3520440"/>
            <a:ext cx="3171139" cy="4864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x</a:t>
            </a:r>
            <a:r>
              <a:rPr sz="1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pic>
        <p:nvPicPr>
          <p:cNvPr id="15" name="Picture 14" descr="normalization-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423160"/>
            <a:ext cx="5669280" cy="19048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846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models that depend on distances or absolute magnitudes.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68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68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choice for algorithms such as KNN and K-Means.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Standardization (Z-score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Standardization centers data around 0 with a standard deviation of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502920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305763" cy="12801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z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880360"/>
            <a:ext cx="3171139" cy="486460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4828" y="3420587"/>
            <a:ext cx="2854025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6272" y="3520440"/>
            <a:ext cx="3171139" cy="4864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σ</a:t>
            </a:r>
          </a:p>
        </p:txBody>
      </p:sp>
      <p:pic>
        <p:nvPicPr>
          <p:cNvPr id="15" name="Picture 14" descr="standardization-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691" y="2423160"/>
            <a:ext cx="4484217" cy="2011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846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Preferred when features are close to a Gaussian distribution.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68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68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Works well with Logistic Regression, SVM, and Linear Regression.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Right Scaling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guidance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standardization for SVM, logistic regression, PCA, and gradient-based training.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24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24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Tree-based models are scale-invariant — scaling is optional.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When in doubt, fit the scaler on train only, then transform train and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60520"/>
            <a:ext cx="10972800" cy="16916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Normalization when feature values have very different ranges and you want all values mapped to [0, 1].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Typical method: Min-Max Scaling.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 vs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each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for distance-based models where magnitude differences strongly affect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Maps values to [0, 1] · typical method: Min-Max Scaling.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when features are expected to follow (or be close to) a Gaussian distribution, or when the dataset contains outliers.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Keeps data centered around 0 and scales variability to 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preferred for linear models and optimization-based algorithms.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(Normalization)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3756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norm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33756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9808" y="374273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8496" y="381762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29768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min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20 · 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100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0.25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norm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205740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9808" y="246257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253746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min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20 · 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100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6616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Normalized value (xₙₒᵣₘ)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how all values are scaled to the range [0, 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(Standardization)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3756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z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33756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9808" y="374273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8496" y="381762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29768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Mean: μ = 60 · Standard deviation: σ = 28.28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−1.41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−0.71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1.41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z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205740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9808" y="246257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253746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Mean: μ = 60 · Standard deviation: σ = 28.28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6616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Standardized value (z)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that standardized values are centered around 0 and measured in units of standard deviation.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Categorical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Categorical data describes values that belong to named groups rather than continuous numbers.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Category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vs Nominal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Ordinal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a meaningful order.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Education Level: High School &lt; Bachelor's &lt; Master's &lt; PhD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Nominal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no natural order.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Payment Method: Cash, Card, Bank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062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encoding based on whether order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1: Label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category is mapped to a unique integer.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2: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Most machine learning algorithms work with numerical inputs only, so categorical values must be converted into numbers.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(Ordinal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Ordinal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Ordinal Encoding converts ordered categories into integers that preserve their ranking.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pic>
        <p:nvPicPr>
          <p:cNvPr id="9" name="Picture 8" descr="encoding-label-vs-one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8940" y="2286000"/>
            <a:ext cx="6172200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Label Encoding  ·  One-Hot Encoding  ·  Ordinal Encoding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Ordinal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Ordinal Encoding only when categories have a true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Identify the correct category order.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Assign an integer to each level based on that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Replace the original text values with encoded numbers.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Satisfaction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keeps the order information, which is important for many machine learning models.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(One-Hot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One-Hot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One-Hot Encoding converts each category into a separate binary column (0 or 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Label Encoding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Maps each category to a unique integer. Simple, but can invent false order for nominal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Creates a binary column per category. Safe for nominal data; increases feature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Assigns integers that preserve a meaningful ranking for ordered categories.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One-Hot Encoding for nominal categories (no natural order).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List all unique categories.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Create one column for each category.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Put 1 in the matching category column and 0 in all others.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avoids creating a false ranking between categories.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Avoiding the Dummy Variable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prevent the dummy variable trap (perfect multicollinearity), especially in linear models.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Start with One-Hot encoded columns.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Drop one category as a reference (baseline).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9826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9826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Keep the remaining binary columns.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20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Original categories: Payment Method = [Cash, Card, Bank Transfer].  ·  Reference category (dropped): Cash.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(Reference = Cash)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Dummy variable trap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this setup, Cash is represented when all remaining columns are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Methods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Beyond label / one-hot / ordinal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Encoding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Frequency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each category with how often it appears.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Large datasets with many categories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Count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Similar to frequency, but uses raw counts directly.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Tree-based models with high-cardinality features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Target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category with target mean for that category.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Supervised tasks (use with care to avoid leakage)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Binary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Convert category index to binary digits across columns.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High-cardinality data with fewer columns than one-hot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Hash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 a hash function to map categories into fixed columns.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Very large and dynamic category sets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Frequency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Frequency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0.33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0.17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Count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Count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3) Target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Mean target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4) Binary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Category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Binary code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5) Hash Encoding (4 Buckets)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Hash bucket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Missing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data refers to values that are absent or incomplete in one or more features of a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introduce bias into model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may reduce prediction accuracy.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cause errors in analysis if not handled properly.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Types of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MCAR · MAR · NMAR</a:t>
            </a:r>
          </a:p>
        </p:txBody>
      </p:sp>
      <p:pic>
        <p:nvPicPr>
          <p:cNvPr id="8" name="Picture 7" descr="missing-mcar-mar-mn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4761" y="2011680"/>
            <a:ext cx="6440556" cy="2743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983480"/>
            <a:ext cx="1097280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663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MCAR = random · MAR = explained by observed features · MNAR = tied to the missing value itself.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Do We Have Missing Data?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values can appear for many practical reasons during data collection and processing.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Causes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values go missing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Human Error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skipped, entered incorrectly, or forgotten.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user leaves the Age field empty in a form.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Device/Sensor Failure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Measurement tools fail or disconnect.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medical sensor stops recording heart rate temporarily.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Data Integration Issues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 fields appear when combining data from multiple sources.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One database has salary, another does not.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Privacy or Refusal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Participants choose not to share sensitive information.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customer does not provide income details.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System/Transmission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lost during storage, transfer, or export.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Network interruption causes missing rows in logs.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Conditional Missingness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Some fields are only relevant for specific groups.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Pregnancy_Status is empty for male patients.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5321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why data is missing helps us choose the right treatment method (deletion, imputation, or advanced modeling).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Completely at Random (MCAR)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means missing values occur randomly and are independent of both observed and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has no systematic pattern.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practice, MCAR is often an unrealistic assumption in real-world datasets.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assuming MCAR, review data collection workflow and consult domain experts.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MCAR is reasonable, simple imputation (mean/median/mode) can 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Illustrative Data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5321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values appear across different rows and columns with no clear pattern, which is consistent with MCAR.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at Random (MAR)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MAR means missingness is related to observed features in the dataset, but not to the missing feature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Missingness depends on other observed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missing value itself is not the direct cause of the gap.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realistic than MCAR in many real-world datasets.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Model-based imputation that uses observed features usually works better than simple mean/median fills.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Imputation Techniques for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Why it works for MAR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kNN Imputation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Fills missing values using the nearest similar records.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observed features to find similar patterns.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MissForest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random-forest models iteratively to predict missing values.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Captures non-linear relationships from observed data effectively.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062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methods leverage observed features — exactly what MAR assumes is available and informative.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85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student C, the two nearest students based on Grade and Attendance are A and B.</a:t>
            </a:r>
          </a:p>
        </p:txBody>
      </p:sp>
      <p:pic>
        <p:nvPicPr>
          <p:cNvPr id="10" name="Picture 9" descr="knn-neighb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7232" y="2788920"/>
            <a:ext cx="5155615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394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94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observed features (Grade, Attendance) to find the nearest neighbors.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16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016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 student C’s missing value from students A and B (e.g. average).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Attendance (%)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634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Student C is closest to A and B on Grade and Attendance — so we ignore distant student 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Study Hours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C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 (8 + 7) / 2 = 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the Study Hours of the two nearest neighbors (A and B) to fill the missing value for student 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A → Study Hours =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B → Study Hours =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469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469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Imputed value for C → 7.5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MissForest trains a Random Forest model using known rows to predict the missing value for student 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Treat the incomplete column (Study Hours) as the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on complete rows (A, B, D) using observed features such as Grade and Attendance.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Study Hours for student C from the learned non-linear relationships.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Iterate across features with missing values until predictions stabilize.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Study Hours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C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≈ 7.6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Random Forest prediction for student C’s missing Study Hours is approximately 7.6.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non-linear patterns learned from complete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more accurate than simple neighbor averages when relationships are complex.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 (Observed)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663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94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MAR is common in practice because missingness can often be explained by available variables.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Not at Random (MNAR)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is usually the most complex type because missingness depends on the missing value itself or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has a systematic pattern tied to hidden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Standard imputation can be unreliable without additional data or strong domain assumptions.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needs specialized models, sensitivity analysis, or collecting the missing information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treating MNAR like MAR/MCAR, validate the missingness mechanism with domain experts.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Participant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Reported Stress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663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94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stress reports may be tied to the stress level itself — people with higher stress may skip the question.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Tip: Preserve Missingness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pic>
        <p:nvPicPr>
          <p:cNvPr id="8" name="Picture 7" descr="missingness-indi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9144" y="2011680"/>
            <a:ext cx="7591790" cy="2743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983480"/>
            <a:ext cx="1097280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663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Add an indicator column so the model can still learn from the fact that a value was missing.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5 of 5</a:t>
            </a:r>
          </a:p>
        </p:txBody>
      </p:sp>
      <p:pic>
        <p:nvPicPr>
          <p:cNvPr id="8" name="Picture 7" descr="data-lea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008" y="2103120"/>
            <a:ext cx="7582063" cy="2743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02920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Never let test-set information influence training, scaling, or feature choices.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