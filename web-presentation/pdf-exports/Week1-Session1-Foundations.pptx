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tr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502920"/>
            <a:ext cx="695110" cy="6400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96596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Week 1  ·  Session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2316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221E36"/>
                </a:solidFill>
                <a:latin typeface="Helvetica"/>
                <a:ea typeface="Helvetica"/>
                <a:cs typeface="Helvetica"/>
              </a:rPr>
              <a:t>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383280"/>
            <a:ext cx="1097280" cy="10972"/>
          </a:xfrm>
          <a:prstGeom prst="rect">
            <a:avLst/>
          </a:prstGeom>
          <a:solidFill>
            <a:srgbClr val="E8E4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65760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Data pre-processing for reliable machine learning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98932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AI &amp; Machine Learning Bootcamp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9260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S01  ·  Bootcamp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26880" y="292608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10515600" cy="10972"/>
          </a:xfrm>
          <a:prstGeom prst="rect">
            <a:avLst/>
          </a:prstGeom>
          <a:solidFill>
            <a:srgbClr val="E8E4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tr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320040"/>
            <a:ext cx="546157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86868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221E36"/>
                </a:solidFill>
                <a:latin typeface="Helvetica"/>
                <a:ea typeface="Helvetica"/>
                <a:cs typeface="Helvetica"/>
              </a:rPr>
              <a:t>Where Are We in the Bootcamp?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37160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Build the end-to-end ML workflow: clean data → train → evaluate.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48840"/>
            <a:ext cx="2606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Week 1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441448"/>
            <a:ext cx="2468880" cy="10972"/>
          </a:xfrm>
          <a:prstGeom prst="rect">
            <a:avLst/>
          </a:prstGeom>
          <a:solidFill>
            <a:srgbClr val="E8E4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2960" y="2560320"/>
            <a:ext cx="2514600" cy="457200"/>
          </a:xfrm>
          <a:prstGeom prst="roundRect">
            <a:avLst>
              <a:gd name="adj" fmla="val 12000"/>
            </a:avLst>
          </a:prstGeom>
          <a:solidFill>
            <a:srgbClr val="F4F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260604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5C45B0"/>
                </a:solidFill>
                <a:latin typeface="Helvetica"/>
                <a:ea typeface="Helvetica"/>
                <a:cs typeface="Helvetica"/>
              </a:rPr>
              <a:t>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2606040"/>
            <a:ext cx="1920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221E36"/>
                </a:solidFill>
                <a:latin typeface="Helvetica"/>
                <a:ea typeface="Helvetica"/>
                <a:cs typeface="Helvetica"/>
              </a:rPr>
              <a:t>Foundations &amp; Preprocessing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3136392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S2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3136392"/>
            <a:ext cx="1920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Regression Models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3666744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3666744"/>
            <a:ext cx="1920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Classification Basics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4197095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S4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4197095"/>
            <a:ext cx="1920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Naive Bayes &amp; Trees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" y="4727448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S5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4727448"/>
            <a:ext cx="1920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SVM &amp; Kernels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52578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S6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5257800"/>
            <a:ext cx="1920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Clustering &amp; PCA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11880" y="2148840"/>
            <a:ext cx="2606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Week 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11880" y="2441448"/>
            <a:ext cx="2468880" cy="10972"/>
          </a:xfrm>
          <a:prstGeom prst="rect">
            <a:avLst/>
          </a:prstGeom>
          <a:solidFill>
            <a:srgbClr val="E8E4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21608" y="260604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S7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0" y="2606040"/>
            <a:ext cx="1920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Deep Learning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2148840"/>
            <a:ext cx="2606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Week 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2441448"/>
            <a:ext cx="2468880" cy="10972"/>
          </a:xfrm>
          <a:prstGeom prst="rect">
            <a:avLst/>
          </a:prstGeom>
          <a:solidFill>
            <a:srgbClr val="E8E4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10528" y="260604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S8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03720" y="2606040"/>
            <a:ext cx="1920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NLP Fundamentals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10528" y="3136392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S9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136392"/>
            <a:ext cx="1920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Tokenization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10528" y="3666744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S10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03720" y="3666744"/>
            <a:ext cx="1920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Text Analysis &amp; NER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10528" y="4197095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S11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03720" y="4197095"/>
            <a:ext cx="1920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Language Modeling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10528" y="4727448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S12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03720" y="4727448"/>
            <a:ext cx="1920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Embeddings &amp; RNNs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10528" y="52578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S13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5257800"/>
            <a:ext cx="1920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Seq2Seq &amp; NMT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89720" y="2148840"/>
            <a:ext cx="2606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Week 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189720" y="2441448"/>
            <a:ext cx="2468880" cy="10972"/>
          </a:xfrm>
          <a:prstGeom prst="rect">
            <a:avLst/>
          </a:prstGeom>
          <a:solidFill>
            <a:srgbClr val="E8E4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299448" y="260604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S14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92640" y="2606040"/>
            <a:ext cx="1920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Generative AI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99448" y="3136392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S15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92640" y="3136392"/>
            <a:ext cx="1920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RAG Systems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99448" y="3666744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S16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92640" y="3666744"/>
            <a:ext cx="1920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MLOps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tr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502920"/>
            <a:ext cx="645459" cy="5943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82880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Week 1  ·  Session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100584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221E36"/>
                </a:solidFill>
                <a:latin typeface="Helvetica"/>
                <a:ea typeface="Helvetica"/>
                <a:cs typeface="Helvetica"/>
              </a:rPr>
              <a:t>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00400"/>
            <a:ext cx="1097280" cy="10972"/>
          </a:xfrm>
          <a:prstGeom prst="rect">
            <a:avLst/>
          </a:prstGeom>
          <a:solidFill>
            <a:srgbClr val="E8E4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Data Pre-Processing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663440"/>
            <a:ext cx="2194560" cy="384048"/>
          </a:xfrm>
          <a:prstGeom prst="roundRect">
            <a:avLst>
              <a:gd name="adj" fmla="val 12000"/>
            </a:avLst>
          </a:prstGeom>
          <a:solidFill>
            <a:srgbClr val="F4F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700016"/>
            <a:ext cx="2194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Data Pre-Processing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54680" y="4663440"/>
            <a:ext cx="2194560" cy="384048"/>
          </a:xfrm>
          <a:prstGeom prst="roundRect">
            <a:avLst>
              <a:gd name="adj" fmla="val 12000"/>
            </a:avLst>
          </a:prstGeom>
          <a:solidFill>
            <a:srgbClr val="F4F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54680" y="4700016"/>
            <a:ext cx="2194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Train/test splits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0" y="4663440"/>
            <a:ext cx="2194560" cy="384048"/>
          </a:xfrm>
          <a:prstGeom prst="roundRect">
            <a:avLst>
              <a:gd name="adj" fmla="val 12000"/>
            </a:avLst>
          </a:prstGeom>
          <a:solidFill>
            <a:srgbClr val="F4F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0" y="4700016"/>
            <a:ext cx="2194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Feature scaling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18120" y="4663440"/>
            <a:ext cx="2194560" cy="384048"/>
          </a:xfrm>
          <a:prstGeom prst="roundRect">
            <a:avLst>
              <a:gd name="adj" fmla="val 12000"/>
            </a:avLst>
          </a:prstGeom>
          <a:solidFill>
            <a:srgbClr val="F4F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18120" y="4700016"/>
            <a:ext cx="2194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Encoding &amp; imputation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9260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S01  ·  Foundations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26880" y="292608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04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10515600" cy="10972"/>
          </a:xfrm>
          <a:prstGeom prst="rect">
            <a:avLst/>
          </a:prstGeom>
          <a:solidFill>
            <a:srgbClr val="E8E4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tr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320040"/>
            <a:ext cx="546157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9601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221E36"/>
                </a:solidFill>
                <a:latin typeface="Helvetica"/>
                <a:ea typeface="Helvetica"/>
                <a:cs typeface="Helvetica"/>
              </a:rPr>
              <a:t>Data Pre-Processing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What we will cover in this session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1488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221E36"/>
                </a:solidFill>
                <a:latin typeface="Helvetica"/>
                <a:ea typeface="Helvetica"/>
                <a:cs typeface="Helvetica"/>
              </a:rPr>
              <a:t>Data Pre-Processing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78892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7889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221E36"/>
                </a:solidFill>
                <a:latin typeface="Helvetica"/>
                <a:ea typeface="Helvetica"/>
                <a:cs typeface="Helvetica"/>
              </a:rPr>
              <a:t>Train/test splits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42900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34290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221E36"/>
                </a:solidFill>
                <a:latin typeface="Helvetica"/>
                <a:ea typeface="Helvetica"/>
                <a:cs typeface="Helvetica"/>
              </a:rPr>
              <a:t>Feature scaling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69079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4069079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221E36"/>
                </a:solidFill>
                <a:latin typeface="Helvetica"/>
                <a:ea typeface="Helvetica"/>
                <a:cs typeface="Helvetica"/>
              </a:rPr>
              <a:t>Encoding &amp; imputation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70916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7091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221E36"/>
                </a:solidFill>
                <a:latin typeface="Helvetica"/>
                <a:ea typeface="Helvetica"/>
                <a:cs typeface="Helvetica"/>
              </a:rPr>
              <a:t>Data leakage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9260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S01  ·  Foundations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26880" y="292608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05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10515600" cy="10972"/>
          </a:xfrm>
          <a:prstGeom prst="rect">
            <a:avLst/>
          </a:prstGeom>
          <a:solidFill>
            <a:srgbClr val="E8E4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tr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320040"/>
            <a:ext cx="546157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9601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221E36"/>
                </a:solidFill>
                <a:latin typeface="Helvetica"/>
                <a:ea typeface="Helvetica"/>
                <a:cs typeface="Helvetica"/>
              </a:rPr>
              <a:t>The Machine Learning Process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The 3 main steps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194560"/>
            <a:ext cx="3383280" cy="3749039"/>
          </a:xfrm>
          <a:prstGeom prst="roundRect">
            <a:avLst>
              <a:gd name="adj" fmla="val 12000"/>
            </a:avLst>
          </a:prstGeom>
          <a:solidFill>
            <a:srgbClr val="F4F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51460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Step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880360"/>
            <a:ext cx="2743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221E36"/>
                </a:solidFill>
                <a:latin typeface="Helvetica"/>
                <a:ea typeface="Helvetica"/>
                <a:cs typeface="Helvetica"/>
              </a:rPr>
              <a:t>Data Pre-Processing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611880"/>
            <a:ext cx="228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611880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Import the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069080"/>
            <a:ext cx="228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069080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Clean the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526280"/>
            <a:ext cx="228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526280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Split into training and test sets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4983480"/>
            <a:ext cx="228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983480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Feature scaling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34840" y="2194560"/>
            <a:ext cx="3383280" cy="3749039"/>
          </a:xfrm>
          <a:prstGeom prst="roundRect">
            <a:avLst>
              <a:gd name="adj" fmla="val 12000"/>
            </a:avLst>
          </a:prstGeom>
          <a:solidFill>
            <a:srgbClr val="F4F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0" y="251460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Step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0" y="2880360"/>
            <a:ext cx="2743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221E36"/>
                </a:solidFill>
                <a:latin typeface="Helvetica"/>
                <a:ea typeface="Helvetica"/>
                <a:cs typeface="Helvetica"/>
              </a:rPr>
              <a:t>Modelling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80" y="3611880"/>
            <a:ext cx="228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83480" y="3611880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Build the model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0" y="4069080"/>
            <a:ext cx="228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83480" y="4069080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Train the model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54880" y="4526280"/>
            <a:ext cx="228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83480" y="4526280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Make predictions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0" y="2194560"/>
            <a:ext cx="3383280" cy="3749039"/>
          </a:xfrm>
          <a:prstGeom prst="roundRect">
            <a:avLst>
              <a:gd name="adj" fmla="val 12000"/>
            </a:avLst>
          </a:prstGeom>
          <a:solidFill>
            <a:srgbClr val="F4F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66760" y="251460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Step 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66760" y="2880360"/>
            <a:ext cx="2743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221E36"/>
                </a:solidFill>
                <a:latin typeface="Helvetica"/>
                <a:ea typeface="Helvetica"/>
                <a:cs typeface="Helvetica"/>
              </a:rPr>
              <a:t>Evaluation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66760" y="3611880"/>
            <a:ext cx="228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95360" y="3611880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Calculate performance metrics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66760" y="4069080"/>
            <a:ext cx="228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95360" y="4069080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Make a final prediction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9260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S01  ·  Foundations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26880" y="292608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06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10515600" cy="10972"/>
          </a:xfrm>
          <a:prstGeom prst="rect">
            <a:avLst/>
          </a:prstGeom>
          <a:solidFill>
            <a:srgbClr val="E8E4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tr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320040"/>
            <a:ext cx="546157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9601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221E36"/>
                </a:solidFill>
                <a:latin typeface="Helvetica"/>
                <a:ea typeface="Helvetica"/>
                <a:cs typeface="Helvetica"/>
              </a:rPr>
              <a:t>Step 1: Data Pre-Processing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The Machine Learning Process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9456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1945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221E36"/>
                </a:solidFill>
                <a:latin typeface="Helvetica"/>
                <a:ea typeface="Helvetica"/>
                <a:cs typeface="Helvetica"/>
              </a:rPr>
              <a:t>Import the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8346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8346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221E36"/>
                </a:solidFill>
                <a:latin typeface="Helvetica"/>
                <a:ea typeface="Helvetica"/>
                <a:cs typeface="Helvetica"/>
              </a:rPr>
              <a:t>Clean the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47472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34747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221E36"/>
                </a:solidFill>
                <a:latin typeface="Helvetica"/>
                <a:ea typeface="Helvetica"/>
                <a:cs typeface="Helvetica"/>
              </a:rPr>
              <a:t>Split into training and test sets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114799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4114799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221E36"/>
                </a:solidFill>
                <a:latin typeface="Helvetica"/>
                <a:ea typeface="Helvetica"/>
                <a:cs typeface="Helvetica"/>
              </a:rPr>
              <a:t>Feature scaling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9260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S01  ·  Foundations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26880" y="292608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07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10515600" cy="10972"/>
          </a:xfrm>
          <a:prstGeom prst="rect">
            <a:avLst/>
          </a:prstGeom>
          <a:solidFill>
            <a:srgbClr val="E8E4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tr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320040"/>
            <a:ext cx="546157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9601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221E36"/>
                </a:solidFill>
                <a:latin typeface="Helvetica"/>
                <a:ea typeface="Helvetica"/>
                <a:cs typeface="Helvetica"/>
              </a:rPr>
              <a:t>Step 2: Modelling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The Machine Learning Process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9456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1945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221E36"/>
                </a:solidFill>
                <a:latin typeface="Helvetica"/>
                <a:ea typeface="Helvetica"/>
                <a:cs typeface="Helvetica"/>
              </a:rPr>
              <a:t>Build the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8346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8346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221E36"/>
                </a:solidFill>
                <a:latin typeface="Helvetica"/>
                <a:ea typeface="Helvetica"/>
                <a:cs typeface="Helvetica"/>
              </a:rPr>
              <a:t>Train the model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47472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34747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221E36"/>
                </a:solidFill>
                <a:latin typeface="Helvetica"/>
                <a:ea typeface="Helvetica"/>
                <a:cs typeface="Helvetica"/>
              </a:rPr>
              <a:t>Make predictions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9260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S01  ·  Foundations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26880" y="292608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08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10515600" cy="10972"/>
          </a:xfrm>
          <a:prstGeom prst="rect">
            <a:avLst/>
          </a:prstGeom>
          <a:solidFill>
            <a:srgbClr val="E8E4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tr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320040"/>
            <a:ext cx="546157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9601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221E36"/>
                </a:solidFill>
                <a:latin typeface="Helvetica"/>
                <a:ea typeface="Helvetica"/>
                <a:cs typeface="Helvetica"/>
              </a:rPr>
              <a:t>Step 3: Evaluation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The Machine Learning Process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9456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1945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221E36"/>
                </a:solidFill>
                <a:latin typeface="Helvetica"/>
                <a:ea typeface="Helvetica"/>
                <a:cs typeface="Helvetica"/>
              </a:rPr>
              <a:t>Calculate performance metrics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8346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8346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221E36"/>
                </a:solidFill>
                <a:latin typeface="Helvetica"/>
                <a:ea typeface="Helvetica"/>
                <a:cs typeface="Helvetica"/>
              </a:rPr>
              <a:t>Make a final prediction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9260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S01  ·  Foundations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26880" y="292608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09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10515600" cy="10972"/>
          </a:xfrm>
          <a:prstGeom prst="rect">
            <a:avLst/>
          </a:prstGeom>
          <a:solidFill>
            <a:srgbClr val="E8E4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tr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320040"/>
            <a:ext cx="546157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9601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221E36"/>
                </a:solidFill>
                <a:latin typeface="Helvetica"/>
                <a:ea typeface="Helvetica"/>
                <a:cs typeface="Helvetica"/>
              </a:rPr>
              <a:t>Data Pre-Processing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Topic 1 of 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286000"/>
            <a:ext cx="10515600" cy="3291840"/>
          </a:xfrm>
          <a:prstGeom prst="roundRect">
            <a:avLst>
              <a:gd name="adj" fmla="val 12000"/>
            </a:avLst>
          </a:prstGeom>
          <a:solidFill>
            <a:srgbClr val="F4F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3383280"/>
            <a:ext cx="9601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221E36"/>
                </a:solidFill>
                <a:latin typeface="Helvetica"/>
                <a:ea typeface="Helvetica"/>
                <a:cs typeface="Helvetica"/>
              </a:rPr>
              <a:t>Data Pre-Processing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4023360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Data Pre-Processing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9260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S01  ·  Foundations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26880" y="292608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10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10515600" cy="10972"/>
          </a:xfrm>
          <a:prstGeom prst="rect">
            <a:avLst/>
          </a:prstGeom>
          <a:solidFill>
            <a:srgbClr val="E8E4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tr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320040"/>
            <a:ext cx="546157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9601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221E36"/>
                </a:solidFill>
                <a:latin typeface="Helvetica"/>
                <a:ea typeface="Helvetica"/>
                <a:cs typeface="Helvetica"/>
              </a:rPr>
              <a:t>Train/test splits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Topic 2 of 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286000"/>
            <a:ext cx="10515600" cy="3291840"/>
          </a:xfrm>
          <a:prstGeom prst="roundRect">
            <a:avLst>
              <a:gd name="adj" fmla="val 12000"/>
            </a:avLst>
          </a:prstGeom>
          <a:solidFill>
            <a:srgbClr val="F4F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3383280"/>
            <a:ext cx="9601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221E36"/>
                </a:solidFill>
                <a:latin typeface="Helvetica"/>
                <a:ea typeface="Helvetica"/>
                <a:cs typeface="Helvetica"/>
              </a:rPr>
              <a:t>Train/test splits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4023360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Data Pre-Processing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9260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S01  ·  Foundations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26880" y="292608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11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10515600" cy="10972"/>
          </a:xfrm>
          <a:prstGeom prst="rect">
            <a:avLst/>
          </a:prstGeom>
          <a:solidFill>
            <a:srgbClr val="E8E4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tr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320040"/>
            <a:ext cx="546157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9601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221E36"/>
                </a:solidFill>
                <a:latin typeface="Helvetica"/>
                <a:ea typeface="Helvetica"/>
                <a:cs typeface="Helvetica"/>
              </a:rPr>
              <a:t>Feature scaling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Topic 3 of 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286000"/>
            <a:ext cx="10515600" cy="3291840"/>
          </a:xfrm>
          <a:prstGeom prst="roundRect">
            <a:avLst>
              <a:gd name="adj" fmla="val 12000"/>
            </a:avLst>
          </a:prstGeom>
          <a:solidFill>
            <a:srgbClr val="F4F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3383280"/>
            <a:ext cx="9601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221E36"/>
                </a:solidFill>
                <a:latin typeface="Helvetica"/>
                <a:ea typeface="Helvetica"/>
                <a:cs typeface="Helvetica"/>
              </a:rPr>
              <a:t>Feature scaling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4023360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Data Pre-Processing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9260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S01  ·  Foundations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26880" y="292608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12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10515600" cy="10972"/>
          </a:xfrm>
          <a:prstGeom prst="rect">
            <a:avLst/>
          </a:prstGeom>
          <a:solidFill>
            <a:srgbClr val="E8E4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tr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320040"/>
            <a:ext cx="546157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9601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221E36"/>
                </a:solidFill>
                <a:latin typeface="Helvetica"/>
                <a:ea typeface="Helvetica"/>
                <a:cs typeface="Helvetica"/>
              </a:rPr>
              <a:t>Encoding &amp; imputation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Topic 4 of 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286000"/>
            <a:ext cx="10515600" cy="3291840"/>
          </a:xfrm>
          <a:prstGeom prst="roundRect">
            <a:avLst>
              <a:gd name="adj" fmla="val 12000"/>
            </a:avLst>
          </a:prstGeom>
          <a:solidFill>
            <a:srgbClr val="F4F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3383280"/>
            <a:ext cx="9601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221E36"/>
                </a:solidFill>
                <a:latin typeface="Helvetica"/>
                <a:ea typeface="Helvetica"/>
                <a:cs typeface="Helvetica"/>
              </a:rPr>
              <a:t>Encoding &amp; imputation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4023360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Data Pre-Processing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9260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S01  ·  Foundations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26880" y="292608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13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10515600" cy="10972"/>
          </a:xfrm>
          <a:prstGeom prst="rect">
            <a:avLst/>
          </a:prstGeom>
          <a:solidFill>
            <a:srgbClr val="E8E4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tr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320040"/>
            <a:ext cx="546157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9601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221E36"/>
                </a:solidFill>
                <a:latin typeface="Helvetica"/>
                <a:ea typeface="Helvetica"/>
                <a:cs typeface="Helvetica"/>
              </a:rPr>
              <a:t>Data leakage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Topic 5 of 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286000"/>
            <a:ext cx="10515600" cy="3291840"/>
          </a:xfrm>
          <a:prstGeom prst="roundRect">
            <a:avLst>
              <a:gd name="adj" fmla="val 12000"/>
            </a:avLst>
          </a:prstGeom>
          <a:solidFill>
            <a:srgbClr val="F4F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3383280"/>
            <a:ext cx="9601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221E36"/>
                </a:solidFill>
                <a:latin typeface="Helvetica"/>
                <a:ea typeface="Helvetica"/>
                <a:cs typeface="Helvetica"/>
              </a:rPr>
              <a:t>Data leakage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4023360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Data Pre-Processing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