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0116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pre-processing for reliable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126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AI &amp; Machine Learning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Big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Where Are We in the Bootcamp?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Build the end-to-end ML workflow: clean data → train → evaluate.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79192"/>
            <a:ext cx="45720" cy="25603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Foundations &amp; 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Regression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Classification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Naive Bayes &amp; Trees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SVM &amp; Kernels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Clustering &amp; PCA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4992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11296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13632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Deep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1344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81344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7648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NLP Fundamentals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Tokenization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4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Text Analysis &amp; 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197095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97095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Language Modeling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727448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4727448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Embeddings &amp; RNNs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525780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9984" y="525780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Seq2Seq &amp; NMT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7696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Week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97696" y="2441448"/>
            <a:ext cx="2468880" cy="10972"/>
          </a:xfrm>
          <a:prstGeom prst="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46336" y="2606040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Generative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136392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46336" y="3136392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RAG Systems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666744"/>
            <a:ext cx="411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S16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666744"/>
            <a:ext cx="1965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MLOps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02  / 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378516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Week 1  ·  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383280"/>
            <a:ext cx="1280160" cy="54864"/>
          </a:xfrm>
          <a:prstGeom prst="rect">
            <a:avLst/>
          </a:prstGeom>
          <a:gradFill rotWithShape="1">
            <a:gsLst>
              <a:gs pos="0">
                <a:srgbClr val="5234B7"/>
              </a:gs>
              <a:gs pos="100000">
                <a:srgbClr val="9E59C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7033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25496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25496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Train/test splits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9208" y="4800600"/>
            <a:ext cx="2148840" cy="384048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484632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Encoding &amp; imputation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03  / 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we will cover in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Pre-Processing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Train/test splits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Encoding &amp; imputation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leakage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04  / 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3 main steps</a:t>
            </a:r>
          </a:p>
        </p:txBody>
      </p:sp>
      <p:pic>
        <p:nvPicPr>
          <p:cNvPr id="8" name="Picture 7" descr="ml-pro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994" y="2011680"/>
            <a:ext cx="5862090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206240"/>
            <a:ext cx="3429000" cy="16916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1  ·  Data Pre-Processing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Load the data · Clean the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78808" y="4206240"/>
            <a:ext cx="3429000" cy="16916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4434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2  ·  Modelling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48920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Build the model · Train the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08976" y="4206240"/>
            <a:ext cx="3429000" cy="16916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37576" y="44348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3  · 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7576" y="4892040"/>
            <a:ext cx="2926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Calculate performance metrics · Make a final prediction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05  / 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1: Data Pre-Processing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Load the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Clean the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Scale numeric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 categorical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Split into training and test sets</a:t>
            </a:r>
          </a:p>
        </p:txBody>
      </p:sp>
      <p:pic>
        <p:nvPicPr>
          <p:cNvPr id="18" name="Picture 17" descr="preprocess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139" y="4572000"/>
            <a:ext cx="5083800" cy="16459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06  / 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2: Modelling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Build the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Make predictions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07  / 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Step 3: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Machine Learning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Calculate performance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Make a final prediction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08  / 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Preprocessing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Standard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Clean → Scale → Encode →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preprocessing before modeling — a repeatable checklist before you train.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Start by loading the dataset, then follow the workflow in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09  / 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Standard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Preprocessing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preprocessing before modeling</a:t>
            </a:r>
          </a:p>
        </p:txBody>
      </p:sp>
      <p:pic>
        <p:nvPicPr>
          <p:cNvPr id="9" name="Picture 8" descr="preprocess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8272" y="2331720"/>
            <a:ext cx="6213534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1. Clean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Handle missing values, errors, and noise.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2.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Normalize or standardize numeric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3. Encode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Turn categories into numeric representations.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4572000"/>
            <a:ext cx="2560320" cy="13258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4800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4.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5212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Separate training and test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  / 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Workflow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Data Preprocessing Template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Load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063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Clean — fix missing values, duplicates, and inconsistent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9242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Scale — put numeric features on a comparable range.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1421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1421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Encode — convert categorical variables into model-ready form.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36008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36008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Split — create train/test sets before fitting the model.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11  / 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Set and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Key Idea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Hold-out partition — train wide, test narrow</a:t>
            </a:r>
          </a:p>
        </p:txBody>
      </p:sp>
      <p:pic>
        <p:nvPicPr>
          <p:cNvPr id="10" name="Picture 9" descr="train-test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08" y="2926080"/>
            <a:ext cx="7582063" cy="2743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52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Typical split: 80% train · 20% 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12  / 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Training Set and Test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Definitions</a:t>
            </a:r>
          </a:p>
        </p:txBody>
      </p:sp>
      <p:pic>
        <p:nvPicPr>
          <p:cNvPr id="8" name="Picture 7" descr="train-test-spl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008" y="2011680"/>
            <a:ext cx="7582063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937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Never tune hyperparameters on the test set — it becomes part of training indirectly.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595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Stratified splits preserve class balance in classification tasks.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81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813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We train on one part of the data, then test on another part to make sure the model generalizes well.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13  / 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Feature Scaling?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Feature scaling means adjusting feature values to a similar range using methods like standardization and normalization.</a:t>
            </a:r>
          </a:p>
        </p:txBody>
      </p:sp>
      <p:pic>
        <p:nvPicPr>
          <p:cNvPr id="10" name="Picture 9" descr="scaling-before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925" y="2926080"/>
            <a:ext cx="5778229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14  / 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it matters</a:t>
            </a:r>
          </a:p>
        </p:txBody>
      </p:sp>
      <p:pic>
        <p:nvPicPr>
          <p:cNvPr id="8" name="Picture 7" descr="scaling-before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925" y="2011680"/>
            <a:ext cx="5778229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49377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prevents large-value features from dominating smaller-value features.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595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595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improves performance for distance-based and gradient-based algorithms (e.g., KNN, SVM, Gradient Descent).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1813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813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helps training converge faster.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15  / 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(Before vs After Scaling)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Worked example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Height (cm)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Weight (kg)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Height (scaled)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Weight (scaled)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0.25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0.22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170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0.58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0.67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185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Before scaling, height and weight have different numeric ranges. After scaling, both features are on a comparable scale and contribute more fairly.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16  / 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21208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Comparable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60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brought to a comparable range.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57400"/>
            <a:ext cx="521208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After scaling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603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Heights are comparable.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3756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2160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Scales to [0, 1] using min–max — sensitive to outliers.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Standardization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Uses mean 0 and std 1 — preferred when features are roughly Gaussian.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184648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Robust scaling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589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Uses median and IQR when outliers dominate.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17  / 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1) Normalization (Min-Max Scaling)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Normalization transforms each value to a range between 0 and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02920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305763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norm</a:t>
            </a:r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880360"/>
            <a:ext cx="3171139" cy="4864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4828" y="3420587"/>
            <a:ext cx="2854025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3520440"/>
            <a:ext cx="3171139" cy="4864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x</a:t>
            </a:r>
            <a:r>
              <a:rPr sz="1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pic>
        <p:nvPicPr>
          <p:cNvPr id="15" name="Picture 14" descr="normalization-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423160"/>
            <a:ext cx="5669280" cy="19048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846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Useful for models that depend on distances or absolute magnitudes.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68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Common choice for algorithms such as KNN and K-Means.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18  / 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2) Standardization (Z-score Scaling)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Standardization centers data around 0 with a standard deviation of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029200" cy="21488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305763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z =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2880360"/>
            <a:ext cx="3171139" cy="48646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4828" y="3420587"/>
            <a:ext cx="2854025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76272" y="3520440"/>
            <a:ext cx="3171139" cy="4864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pic>
        <p:nvPicPr>
          <p:cNvPr id="15" name="Picture 14" descr="standardization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691" y="2423160"/>
            <a:ext cx="4484217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4846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Preferred when features are close to a Gaussian distribution.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68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8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Works well with Logistic Regression, SVM, and Linear Regression.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19  / 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Choosing the Right Scaling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standardization for SVM, logistic regression, PCA, and gradient-based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Tree-based models are scale-invariant — scaling is optional.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46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When in doubt, fit the scaler on train only, then transform train and 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10972800" cy="16916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Normalization when feature values have very different ranges and you want all values mapped to [0, 1].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241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Typical method: Min-Max Scaling.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  / 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 vs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When to use 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5212080" cy="2926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3464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Good for distance-based models where magnitude differences strongly affect results.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Maps values to [0, 1] · typical method: Min-Max 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03120"/>
            <a:ext cx="5212080" cy="292608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Standardization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34640"/>
            <a:ext cx="45720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Use when features are expected to follow (or be close to) a Gaussian distribution, or when the dataset contains outliers.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976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Keeps data centered around 0 and scales variability to 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57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Often preferred for linear models and optimization-based algorithms.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21  / 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 Example (Normalization)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Given feature values: [20, 40, 60, 80, 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Comparable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brought to a comparable 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After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Heights are comparable.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norm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3756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9808" y="374273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381762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min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20 · 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100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0.75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1.00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22  / 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Before vs After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norm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05740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808" y="246257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253746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− x</a:t>
            </a:r>
            <a:r>
              <a:rPr sz="16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min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20 · x</a:t>
            </a:r>
            <a:r>
              <a:rPr sz="1200" b="0" baseline="-2500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max</a:t>
            </a:r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 = 100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5661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Original value (x)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Normalized value (xₙₒᵣₘ)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40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0.25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60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80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0.75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1.00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table shows how all values are scaled to the range [0, 1].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23  / 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Feature Scaling Example (Standardization)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Worked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Given feature values: [20, 40, 60, 80, 100]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Comparable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Features brought to a comparable range.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46888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663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After scaling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Heights are comparable.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F5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z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333756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9808" y="374273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381762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9768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Mean: μ = 60 · Standard deviation: σ = 28.28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−1.41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−0.71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348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0.71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4754880"/>
            <a:ext cx="2103120" cy="10515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4937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3035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1.41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24  / 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Before vs After Standardization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Feature Scaling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141732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2893161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z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8496" y="2057400"/>
            <a:ext cx="7026249" cy="364845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x − 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808" y="2462570"/>
            <a:ext cx="6323624" cy="18288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2537460"/>
            <a:ext cx="7026249" cy="364845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10332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Helvetica Neue"/>
                <a:ea typeface="Helvetica Neue"/>
                <a:cs typeface="Helvetica Neue"/>
              </a:rPr>
              <a:t>Mean: μ = 60 · Standard deviation: σ = 28.28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56616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Original value (x)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lvetica"/>
                        </a:rPr>
                        <a:t>Standardized value (z)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−1.41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40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−0.71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60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80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0.71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21018"/>
                          </a:solidFill>
                          <a:latin typeface="Helvetica"/>
                        </a:rPr>
                        <a:t>100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5234B7"/>
                          </a:solidFill>
                          <a:latin typeface="Helvetica"/>
                        </a:rPr>
                        <a:t>1.41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669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table shows that standardized values are centered around 0 and measured in units of standard deviation.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25  / 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Categorical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Categorical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Categorical data describes values that belong to named groups rather than continuous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26  / 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Category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Ordinal vs Nominal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Ordinal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Categories have a meaningful order.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Education Level: High School &lt; Bachelor's &lt; Master's &lt; PhD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Nominal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Categories have no natural order.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Payment Method: Cash, Card, Bank Transfer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206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Choose encoding based on whether order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27  / 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1: Label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categorical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Raw category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Encoded value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Each category is mapped to a unique integer.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28  / 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2: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categorical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Raw category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Most machine learning algorithms work with numerical inputs only, so categorical values must be converted into numbers.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29  / 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Deal with Categorical Data (Ordinal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Ordinal Encoding?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Ordinal Encoding converts ordered categories into integers that preserve their ranking.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30  / 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Encoding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Choosing an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Three ways to encode categorical variables</a:t>
            </a:r>
          </a:p>
        </p:txBody>
      </p:sp>
      <p:pic>
        <p:nvPicPr>
          <p:cNvPr id="9" name="Picture 8" descr="encoding-label-vs-one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940" y="2286000"/>
            <a:ext cx="6172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Label Encoding  ·  One-Hot Encoding  ·  Ordinal Encoding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31  / 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Apply Ordinal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 Ordinal Encoding only when categories have a true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1: Identify the correct category order.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2: Assign an integer to each level based on that order.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525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3: Replace the original text values with encoded numbers.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32  / 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Ordinal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Ordinal Encoding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Satisfaction level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Encoded value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Low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Medium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High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method keeps the order information, which is important for many machine learning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33  / 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Deal with Categorical Data (One-Hot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One-Hot Encoding?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241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One-Hot Encoding converts each category into a separate binary column (0 or 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34  / 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How to Apply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Practical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Use One-Hot Encoding for nominal categories (no natural order).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1: List all unique categories.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307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307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2: Create one column for each category.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525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3: Put 1 in the matching category column and 0 in all others.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35  / 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One-Hot Encoding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One-Hot Encoding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Payment 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This method avoids creating a false ranking between categories.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36  / 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Avoiding the Dummy Variable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One-Hot Encoding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helps prevent the dummy variable trap (perfect multicollinearity), especially in linear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1: Start with One-Hot encoded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7647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7647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2: Drop one category as a reference (baseline).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9826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9826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Step 3: Keep the remaining binary columns.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Original categories: Payment Method = [Cash, Card, Bank Transfer].  ·  Reference category (dropped): Cash.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37  / 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 (Reference = Cash)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Dummy variable trap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Payment 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Cash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Card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Bank Transfer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1605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In this setup, Cash is represented when all remaining columns are 0.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38  / 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Encoding Methods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Beyond label / one-hot / ordinal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Encoding type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Best use case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Frequency Encoding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Replace each category with how often it appears.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Large datasets with many categories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Count Encoding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Similar to frequency, but uses raw counts directly.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Tree-based models with high-cardinality features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Target Encoding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Replace category with target mean for that category.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Supervised tasks (use with care to avoid leakage)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Binary Encoding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Convert category index to binary digits across columns.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High-cardinality data with fewer columns than one-hot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Hash Encoding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Use a hash function to map categories into fixed columns.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Very large and dynamic category sets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39  / 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1) Frequency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Frequency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0.50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0.33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0.17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40  / 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2) Count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Count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41  / 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3) Target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Mean target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0.80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0.40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0.20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42  / 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4) Binary Encoding (City)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Category ID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Binary code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43  / 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5) Hash Encoding (4 Buckets)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Encoding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City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Hash bucket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Riyadh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Jeddah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Dammam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44  / 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Handling Missing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What is Missing Data?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Missing data refers to values that are absent or incomplete in one or more features of a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can introduce bias into model training.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may reduce prediction accuracy.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 can cause errors in analysis if not handled properly.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45  / 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Types of Missing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MCAR · MAR · MNAR</a:t>
            </a:r>
          </a:p>
        </p:txBody>
      </p:sp>
      <p:pic>
        <p:nvPicPr>
          <p:cNvPr id="8" name="Picture 7" descr="missing-mcar-mar-mn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761" y="2011680"/>
            <a:ext cx="6440556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983480"/>
            <a:ext cx="1097280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MCAR = random · MAR = explained by observed features · MNAR = tied to the missing value itself.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46  / 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Why Do We Have Missing Data?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0972800" cy="14630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Missing values can appear for many practical reasons during data collection and processing.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47  / 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Common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Why values go missing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Cause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Description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Example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Human Error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Data is skipped, entered incorrectly, or forgotten.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A user leaves the Age field empty in a form.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Device/Sensor Failure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Measurement tools fail or disconnect.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A medical sensor stops recording heart rate temporarily.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Data Integration Issues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Missing fields appear when combining data from multiple sources.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One database has salary, another does not.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Privacy or Refusal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Participants choose not to share sensitive information.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A customer does not provide income details.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System/Transmission Errors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Data is lost during storage, transfer, or export.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Network interruption causes missing rows in logs.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Conditional Missingness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Some fields are only relevant for specific groups.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Pregnancy_Status is empty for male patients.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321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Understanding why data is missing helps us choose the right treatment method (deletion, imputation, or advanced modeling).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48  / 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Missing Completely at Random (MCAR)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MCAR means missing values occur randomly and are independent of both observed and unobserved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MCAR has no systematic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In practice, MCAR is often an unrealistic assumption in real-world datasets.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Before assuming MCAR, review data collection workflow and consult domain experts.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If MCAR is reasonable, simple imputation (mean/median/mode) can work.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49  / 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Illustrative Data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MCAR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 ID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Age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Score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91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76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106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53212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Missing values appear across different rows and columns with no clear pattern, which is consistent with MCAR.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50  / 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Missing at Random (MAR)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MAR means missingness is related to observed features in the dataset, but not to the missing feature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Missingness depends on other observed variables.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The missing value itself is not the direct cause of the gap.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More realistic than MCAR in many real-world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Model-based imputation that uses observed features usually works better than simple mean/median fills.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51  / 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Imputation Techniques for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53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Method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Idea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Why it works for MAR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kNN Imputation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Fills missing values using the nearest similar records.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Uses observed features to find similar patterns.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34B7"/>
                          </a:solidFill>
                          <a:latin typeface="Helvetica"/>
                        </a:rPr>
                        <a:t>MissForest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Uses random-forest models iteratively to predict missing values.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21018"/>
                          </a:solidFill>
                          <a:latin typeface="Helvetica"/>
                        </a:rPr>
                        <a:t>Captures non-linear relationships from observed data effectively.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2062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Both methods leverage observed features — exactly what MAR assumes is available and informative.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52  / 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kNN Imputation (k =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858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For student C, the two nearest students based on Grade and Attendance are A and B.</a:t>
            </a:r>
          </a:p>
        </p:txBody>
      </p:sp>
      <p:pic>
        <p:nvPicPr>
          <p:cNvPr id="10" name="Picture 9" descr="knn-neighb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7232" y="2788920"/>
            <a:ext cx="5155615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3949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 observed features (Grade, Attendance) to find the nearest neighbors.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167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167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Impute student C’s missing value from students A and B (e.g. average).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53  / 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kNN Neighbor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Grade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Attendance (%)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Study Hours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A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B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C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96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D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70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66344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892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Student C is closest to A and B on Grade and Attendance — so we ignore distant student 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54  / 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kNN Imputed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371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Study Hours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C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= (8 + 7) / 2 = 7.5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Average the Study Hours of the two nearest neighbors (A and B) to fill the missing value for student 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Neighbor A → Study Hours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Neighbor B → Study Hours =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4690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469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Imputed value for C → 7.5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55  / 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MissForest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MissForest trains a Random Forest model using known rows to predict the missing value for student 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Treat the incomplete column (Study Hours) as the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Train on complete rows (A, B, D) using observed features such as Grade and Attendance.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Predict Study Hours for student C from the learned non-linear relationships.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Iterate across features with missing values until predictions stabilize.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56  / 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MissForest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37160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Study Hours</a:t>
            </a:r>
            <a:r>
              <a:rPr sz="2200" b="1" baseline="-25000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C</a:t>
            </a:r>
            <a:r>
              <a:rPr sz="2600" b="1">
                <a:solidFill>
                  <a:srgbClr val="5234B7"/>
                </a:solidFill>
                <a:latin typeface="Helvetica Neue"/>
                <a:ea typeface="Helvetica Neue"/>
                <a:cs typeface="Helvetica Neue"/>
              </a:rPr>
              <a:t> ≈ 7.6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The Random Forest prediction for student C’s missing Study Hours is approximately 7.6.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0332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0332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Uses non-linear patterns learned from complete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2511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2511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Often more accurate than simple neighbor averages when relationships are complex.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57  / 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MAR Grades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Student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Grade (Observed)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Study Hours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92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88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75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6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70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7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6636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MAR is common in practice because missingness can often be explained by available variables.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58  / 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Missing Not at Random (MNAR)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MNAR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10972800" cy="123444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10332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MNAR is usually the most complex type because missingness depends on the missing value itself or unobserved variables.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MNAR has a systematic pattern tied to hidden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8795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Standard imputation can be unreliable without additional data or strong domain assumptions.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974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974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Often needs specialized models, sensitivity analysis, or collecting the missing information directly.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431536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31536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Before treating MNAR like MAR/MCAR, validate the missingness mechanism with domain experts.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59  / 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Example: MNAR Stress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MNAR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Participant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elvetica"/>
                        </a:rPr>
                        <a:t>Reported Stress Level</a:t>
                      </a:r>
                    </a:p>
                  </a:txBody>
                  <a:tcPr>
                    <a:solidFill>
                      <a:srgbClr val="5234B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2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3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4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Missing</a:t>
                      </a:r>
                    </a:p>
                  </a:txBody>
                  <a:tcPr>
                    <a:solidFill>
                      <a:srgbClr val="F5F1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5234B7"/>
                          </a:solidFill>
                          <a:latin typeface="Helvetica"/>
                        </a:rPr>
                        <a:t>5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21018"/>
                          </a:solidFill>
                          <a:latin typeface="Helvetica"/>
                        </a:rPr>
                        <a:t>1</a:t>
                      </a:r>
                    </a:p>
                  </a:txBody>
                  <a:tcPr>
                    <a:solidFill>
                      <a:srgbClr val="EEE8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66360"/>
            <a:ext cx="10972800" cy="82296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3949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Missing stress reports may be tied to the stress level itself — people with higher stress may skip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60  / 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Practical Tip: Preserve Missingness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Handling Missing Data · MNAR</a:t>
            </a:r>
          </a:p>
        </p:txBody>
      </p:sp>
      <p:pic>
        <p:nvPicPr>
          <p:cNvPr id="8" name="Picture 7" descr="missingness-indic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144" y="2011680"/>
            <a:ext cx="7591790" cy="2743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983480"/>
            <a:ext cx="10972800" cy="8686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1663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Add an indicator column so the model can still learn from the fact that a value was missing.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61  / 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etra-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11480"/>
            <a:ext cx="1206201" cy="320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38912"/>
            <a:ext cx="7772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S01  ·  Foundations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22960"/>
            <a:ext cx="11064240" cy="10972"/>
          </a:xfrm>
          <a:prstGeom prst="rect">
            <a:avLst/>
          </a:prstGeom>
          <a:solidFill>
            <a:srgbClr val="E4D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Keep the test set unseen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6596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Data leakage happens when information from outside the training process — especially the test set — influences model fitting or decisions.</a:t>
            </a:r>
          </a:p>
        </p:txBody>
      </p:sp>
      <p:pic>
        <p:nvPicPr>
          <p:cNvPr id="10" name="Picture 9" descr="data-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950" y="2697480"/>
            <a:ext cx="5560179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48006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Never use test labels or test-only signals when choosing features, models, or hyperparameters.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22392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22392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Fit scalers and encoders on the training set only, then transform train and test.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44184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E59CD"/>
                </a:solidFill>
                <a:latin typeface="DIN Next LT W23"/>
                <a:ea typeface="DIN Next LT W23"/>
                <a:cs typeface="DIN Next LT W23"/>
              </a:rPr>
              <a:t>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604418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21018"/>
                </a:solidFill>
                <a:latin typeface="DIN Next LT W23"/>
                <a:ea typeface="DIN Next LT W23"/>
                <a:cs typeface="DIN Next LT W23"/>
              </a:rPr>
              <a:t>Peeking at the test set creates optimistic scores that will not hold in production.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Rule: treat the test set as future data you have not seen yet.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64240" cy="10972"/>
          </a:xfrm>
          <a:prstGeom prst="rect">
            <a:avLst/>
          </a:prstGeom>
          <a:solidFill>
            <a:srgbClr val="523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5234B7"/>
                </a:solidFill>
                <a:latin typeface="DIN Next LT W23"/>
                <a:ea typeface="DIN Next LT W23"/>
                <a:cs typeface="DIN Next LT W23"/>
              </a:rPr>
              <a:t>ETRA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510528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A5470"/>
                </a:solidFill>
                <a:latin typeface="DIN Next LT W23"/>
                <a:ea typeface="DIN Next LT W23"/>
                <a:cs typeface="DIN Next LT W23"/>
              </a:rPr>
              <a:t>62  / 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