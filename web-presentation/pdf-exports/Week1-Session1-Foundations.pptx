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3840480"/>
            <a:ext cx="3474720" cy="347472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989320"/>
            <a:ext cx="12191695" cy="36576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365760"/>
            <a:ext cx="1042664" cy="960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1691640"/>
            <a:ext cx="310896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09928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WEEK 1  ·  SESSION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98755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383280"/>
            <a:ext cx="1463040" cy="73152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657600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Data pre-processing for reliable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99632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AI &amp; Machine Learning Bootcamp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6565392"/>
            <a:ext cx="837027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1168"/>
            <a:ext cx="7040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Bootcamp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02 / 13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1440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BIG PICTURE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170432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Where Are We in the Bootcamp?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627632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Build the end-to-end ML workflow: clean data → train → evaluate.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057400"/>
            <a:ext cx="26974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057400"/>
            <a:ext cx="2697480" cy="38404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2697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elvetica"/>
                <a:ea typeface="Helvetica"/>
                <a:cs typeface="Helvetica"/>
              </a:rPr>
              <a:t>WEEK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32888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EDE8FA"/>
          </a:solidFill>
          <a:ln w="15875">
            <a:solidFill>
              <a:srgbClr val="5234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569464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569464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Foundations/Preprocessing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118104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154680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154680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Regression Models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03320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739896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739896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Classification Basics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288536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25112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325112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Naive Bayes &amp; Trees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873752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910328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910328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SVM &amp; Kernels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458968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495544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495544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Clustering &amp; PCA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02152" y="2057400"/>
            <a:ext cx="26974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02152" y="2057400"/>
            <a:ext cx="2697480" cy="384048"/>
          </a:xfrm>
          <a:prstGeom prst="rect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02152" y="2103120"/>
            <a:ext cx="2697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WEEK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93592" y="2532888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66744" y="2569464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50792" y="2569464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Deep Learning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64224" y="2057400"/>
            <a:ext cx="26974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64224" y="2057400"/>
            <a:ext cx="2697480" cy="384048"/>
          </a:xfrm>
          <a:prstGeom prst="rect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64224" y="2103120"/>
            <a:ext cx="2697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WEEK 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55664" y="2532888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28816" y="2569464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12864" y="2569464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NLP Fundamentals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55664" y="3118104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28816" y="3154680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3154680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Tokenization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55664" y="3703320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28816" y="3739896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3739896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Text Analysis &amp; NER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55664" y="4288536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28816" y="4325112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2864" y="4325112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Language Modeling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55664" y="4873752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28816" y="4910328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12864" y="4910328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Embeddings &amp; RNNs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55664" y="5458968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28816" y="5495544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12864" y="5495544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Seq2Seq &amp; NMT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226296" y="2057400"/>
            <a:ext cx="26974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226296" y="2057400"/>
            <a:ext cx="2697480" cy="384048"/>
          </a:xfrm>
          <a:prstGeom prst="rect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26296" y="2103120"/>
            <a:ext cx="2697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WEEK 4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317736" y="2532888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90888" y="2569464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74936" y="2569464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Generative AI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317736" y="3118104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90888" y="3154680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74936" y="3154680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RAG Systems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17736" y="3703320"/>
            <a:ext cx="2514600" cy="530352"/>
          </a:xfrm>
          <a:prstGeom prst="roundRect">
            <a:avLst>
              <a:gd name="adj" fmla="val 15000"/>
            </a:avLst>
          </a:prstGeom>
          <a:solidFill>
            <a:srgbClr val="F0EEF8"/>
          </a:solidFill>
          <a:ln w="1143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390888" y="3739896"/>
            <a:ext cx="411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S16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74936" y="3739896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MLOps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40080" y="6565392"/>
            <a:ext cx="1674055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371600"/>
            <a:ext cx="5029200" cy="5029200"/>
          </a:xfrm>
          <a:prstGeom prst="ellipse">
            <a:avLst/>
          </a:prstGeom>
          <a:solidFill>
            <a:srgbClr val="1E1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3200400"/>
            <a:ext cx="4572000" cy="4572000"/>
          </a:xfrm>
          <a:prstGeom prst="ellipse">
            <a:avLst/>
          </a:prstGeom>
          <a:solidFill>
            <a:srgbClr val="221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57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0" b="1">
                <a:solidFill>
                  <a:srgbClr val="2A2255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365760"/>
            <a:ext cx="943363" cy="868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2148840"/>
            <a:ext cx="3108960" cy="347472"/>
          </a:xfrm>
          <a:prstGeom prst="roundRect">
            <a:avLst>
              <a:gd name="adj" fmla="val 50000"/>
            </a:avLst>
          </a:prstGeom>
          <a:solidFill>
            <a:srgbClr val="2A1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67128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9E59CD"/>
                </a:solidFill>
                <a:latin typeface="Helvetica"/>
                <a:ea typeface="Helvetica"/>
                <a:cs typeface="Helvetica"/>
              </a:rPr>
              <a:t>WEEK 1  ·  SESSION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840480"/>
            <a:ext cx="1371600" cy="64008"/>
          </a:xfrm>
          <a:prstGeom prst="roundRect">
            <a:avLst>
              <a:gd name="adj" fmla="val 50000"/>
            </a:avLst>
          </a:prstGeom>
          <a:solidFill>
            <a:srgbClr val="9E59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0A8D4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1A1A35"/>
          </a:solidFill>
          <a:ln w="12700">
            <a:solidFill>
              <a:srgbClr val="3A3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910328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0A8D4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432" y="489204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1A1A35"/>
          </a:solidFill>
          <a:ln w="12700">
            <a:solidFill>
              <a:srgbClr val="3A3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4910328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0A8D4"/>
                </a:solidFill>
                <a:latin typeface="Helvetica"/>
                <a:ea typeface="Helvetica"/>
                <a:cs typeface="Helvetica"/>
              </a:rPr>
              <a:t>Train/test splits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9904" y="489204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1A1A35"/>
          </a:solidFill>
          <a:ln w="12700">
            <a:solidFill>
              <a:srgbClr val="3A3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9904" y="4910328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0A8D4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3376" y="489204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1A1A35"/>
          </a:solidFill>
          <a:ln w="12700">
            <a:solidFill>
              <a:srgbClr val="3A3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23376" y="4910328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0A8D4"/>
                </a:solidFill>
                <a:latin typeface="Helvetica"/>
                <a:ea typeface="Helvetica"/>
                <a:cs typeface="Helvetica"/>
              </a:rPr>
              <a:t>Encoding &amp; imputation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94960"/>
            <a:ext cx="2231136" cy="365760"/>
          </a:xfrm>
          <a:prstGeom prst="roundRect">
            <a:avLst>
              <a:gd name="adj" fmla="val 50000"/>
            </a:avLst>
          </a:prstGeom>
          <a:solidFill>
            <a:srgbClr val="1A1A35"/>
          </a:solidFill>
          <a:ln w="12700">
            <a:solidFill>
              <a:srgbClr val="3A3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413248"/>
            <a:ext cx="22311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0A8D4"/>
                </a:solidFill>
                <a:latin typeface="Helvetica"/>
                <a:ea typeface="Helvetica"/>
                <a:cs typeface="Helvetica"/>
              </a:rPr>
              <a:t>Data leakage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6565392"/>
            <a:ext cx="2511083" cy="91440"/>
          </a:xfrm>
          <a:prstGeom prst="roundRect">
            <a:avLst>
              <a:gd name="adj" fmla="val 50000"/>
            </a:avLst>
          </a:prstGeom>
          <a:solidFill>
            <a:srgbClr val="9E59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1168"/>
            <a:ext cx="7040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04 / 13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What we will cover in this session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4672" y="2478024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514600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514600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081528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2" y="3227832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264408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264408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Train/test splits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831336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4672" y="3977640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014216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014216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581144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4672" y="4727448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764024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764024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Encoding &amp; imputation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330952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04672" y="5477256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513832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513832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Data leakage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" y="6565392"/>
            <a:ext cx="3348110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1168"/>
            <a:ext cx="7040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05 / 13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The Machine Learning Process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The 3 Main Steps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233172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28600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286000"/>
            <a:ext cx="3429000" cy="109728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651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Step 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063240"/>
            <a:ext cx="2834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" y="3977640"/>
            <a:ext cx="128016" cy="128016"/>
          </a:xfrm>
          <a:prstGeom prst="ellipse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886200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Import the data</a:t>
            </a:r>
          </a:p>
        </p:txBody>
      </p:sp>
      <p:sp>
        <p:nvSpPr>
          <p:cNvPr id="21" name="Oval 20"/>
          <p:cNvSpPr/>
          <p:nvPr/>
        </p:nvSpPr>
        <p:spPr>
          <a:xfrm>
            <a:off x="960120" y="4416552"/>
            <a:ext cx="128016" cy="128016"/>
          </a:xfrm>
          <a:prstGeom prst="ellipse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325112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Clean the data</a:t>
            </a:r>
          </a:p>
        </p:txBody>
      </p:sp>
      <p:sp>
        <p:nvSpPr>
          <p:cNvPr id="23" name="Oval 22"/>
          <p:cNvSpPr/>
          <p:nvPr/>
        </p:nvSpPr>
        <p:spPr>
          <a:xfrm>
            <a:off x="960120" y="4855464"/>
            <a:ext cx="128016" cy="128016"/>
          </a:xfrm>
          <a:prstGeom prst="ellipse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64024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Split into training and test sets</a:t>
            </a:r>
          </a:p>
        </p:txBody>
      </p:sp>
      <p:sp>
        <p:nvSpPr>
          <p:cNvPr id="25" name="Oval 24"/>
          <p:cNvSpPr/>
          <p:nvPr/>
        </p:nvSpPr>
        <p:spPr>
          <a:xfrm>
            <a:off x="960120" y="5294376"/>
            <a:ext cx="128016" cy="128016"/>
          </a:xfrm>
          <a:prstGeom prst="ellipse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5202936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233172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43400" y="228600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43400" y="2286000"/>
            <a:ext cx="3429000" cy="10972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2651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Step 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3063240"/>
            <a:ext cx="2834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Modelling</a:t>
            </a:r>
          </a:p>
        </p:txBody>
      </p:sp>
      <p:sp>
        <p:nvSpPr>
          <p:cNvPr id="32" name="Oval 31"/>
          <p:cNvSpPr/>
          <p:nvPr/>
        </p:nvSpPr>
        <p:spPr>
          <a:xfrm>
            <a:off x="4663440" y="3977640"/>
            <a:ext cx="128016" cy="128016"/>
          </a:xfrm>
          <a:prstGeom prst="ellipse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92040" y="3886200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Build the model</a:t>
            </a:r>
          </a:p>
        </p:txBody>
      </p:sp>
      <p:sp>
        <p:nvSpPr>
          <p:cNvPr id="34" name="Oval 33"/>
          <p:cNvSpPr/>
          <p:nvPr/>
        </p:nvSpPr>
        <p:spPr>
          <a:xfrm>
            <a:off x="4663440" y="4416552"/>
            <a:ext cx="128016" cy="128016"/>
          </a:xfrm>
          <a:prstGeom prst="ellipse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92040" y="4325112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Train the model</a:t>
            </a:r>
          </a:p>
        </p:txBody>
      </p:sp>
      <p:sp>
        <p:nvSpPr>
          <p:cNvPr id="36" name="Oval 35"/>
          <p:cNvSpPr/>
          <p:nvPr/>
        </p:nvSpPr>
        <p:spPr>
          <a:xfrm>
            <a:off x="4663440" y="4855464"/>
            <a:ext cx="128016" cy="128016"/>
          </a:xfrm>
          <a:prstGeom prst="ellipse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92040" y="4764024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Make predictions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233172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6720" y="2286000"/>
            <a:ext cx="3429000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46720" y="2286000"/>
            <a:ext cx="3429000" cy="109728"/>
          </a:xfrm>
          <a:prstGeom prst="rect">
            <a:avLst/>
          </a:prstGeom>
          <a:solidFill>
            <a:srgbClr val="9E59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2651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Step 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3063240"/>
            <a:ext cx="2834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Evaluation</a:t>
            </a:r>
          </a:p>
        </p:txBody>
      </p:sp>
      <p:sp>
        <p:nvSpPr>
          <p:cNvPr id="43" name="Oval 42"/>
          <p:cNvSpPr/>
          <p:nvPr/>
        </p:nvSpPr>
        <p:spPr>
          <a:xfrm>
            <a:off x="8366760" y="3977640"/>
            <a:ext cx="128016" cy="128016"/>
          </a:xfrm>
          <a:prstGeom prst="ellipse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95360" y="3886200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Calculate performance metrics</a:t>
            </a:r>
          </a:p>
        </p:txBody>
      </p:sp>
      <p:sp>
        <p:nvSpPr>
          <p:cNvPr id="45" name="Oval 44"/>
          <p:cNvSpPr/>
          <p:nvPr/>
        </p:nvSpPr>
        <p:spPr>
          <a:xfrm>
            <a:off x="8366760" y="4416552"/>
            <a:ext cx="128016" cy="128016"/>
          </a:xfrm>
          <a:prstGeom prst="ellipse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0" y="4325112"/>
            <a:ext cx="2651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Make a final prediction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40080" y="6565392"/>
            <a:ext cx="4185138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1168"/>
            <a:ext cx="7040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06 / 13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Step 01: Data Pre-Processing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The Machine Learning 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4672" y="2478024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514600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514600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Import the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0040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2" y="3346704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383280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383280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Clean the 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690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4672" y="4215384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251960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51960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Split into training and test sets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937759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4672" y="5084063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120639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20639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6565392"/>
            <a:ext cx="5022166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1168"/>
            <a:ext cx="7040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07 / 13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Step 02: Modelling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The Machine Learning 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4672" y="2478024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514600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514600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Build the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0040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2" y="3346704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383280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383280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Train the model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690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4672" y="4215384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251960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51960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Make predictions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6565392"/>
            <a:ext cx="5859193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1168"/>
            <a:ext cx="7040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08 / 13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Step 03: Evaluation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The Machine Learning 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317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4672" y="2478024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514600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514600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Calculate performance metrics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0040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2" y="3346704"/>
            <a:ext cx="420624" cy="420624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383280"/>
            <a:ext cx="4206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383280"/>
            <a:ext cx="9875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Make a final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6565392"/>
            <a:ext cx="6696221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1168"/>
            <a:ext cx="7040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09 / 13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Topic 01 of 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2331720"/>
            <a:ext cx="10881360" cy="3611880"/>
          </a:xfrm>
          <a:prstGeom prst="roundRect">
            <a:avLst>
              <a:gd name="adj" fmla="val 7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286000"/>
            <a:ext cx="10881360" cy="3611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286000"/>
            <a:ext cx="91440" cy="361188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832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6565392"/>
            <a:ext cx="7533249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1168"/>
            <a:ext cx="7040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10 / 13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Train/test splits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Topic 02 of 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2331720"/>
            <a:ext cx="10881360" cy="3611880"/>
          </a:xfrm>
          <a:prstGeom prst="roundRect">
            <a:avLst>
              <a:gd name="adj" fmla="val 7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286000"/>
            <a:ext cx="10881360" cy="3611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286000"/>
            <a:ext cx="91440" cy="361188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832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Train/test splits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6565392"/>
            <a:ext cx="8370276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1168"/>
            <a:ext cx="7040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11 / 13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Topic 03 of 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2331720"/>
            <a:ext cx="10881360" cy="3611880"/>
          </a:xfrm>
          <a:prstGeom prst="roundRect">
            <a:avLst>
              <a:gd name="adj" fmla="val 7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286000"/>
            <a:ext cx="10881360" cy="3611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286000"/>
            <a:ext cx="91440" cy="361188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832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Feature scaling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6565392"/>
            <a:ext cx="9207304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1168"/>
            <a:ext cx="7040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12 / 13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Encoding &amp; imputation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Topic 04 of 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2331720"/>
            <a:ext cx="10881360" cy="3611880"/>
          </a:xfrm>
          <a:prstGeom prst="roundRect">
            <a:avLst>
              <a:gd name="adj" fmla="val 7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286000"/>
            <a:ext cx="10881360" cy="3611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286000"/>
            <a:ext cx="91440" cy="361188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832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Encoding &amp; imputation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6565392"/>
            <a:ext cx="10044332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13232"/>
            <a:ext cx="12191695" cy="32004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ED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5234B7"/>
                </a:solidFill>
                <a:latin typeface="Helvetica"/>
                <a:ea typeface="Helvetica"/>
                <a:cs typeface="Helvetica"/>
              </a:rPr>
              <a:t>S01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1168"/>
            <a:ext cx="7040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Foundations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0116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13 / 13</a:t>
            </a:r>
          </a:p>
        </p:txBody>
      </p:sp>
      <p:pic>
        <p:nvPicPr>
          <p:cNvPr id="10" name="Picture 9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960120"/>
            <a:ext cx="71497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960120"/>
            <a:ext cx="9509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Data leakage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581912"/>
            <a:ext cx="1234440" cy="64008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Topic 05 of 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2331720"/>
            <a:ext cx="10881360" cy="3611880"/>
          </a:xfrm>
          <a:prstGeom prst="roundRect">
            <a:avLst>
              <a:gd name="adj" fmla="val 7000"/>
            </a:avLst>
          </a:prstGeom>
          <a:solidFill>
            <a:srgbClr val="F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286000"/>
            <a:ext cx="10881360" cy="3611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3970">
            <a:solidFill>
              <a:srgbClr val="E4DE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286000"/>
            <a:ext cx="91440" cy="3611880"/>
          </a:xfrm>
          <a:prstGeom prst="rect">
            <a:avLst/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832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A1533"/>
                </a:solidFill>
                <a:latin typeface="Helvetica"/>
                <a:ea typeface="Helvetica"/>
                <a:cs typeface="Helvetica"/>
              </a:rPr>
              <a:t>Data leakage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6B6490"/>
                </a:solidFill>
                <a:latin typeface="Helvetica"/>
                <a:ea typeface="Helvetica"/>
                <a:cs typeface="Helvetica"/>
              </a:rPr>
              <a:t>Data Pre-Processing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E4D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6565392"/>
            <a:ext cx="10881360" cy="91440"/>
          </a:xfrm>
          <a:prstGeom prst="roundRect">
            <a:avLst>
              <a:gd name="adj" fmla="val 50000"/>
            </a:avLst>
          </a:prstGeom>
          <a:solidFill>
            <a:srgbClr val="5234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