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52" r:id="rId103"/>
    <p:sldId id="353" r:id="rId104"/>
    <p:sldId id="354" r:id="rId105"/>
    <p:sldId id="355" r:id="rId106"/>
    <p:sldId id="356" r:id="rId107"/>
    <p:sldId id="357" r:id="rId108"/>
    <p:sldId id="358" r:id="rId109"/>
    <p:sldId id="359" r:id="rId110"/>
    <p:sldId id="360" r:id="rId111"/>
    <p:sldId id="361" r:id="rId1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Relationship Id="rId102" Type="http://schemas.openxmlformats.org/officeDocument/2006/relationships/slide" Target="slides/slide96.xml"/><Relationship Id="rId103" Type="http://schemas.openxmlformats.org/officeDocument/2006/relationships/slide" Target="slides/slide97.xml"/><Relationship Id="rId104" Type="http://schemas.openxmlformats.org/officeDocument/2006/relationships/slide" Target="slides/slide98.xml"/><Relationship Id="rId105" Type="http://schemas.openxmlformats.org/officeDocument/2006/relationships/slide" Target="slides/slide99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2  ·  Session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مرحباً. هذه جلسة الأسبوع الثاني: التعلّم العميق. ننتقل من نماذج الأسبوع الأول — انحدار وتصنيف وأشجار وSVM — إلى شبكات بعدّة طبقات غير خطية.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سنمشي أربع مراحل: أساس العصبون، ثم التدريب، ثم معماريات الصورة والتسلسل، ثم الترميز التلقائي.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المعمل في المجلد code/15- Deep Learning. الشرائح أمامكم بالإنجليزية؛ أنا أشرح بالعربية.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تفتح الجلسة بالتفاصيل. ثبّت الإطار الزمني والمجلد.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أن «عميق» يعني ChatGPT أو سحراً. اليوم: خلية، طبقة، تدرج، ثم CNN وRNN.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01  /  106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Where Are We in the Bootcamp?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Week 1 classical ML is done — now stacked nonlinear models.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انظروا الخريطة. الأسبوع الأول أنهى التعلّم الآلي الكلاسيكي. اليوم نحن في S7: Deep Learning.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الأسبوع الثالث NLP والرابع GenAI يبنيان على ما نثبّته هنا: تمثيل هرمي، انتشار أمامي وخلفي، وتنظيم.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الجملة التي أريدها في أذهانكم: أسبوع 1 نماذج ضحلة نسبياً — اليوم نركّب تحويلات غير خطية فوق بعض.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اربط S7 بما قبله بجملة واحدة ثم انتقل. لا تسهب في أسابيع لاحقة.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 ٣٠ ثانية: اطلب من أحدهم أن يشير إلى S7 ويقول ماذا تغيّر بعد الأسبوع الأول.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02  /  106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ندخل الآن قسم التعلّم العميق. المحاور على الشريحة: مقدمة، شبكات، بيرسبترون وMLP، انتشار خلفي، CNN، ثم RNN والتنظيم.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هذا فاصل لا درس. خذوا نفساً — بعدها الأجندة ثم أول رسم للشبكة.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وقفة انتقال. اطلب إغلاق اللابتوبات إلا عند المعمل.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تشرح أي معادلة هنا؛ الهدف أن يعرفوا أننا نغيّر «القسم».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03  /  106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Neural Networks · CNNs ·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will cover in this session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مسار الجلسة ستة مواضيع بهذا الترتيب: ما هو التعلّم العميق، لماذا العمق، العصبون وMLP، الانتشار الخلفي والتدريب، الشبكات الالتفافية، ثم التسلسل والتنظيم.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الترتيب مقصود: لا نقفز إلى CNN قبل أن نفهم z = w·x + b ولماذا نحتاج غير الخطية.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قل إن لكل مرحلة نقطة توقف معملية في code/15- Deep Learning.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تعد بتغطية Transformers اليوم بالتفصيل — ذلك في أسابيع لاحقة.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04  /  106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Foundations → Optimization → Architectures → Autoencoders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كل مرحلة تجيب سؤالاً مختلفاً. المرحلة 1: ماذا يحسب العصبون ولماذا نكدّس الطبقات. المرحلة 2: كيف يبقى التدريب مستقراً ويعمّم. المرحلة 3: أي معمارية للصورة وأيها للتسلسل. المرحلة 4: إعادة البناء والتوليد البسيط.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انظر الرسم مع النقاط: أربع مراحل، وعند كل حدّ نتوقف كما في المعمل.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التركيز اليوم في البداية على «لماذا» ورياضيات الخلية الواحدة قبل التكبير.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الخلط بين المرحلة والمختبر. المرحلة إطار ذهني؛ المختبر تطبيق.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05  /  106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Deep Learning: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phases, four questions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هذا مخطط المراحل الأربع. اقرأوه كأسئلة لا كعناوين كتب: أساس، تحسين، معمارية، ثم ترميز تلقائي.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سنعود إلى هذا الرسم عند بداية كل مرحلة حتى لا يضيع الخيط.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امشِ بإصبعك على الرسم: أين نحن الآن؟ المرحلة 1.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سؤال تحقق: اطلب جملة واحدة تصف سؤال المرحلة 2 (استقرار وتعميم لا معمارية جديدة).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06  /  106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1: Foundations &amp; Neural Core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المرحلة 1 حوالي ٤٥ دقيقة: حدس قبل المقياس. الهدف أن تشرحوا ماذا يحسب العصبون ولماذا التكديس يعطي ملامح هرمية.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المواضيع: بيرسبترون، دوال التنشيط، MLP، الانتشار الأمامي، ودالة الخسارة.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شرط الخروج مكتوب: اشرحوا z = w·x + b ولماذا نحتاج غير خطية بين الطبقات.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ابدأ برسم البيرسبترون ثم مروراً أمامياً واحداً على السبورة.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اسأل لاحقاً: لماذا لا يحلّ خط واحد مسألة XOR؟ بعد شريحة الخسارة دقيقة نقاش ثنائي.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07  /  106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1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depth, neurons, and forward pass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الجدول أجندة المرحلة لا قائمة حفظ. الصف 1: ماذا تحسب الطبقة؟ الصف 2: كيف يسير الاستدلال في الرسم البياني؟ الصف 3: ماذا نحسّن؟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إذا ضاعت دقيقة، ارجع لهذا الجدول.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امشِ صفاً في حوالي دقيقة.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اطلب من متطوع أن يربط الصف الثالث بـ «الخسارة ثم التدرج».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08  /  106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جملة واحدة ثم التفاصيل. التعلّم العميق يتعلّم تعييناً بمعاملات من الدخل إلى الخرج عبر تكديس تحويلات غير خطية — أي طبقات.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«عميق» تعني عدة تحويلات متتالية: ملامح هرمية، لا قاعدة خطية عملاقة واحدة.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انظر الشبكة: كل طبقة تعيد كتابة التمثيل.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العمق تركيب لا سحر.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اطلب من متطوع إعادة صياغة الجملة الأولى بكلماته خلال ٣٠ ثانية.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09  /  106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What Is Deep Learning?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Definition in One Sentence — Then the Details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التدريب: نختار خسارة تقيس الخطأ، ثم نعدّل الأوزان بالتدرجات حتى ينخفض متوسط الخسارة على البيانات.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الهدف الحقيقي التعميم على بيانات لم تُرَ — لا حفظ مجموعة التدريب.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بخلاف خط أنابيب بملامح يدوية ثابتة، الشبكة تتعلّم تمثيلات ملائمة للمهمة: حواف ثم أنسجة ثم أجزاء ثم أجسام.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اربط بجملة: الخسارة تقول ما هو «أفضل»، والتدرج يحرّك الأوزان.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قياس النجاح بدقة التدريب فقط.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  /  106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دائماً ثلاثة مكونات. المعمارية: كيف تسير الإشارات — MLP أو CNN أو RNN أو Transformer.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الخسارة: ماذا يعني «أفضل» لمهمتك — MSE أو أنتروبيا تقاطعية.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المحسّن مع البيانات: كيف نبحث عن المعاملات وأي أمثلة نعرض.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غيّر واحداً من الثلاثة فيتغيّر سلوك النموذج.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مثال صفّي: معمارية قوية مع خسارة خاطئة تتعلّم الشيء الخطأ.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11  /  106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Three Ingredients You Always Have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Architecture · Loss · Optimizer + data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الرسم يلخّص الثلاثية. لا توجد شبكة «ذكية» من غير هدف ومن غير بيانات ومن غير طريقة بحث.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عند كل مشروع لاحق اسألوا: ما المعمارية؟ ما الخسارة؟ ما البيانات والمحسّن؟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الصناديق الثلاثة ولا تضف رابعاً اليوم (مثل الضبط الدقيق) حتى لا يتشتتوا.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من يذكر مثالاً لخسارة لا تناسب المهمة؟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12  /  106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هذه تسميات متداخلة لا مترادفة. الذكاء الاصطناعي حقل واسع: قواعد، بحث، تحسين، تعلّم، تخطيط.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التعلّم الآلي فرع من الذكاء الاصطناعي حيث يتحسّن السلوك من البيانات عبر خوارزمية، لا بقواعد مكتوبة فقط.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التعلّم العميق فرع من التعلّم الآلي يستخدم شبكات بعدّة طبقات غير خطية متعلَّمة — وتعلّم التمثيل في قلبه.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عبارة «استخدمنا الذكاء الاصطناعي» فضفاضة. الأدق: «تعلّم عميق موجَّه بشبكة التفافية».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تجادل تاريخ المصطلحات؛ ثبّت الاحتواء.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13  /  106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AI, Machine Learning, and Deep Learning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الرسم: DL داخل ML داخل AI. ليست ثلاثة بدائل على رفّ واحد.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شجرة القرار تعلّم آلي وليست تعلماً عميقاً. نظام خبير قد يكون ذكاءً اصطناعياً بلا تعلّم من بيانات.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التداخل البصري واصمت ثانية.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سؤال: هل كل شبكة عصبية «عميقة»؟ لا — العميق يعني طبقات متعددة ذات تمثيل هرمي.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14  /  106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Containment (conceptual)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Subset Relationships — Not Interchangeable Labels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الجدول أمثلة لا حصر. AI يشمل أنظمة قواعد وبحثاً كلاسيكياً وتعلماً آلياً. ML يشمل خطية وأشجاراً وSVM وشبكات ضحلة وعميقة. DL يشمل CNN وRNN وTransformer ونماذج توليدية.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الغرض: دقة اللسان عندما تصفون مشروعكم.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امشِ الصفوف بسرعة.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تمرين ٣٠ ثانية: اطلب جملة أدق من «استخدمنا AI» لمصنّف صور.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15  /  106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التعلّم العميق قوي عندما تكون البيانات كثيرة أو عندك نموذج مسبَق التدريب، والدخل عالي البعد (صورة، نص، صوت)، وتريد تركيبات تُتعلَّم من الطرف إلى الطرف.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فكّروا مرتين إذا كانت البيانات جدولية صغيرة، أو التفسير القانوني صارم، أو خط أساس بسيط يحل المشكلة، أو زمن الاستجابة على CPU ضيق بلا تحسين.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دائماً قارنوا بخط أساس قوي: انحدار لوجستي أو تعزيز تدرجي. التعقيد يجب أن يُكتسب على مقياس التحقق.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اربط الشريحة بمقدمة القسم: ليست كل مسألة تستحق شبكة عميقة.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تحدٍّ: اطلب مثالاً من عملهم حيث الشجرة أفضل من الشبكة.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16  /  106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الرسم يضع «متى يلمع» مقابل «متى تتخطاه». اقرأوه كقرار هندسي لا كولاء لتقنية.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الرسالة: طابقوا الطريقة مع البيانات والمخاطر والميزانية.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تدخل في معايير الإنتاج كلها.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متى نفضّل نموذجاً أبسط حتى لو وُجدت GPU؟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17  /  106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Use-Case Fit: When Deep Learning Shines — and When to Skip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Method to Data, Risk, and Budget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الجدول وصفات أولى لا قوانين. صور أو صوت أو نص موسوم بكثافة: مسبَق التدريب ثم ضبط. جدول صغير: أشجار أو خطي. حاجة تفسير سببي أو قانوني: أبسط أو هجين. جهاز طرفي بميلي ثانية: نموذج صغير أو مكمَّم.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الصف الأخير ليس إذناً بأكبر شبكة دائماً — السعة تحتاج تنظيماً.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امشِ صفاً واسأل: لماذا؟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بدء كل مشروع جدولي بشبكة عميقة «لأنها أحدث».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18  /  106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Why Depth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Hierarchical Representation Learning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كل طبقة تعيد كتابة ملامح الطبقة السابقة إلى فضاء أنفع. المبكرة تلتقط أنماطاً بسيطة: حواف أو رموز محلية. الوسطى تركّبها إلى أنسجة وأجزاء وعبارات. المتأخرة تجمع دلالة المهمة: جسم، نية، درجة صنف.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العمق تركيب. العرض: كم ملمحاً نحتفظ به في كل مستوى.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اربط بجملة الأسبوع الأول: الملامح اليدوية كانت الطبقة الأولى «المجمّدة». هنا الطبقات كلّها قابلة للتعلم.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ماذا يحدث إن جعلنا كل الطبقات خطية؟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19  /  106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Session 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we build today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خريطة ما نبنيه اليوم بعد المقدمة. بيرسبترون وMLP: ماذا تحسب الطبقة؟ الانتشار الخلفي: كيف نحدّث الأوزان؟ CNN: كيف نستغل البنية المكانية؟ RNN والتنظيم: التسلسل والتعميم.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استخدموا الصفوف كساعة: إن تأخرنا نختصر الأمثلة لا نقفز المعادلة.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هذا تكرار مفيد لخريطة المرحلة 1 مع توسيع لبقية الجلسة.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شرط الخروج نفسه: z = w·x + b وغير الخطية بين الطبقات.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20  /  106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خلية واحدة: مجموع موزون زائد انحياز، ثم تنشيط. المعادلة: z = wᵀx + b ثم a = f(z). الخرج قد يُستخدم كما هو أو يُمرَّر لطبقة تالية.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انظر الرسم بجانب القانون — لا تفصلوا الصورة عن الرموز.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اكتب القانون على السبورة وأشر إلى كل رمز.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تسمّه «ذكاء»؛ هو تحويل أفيني ثم دالة.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21  /  106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Single Neuron (Perceptron): Math, Weights, and Bias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z مجموع موزون للمداخل زائد b: كل xᵢ مضروب في wᵢ. الانحياز b يزيح حد القرار دون أن يديره — الاتجاه يأتي من w.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الأوزان تقول أي أنماط تثير الخلية؛ التدريب يحرّك w وb حتى تنخفض الخسارة على البيانات الموسومة.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بلا طبقة مخفية ومع تنشيط رتيب، الحد في فضاء الدخل مستوٍ — قوي ومحدود.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امشِ النقاط بالترتيب ولا تقفز للانتشار الخلفي.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سيناريو إن صمتوا: ماذا يفعل b إذا ثبّتنا w؟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22  /  106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Symbols at a Glance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Affine Map + One Nonlinearity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جدول رموز نثبتها لبقية اليوم. x متجه ملامح لمثال واحد. w بنفس الطول: اتجاه وحساسية لكل ملمح. b عدد يزيح العتبة في فضاء z. f دالة من عدد إلى عدد تدخل غير الخطية — أو هوية إن أردنا خطياً.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كرّر: الانحياز يزيح المستوي ولا يديره. الدوران من w.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اطلب شكل x وw في مثال بثلاثة ملامح.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23  /  106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 بدأت كل أوزان الطبقة متساوية — وخصوصاً أصفاراً — فكل وحدة مخفية تستقبل نفس التدرج وتبقى متطابقة للأبد. التماثل لا ينكسر.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التهيئة العشوائية تجعل كل وحدة تسلك مساراً مختلفاً فتتخصص ككاشف ملامح.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الأُطر تستخدم He لـ ReLU وXavier لـ Tanh حتى يبقى مقياس التنشيط مستقراً.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هذه رياضيات تعمل خلف PyTorch وTensorFlow؛ لا تحفظوا الثوابت اليوم بل السبب.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تهيئة الأوزان بواحد أو صفر «للوضوح».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24  /  106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الرسم يقابل تماثل الأصفار بمسارات متفرقة بعد تهيئة عشوائية.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قولوا بصوت: وحدات متطابقة تعني ملامح متطابقة — عرض بلا تنوع.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«قبل / بعد» ولا تدخل توزيعات غاوسية بالتفصيل.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سؤال: هل نهيّئ الانحياز بصفر عادة؟ نعم غالباً — المشكلة في الأوزان المتساوية.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25  /  106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He لـ ReLU: التباين 2 على عدد المداخل، لأن ReLU يصفّر نحو نصف الإشارات. Xavier لـ Tanh: 2 على مجموع المداخل والمخارج، لأن الدالة متناظرة حول الصفر.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الهدف واحد: لا يتضخّم التنشيط ولا يختفي كلما تعمّقنا.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اكتب القانونين ولا تشتقهما بالكامل.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أي تهيئة مع sigmoid؟ Xavier لا He.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26  /  106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Weight Initialization: Why Zeros Break Training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Symmetry Must Be Broken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الجدول: الأصفار لا تُستخدم للأوزان أبداً في هذه الشبكات. Xavier يناسب Sigmoid/Tanh. He يناسب ReLU وLeaky ReLU.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المشكلة التي نتجنبها مكتوبة في العمود الأوسط — اقرأوا «لماذا» لا الاسم فقط.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امشِ ثلاثة صفوف في دقيقتين.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نسخ تهيئة He مع tanh لأن «الجميع يستخدم He».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27  /  106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طبقات خطية متراكبة تختصر إلى طبقة خطية واحدة: التركيب يبقى أفيني. دوال التنشيط تمنع هذا الانهيار وتعطي الشبكة قدرة تمثيل.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الثلاث صيغ على الشريحة: sigmoid وtanh وReLU. لا تحفظوا كل الثوابت؛ افهموا الشكل والمدى.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اشرح الانهيار بجملة: W1(W2x+b2)+b1 = W_new x + b_new.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ثم: غير الخطية بين الطبقات هي سبب وجود العمق.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28  /  106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المنحنيان: sigmoid يضغط إلى (0,1) وtanh متمركز عند الصفر في (−1,1). الذيان المسطّحان يعنيان تدرجاً صغيراً — تشبّع.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هذا الرسم يمهّد لسبب تفضيل ReLU في الشبكات العميقة لاحقاً.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الذيول المسطحة وقل «هنا يموت التدرج».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تدخل مشتقات مطوّلة ما لم يُسأل.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29  /  106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Sigmoid للخروج احتمالي، لكنه يتلاشى تدرجه عند |z| كبير. Tanh أفضل غالباً في المخفي من sigmoid لأنه متمركز عند صفر، لكنه يتشبع أيضاً.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ReLU الافتراضي الحديث: رخيص، لا يتلاشى على الجانب الموجب؛ والنسخ المسربة بدائل للشبكات «الميتة».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امشِ ثلاث نقاط ولا تسوِّ بين الاستخدام كمخرج تصنيف وبين الاستخدام كمخفي.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لماذا لا نكدّس sigmoid في عشر طبقات مخفية كممارسة أولى؟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30  /  106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Functions: Sigmoid, Tanh, and ReLU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الجدول مدى واستخدام. Sigmoid: (0,1) مخرج ثنائي أو بوابات. Tanh: (−1,1) مخفي وخصوصاً في المتكرر. ReLU: من صفر إلى ما لا نهاية — افتراضي للمخفي في MLP وCNN.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عمود «الاستخدام» أهم من حفظ الصيغة.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وضع ReLU على مخرج احتمالات دون طبقة لاحقة مناسبة.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31  /  106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Sigmoid &amp; Threshold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Probability cutoff for classification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بعد sigmoid نحصل على احتمال. العتبة τ = 0.5 تفصل الصنف 0 عن 1 في أبسط قصة تصنيف ثنائي: نتنبأ بـ 1 إذا σ(z) ≥ τ.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العتبة قرار تشغيلي؛ 0.5 ليست مقدّسة إن كانت التكاليف غير متماثلة.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اربط بالتصنيف في الأسبوع الأول: العتبة تحرّك الدقة والاسترجاع.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تخلط بين العتبة والانحياز b — b داخل z، τ بعد الاحتمال.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32  /  106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Activation Curves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Nonlinearity is the Key to Network Depth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قارنوا المنحنيات معاً. الذيول المسطحة لـ sigmoid وtanh تعني تدرجات ضئيلة. ReLU خط على الموجب وصفر على السالب.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هذه الصورة تُغلق موضوع التنشيط قبل XOR: نحتاج انحناءً لا خطّاً فقط.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المنطقة المسطحة وقل «هنا التدريب ينام».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سؤال سريع: أي دالة تقتل نصف الخلايا إن كانت z سالبة دائماً؟ ReLU — وحدات ميتة.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33  /  106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XOR غير قابل للفصل الخطي في مستوى الدخل ثنائي البعد: لا خط واحد يفصل الصنف 1 عن 0 على الزوايا الأربع.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البيرسبترون الواحد يحسب نصف فضاء. XOR يحتاج مزجاً غير خطي للمداخل — وهذا ما تعطيه طبقة مخفية.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الوحدات المخفية تعيد تعيين الدخل إلى فضاء يصبح فيه الفصل خطياً. هذا حدس تعلّم التمثيل.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استخدم الجدول كإيقاع: تقريباً صف لكل دقيقة إن احتجت.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think-pair-share ٣٠ ثانية: أي نقطة ستطبّقونها أولاً؟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34  /  106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The XOR Problem: Why Hidden Layers Are Logically Necessary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Why a single line cannot solve XOR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الرسم: أربع نقاط، وخط يفشل، ثم بعد الطبقة المخفية يصبح القطع ممكناً.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قولوا: الطبقة المخفية لا «تحفظ الجدول» سحرياً — تعيد تشكيل الفضاء.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ارسم XOR على السبورة إن صغُر الرسم من بعيد.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هل يكفي توسيع بيرسبترون واحد بلا مخفي؟ لا.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35  /  106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XOR Truth 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Four Points, One Nonlinear Rule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أربع حالات فقط. 0 و0 تعطي 0. المختلفان يعطيان 1. 1 و1 تعطي 0. القاعدة غير خطية رغم بساطتها.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أي نموذج خطي في x1 وx2 يفشل على هذا الجدول.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اقرأ الصفوف بصوت عالٍ مرة واحدة.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اربط: الوحدات المخفية تعيد التمثيل حتى يصير XOR قابلاً للفصل.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36  /  106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الطبقة المخفية: تحويل أفيني ثم غير خطية فتصبح الملامح h. المخرج: تحويل أفيني آخر ثم تنشيط الخرج τ.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القانون: h = φ(W1 x + b1) و ŷ = τ(W2 h + b2). انظر المعمارية بجانب الصيغة.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اكتب φ وτ على السبورة: مخفي مقابل مخرج.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هذه أول مرة يظهر «عمق = تركيب ملامح غير خطية».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37  /  106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كل طبقة مخفية: أفيني ثم غير خطية، فملامح جديدة دوال للدخل الأصلي. العرض مقابل العمق مقايضة: سعة، بيانات، حساب، وصعوبة تحسين.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التقريب الشامل بعبارة عريضة: طبقة مخفية عريضة جداً تقارب دوالاً كثيرة — وفي الواقع العمق مع انحياز معماري يربح.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اطلب من متطوع إعادة صياغة النقطة الأولى.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تعد بأن MLP يحل كل شيء؛ CNN وRNN انحياز للبيانات.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38  /  106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From Perceptron to MLP (Multi-Layer Perceptron)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= Composed Nonlinear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عرض المخفي: كم ملمحاً غير خطي مستقل في الطبقة. العمق: كم مستوى تركيب — حواف فأنسجة فمعنى. الوصلات التخطّية تسهّل التحسين في الشبكات العميقة جداً — سنراها في ResNet.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عمود «ماذا يتحكم» هو الدرس.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تدخل ضبطاً مفرطاً للهيبَرباراميتر الآن.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39  /  106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Neural Network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هذا رسم الشبكة للاتجاه الأمامي. الإشارة تدخل من اليسار وتخرج تنبؤاً من اليمين. سُمك الحافة يلمّح إلى مقدار الوزن.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الاستدلال في الإنتاج هو هذا الاتجاه فقط: لا خسارة ولا تدرج حتى ندرّب.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مسار مثال واحد تخيّلي: دخل → مخفي → خرج.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تشرح التدرج على هذا الرسم؛ ذلك الشرائح التالية.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40  /  106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المرور الأمامي: اغذِّ x عبر كل طبقة بالترتيب حتى اللوجيتات أو الدرجات، ثم softmax إن أردنا احتمالات صنف.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تنفيذاً هذا رسم حسابي: كل عملية — ضرب مصفوفات أو ReLU — تعرف كيف تمرّر القيمة للأمام.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التدريب يكرر المرور على دفعات صغيرة: كفاءة وضجيج تدرج قد يساعد التعميم.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think-pair-share: أي جملة ستطبّقونها أولاً عند كتابة كود؟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ظن أن softmax جزء من كل شبكة حتى في الانحدار.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41  /  106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The Engine of Inference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ثلاث خطوات تُكرَّر. 1: z = Wx + b مجموع موزون. 2: a = f(z) ملمح غير خطي للطبقة التالية. 3: كرّر أو رأس المهمة: لوجيتات أو قيمة انحدار.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هذا الجدول هو ما يُكتب في حلقة التدريب قبل loss.backward.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أين تدخل غير الخطية؟ الخطوة 2 لا 1.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42  /  106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Forward Propagation: The Engine of Inference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Linear → Activation → Head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المسار مبسّط: خطي ثم تنشيط ثم رأس. التدريب يعيد هذا على الدفعات. الرسم نفسه لاحقاً يعرف كيف يعيد التدرجات للخلف.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أغلقوا المرحلة الذهنية: الاستدلال أمام، التعلّم يحتاج خسارة ثم خلفاً.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اربط بـ «المحرك»: بلا أمام لا يوجد تنبؤ؛ بلا خلف لا يوجد تعلّم.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 بقي وقت: اطلب ترتيب العمليات لمثال رقمين.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43  /  106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الانحدار: متوسط مربع الخطأ. القانون على الشريحة. يعاقب الأخطاء الكبيرة بقوة لأنه تربيعي، وقابل للاشتقاق في كل مكان — كلاسيكي للأهداف المستمرة.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في قصة احتمالية يفترض ضجيجاً شبيهاً بغاوس؛ والشواذ قد تهيمن — Huber بديل أصلب.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طابق الخسارة مع نوع الخرج: أرقام مستمرة → MSE غالباً.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استطلاع: من استخدم MSE في عمل حقيقي؟ قصة قصيرة واحدة إن وُجدت.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44  /  106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التصنيف: أنتروبيا تقاطعية. نقارن الاحتمالات المتوقعة بالتوزيع الحقيقي — one-hot أو تسميات ناعمة.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تتناسب طبيعياً مع softmax في المخرج. التدرجات أفضل إن نُفّذت في فضاء اللوغاريتم مع اللوجيتات — استقرار عددي.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تضعوا MSE على احتمالات أصناف كخيار أول.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اذكر log-softmax بجملة واحدة دون اشتقاق.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45  /  106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الرسم يقابل المهمتين. اليسار انحدار بمسافة تربيعية. اليمين تصنيف باحتمال مقابل تسمية.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جملة الهبوط: طابقوا الخسارة مع الخرج والمهمة.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تضف خسائر جديدة (focal وغيرها) إلا إن سُئلت.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أي خسارة لصورة من عشرة أصناف؟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46  /  106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Loss Functions: MSE vs Cross-Entropy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Match the Loss to the Output and Task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وصفات شائعة. انحدار: مخرج خطي مع MSE أو Huber. ثنائي: sigmoid مع أنتروبيا ثنائية. متعدد: softmax مع أنتروبيا تقاطعية.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غالباً نمرّر لوجيتات خام للإطار ليستقر الحساب.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هذا جدول تذكرة قبل كود المعمل.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softmax ثم MSE.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47  /  106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الانتشار الخلفي هو قاعدة السلسلة على الرسم الحسابي. القانون: ∂L/∂w = (∂L/∂z)(∂z/∂w). نحسب المرافِقات من المخرج إلى الخلف على كل موتّر وسيط.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فهم backprop = فهم أي المسارات تحمل تدرجاً وأي تنشيطات تشبّعت.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اكتب السلسلة على السبورة لمسار قصير: خسارة ← z ← w.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تطلب اشتقاق شبكة كاملة يدوياً.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48  /  106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الأمام يحسب التنبؤ. الخلف يحمل ∂L/∂w على كل مسار. انظروا الأسهم: القيمة تذهب يميناً، واللوم يرجع يساراً.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 انقطع مسار — تنشيط مشبع أو صفر ReLU — يصغر التدرج هناك.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الاتجاهين بوضوح.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سؤال: لماذا لا نشتق كل وزن من الخسارة مباشرة كصيغة عملاقة؟ لأن الرسم يعيد استخدام الحسابات.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49  /  106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الاشتقاق العكسي فعّال عندما تصبّ معاملات كثيرة في خسارة عددية واحدة — وهذا حال الشبكات.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PyTorch وJAX وTensorFlow تبني الرسم وتنفّذ ذلك. أنتم ما زلتم تدققون الأشكال والاستقرار العددي وتلاشي التدرج.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فهم المسارات أهم من حفظ اسم autodiff.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 صمتوا: اسألوا أين يموت التدرج في sigmoid.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50  /  106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Backpropagation: Chain Rule on the Computational Graph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Chain along paths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فكرتان تنفيذيتان. التعبيرات المشتركة: قيم الأمام تُعاد استخدامها والخلف يزور كل حافة مرة. الترتيب الطوبولوجي: نزور العقدة بعد خلفائها — برمجة ديناميكية على الرسم.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هذا يبرر لماذا الإطار «سريع» رغم ملايين المعاملات.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تدخلوا autograd internals أعمق من هذا.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51  /  106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Stable Optimization + Generalization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المرحلة 2 حوالي ٤٠ دقيقة: فن التدريب. تشخيص الملاءمة، التحكم بالتدرجات، اختيار المحسّن، التوحيد، والتنظيم.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النماذج الجيدة ليست «كبيرة» فقط — تطابق السعة مع البيانات، تراقب التحقق بأمانة، وتفشل بشكل مرئي عندما يحدث خطأ.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بعد النظرة العامة ادخل أول شريحة تقنية بلا فاصل طويل.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الجدول لاحقاً أجندتكم.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52  /  106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Stable Optimization + Generalization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نعود لمخطط المراحل: نحن في مربع التحسين لا مربع المعمارية بعد. الاستقرار والتعميم قبل CNN.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من يدخل CNN وهو لا يقرأ منحنى التحقق يضيّع المرحلة.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المرحلة 2 فقط.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ما الفرق بين سؤال المرحلة 1 وسؤال المرحلة 2؟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53  /  106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2: Optimization &amp; Training Strategy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What you will control in practice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ثلاثة حقول تتحكمون بها عملياً. التحسين: SGD وAdam وقص التدرج. الاستقرار: Batch Norm ومسارات متبقية وتهيئة. التعميم: dropout وتضاؤل أوزان وإيقاف مبكر.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هذه خريطة بقية الساعة.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ضبط المحسّن ونسيان قراءة train مقابل val.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54  /  106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نقص الملاءمة: خطأ التدريب والتحقق مرتفعان — النموذج أبسط من اللازم، أو الملامح ضعيفة، أو التحسين عالق (تعلّم صغير، خسارة خاطئة).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ملاءمة جيدة: الخطأان منخفضان ويتتبعان بعضهما؛ فجوة صغيرة طبيعية.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فرط ملاءمة: تدريب ينخفض وتحقق يسوء — النموذج يحفظ ضجيج المجموعة.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هذا أهم رسم تشخيص في الجلسة.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استطلاع: من رأى منحنى تحقق يرتفع بينما التدريب ينهار للأسفل؟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55  /  106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المنحنيات: فجوة صغيرة طبيعية. الفجوة التي تتسع فرط ملاءمة. إن بقي الاثنان عاليين فنقص لا فرط.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علّموهم قراءة الشكل قبل تغيير عشرة هيبَرباراميترات.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ثلاثة أنظمة إن وُجدت على الرسم.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إضافة dropout لنموذج ناقص الملاءمة فيزيد الأمر سوءاً.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56  /  106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Training Diagnostics: Underfitting, Good Fit, and Overfitting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Read Train vs Validation Behavior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الجدول استجابة لا تسمية فقط. نقص: زِد سعة أو ملامح أو تدريب أو معدّل بحذر. جيد: أبقِ التنظيم. فرط: بيانات أكثر، dropout، تضاؤل، أبسط، إيقاف مبكر.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عمود «ماذا تفعل» هو الامتحان العملي.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 ٣٠ ثانية: منحنى تحقق يرتفع — أي صف؟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57  /  106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التلاشي: الخلف يضرب عوامل أصغر من 1 مراراً — sigmoid/tanh مشبعان أو تهيئة ضعيفة — فالطبقات المبكرة لا تكاد تتعلّم.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الانفجار: عوامل أكبر من 1 أو أوزان كبيرة فقفزات هائلة وخسارة NaN.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العلاج طبقات: متبقيات، ReLU، He/Xavier، توحيد، وقص تدرجات.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اربط بمقدمة العمق: العمق يضاعف اليعقوبيّات.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تحدٍّ: جملة تربط هذه الشريحة بسبب وجود ResNet لاحقاً.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58  /  106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الرسم يقابل إشارة تختفي مع إشارة تنفجر. كلاهما فشل ضرب متكرر عبر العمق.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ليست «أخطاء برمجة» فقط — هندسة المعمارية جزء من الحل.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تدخل إثباتات طيفية.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سؤال: لماذا ReLU يساعد التلاشي على الجانب الموجب؟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59  /  106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Vanishing and Exploding Gradients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 Multiplies Jacobians Layer by Layer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أعراض. طبقات مبكرة لا تتحرك: تلاشٍ عبر وحدات مشبعة — ReLU وHe ومتبقيات وتوحيد. خسارة إلى NaN سريعاً: انفجار أو معدّل كبير — قص وخفّض المعدّل. استقرار ثم انفجار: دفعة سيئة أو دقة مختلطة — تحقق محدود وقص.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علّمهم قراءة العرض لا حفظ الاسم.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رفع المعدّل عندما يكون التلاشي هو المشكلة.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60  /  106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 مع الزخم: يجمع التحديثات في متجه سرعة فيخفّف التذبذب في الأودية ويسرّع مع الاتجاه الثابت.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Adam يتتبع العزم الأول والثاني لتكييف معدّل كل معامل حسب تاريخ تدرجه.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SGD+زخم شائع في الرؤية للتعميم؛ Adam نقطة انطلاق للنصوص وMLP. معدّل التعلّم أهم هيبَرباراميتر — ابحثوه لوغاريتمياً: 1e-4 و1e-3 و1e-2.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أكدوا: Adam لا يلغي الحاجة لاختيار η.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تشتقوا لحظات Adam بالكامل ما لم يُسأل.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61  /  106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الرسم حدس المسار في سطح الخسارة: SGD يتذبذب، الزخم ينعّم، Adam يتكيّف لكل بعد.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القصة البصرية أهم من الاسم التجاري للمحسّن.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المسارات ولا تَعِد بأن Adam «دائماً أسرع إلى تعميم أفضل».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في الرؤية قد يفوز SGD+زخم على المدى الطويل.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62  /  106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القانون الأساس: θ ← θ − η ∇θ L. η معدّل التعلّم. كل محسّن لاحق زخرفة على هذه الخطوة.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 كبرت η تقفزون فوق الحوض؛ وإن صغرت تزحفون.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اكتب القانون وكبّر η.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ماذا يحدث إن كانت η = 0؟ لا تعلّم.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63  /  106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Optimizers: SGD and Adam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Learning rate, Momentum, and Adaptive Steps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Vanilla SGD نادراً وحده اليوم. مع زخم: معيار شبكات الرؤية. Adam: افتراضي متين لنص وجدولي وMLP لأنه يكيّف المعدّل لكل وزن.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آلية Adam: تاريخ التدرج — ليست سحراً منفصلاً عن 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امشِ ثلاثة صفوف.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Adam بمعدّل 0.1 كما لو كان SGD على بيانات مقيّسة.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64  /  106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قبل BN: تذكير بمقياس الملامح. إن اختلفت مقاييس الدخل أو التنشيط يصعب التحسين. التوحيد يجعل القنوات في مدى متقارب.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هذه الشريحة تمهيد بصري لصيغة BN التالية.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اربط بأسبوع 1: standardization للملامح. هنا نطبّق فكرة مشابهة داخل الشبكة.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تخلط مع تطبيع بيانات الصورة ImageNet mean/std — ذلك قبل الشبكة.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65  /  106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Batch Norm: لكل قناة نوحّد عبر الدفعة (وأبعاد المكان في CNN) ثم نتعلّم مقياساً γ وإزاحة β.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القانون: اطرح متوسط الدفعة، اقسم على انحرافها، ثم y = γ x̂ + β. يستقر التنشيط الداخلي فيسمح بمعدّلات أعلى ويقل الاعتماد على تهيئة دقيقة.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البديل Layer Norm: توحيد عبر الملامح لكل مثال — شائع في Transformer والمتسلسل.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think-pair-share: متى يفشل BN؟ دفعات صغيرة جداً.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تدخل إحصاءات الاستدلال المتحركة إلا بجملة.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66  /  106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الرسم BN مقابل LN. BN يحتاج دفعة ليحسب μ وσ. LN لا يعتمد على أمثلة أخرى في الدفعة — مناسب لتسلسل ونص.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اختيار التوحيد جزء من المعمارية لا «حيلة إضافية» فقط.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محور التوحيد: عبر الدفعة أم عبر الملامح.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سؤال: لماذا Transformer يفضّل LN؟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67  /  106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Normalization: Batch Normalization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Stabilize Activations and Speed Up Deep Training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صف BN: عبر الدفعة والمكان — مصنّفات CNN وResNet. صف LN: عبر ملامح المثال أو الرمز — Transformer وRNN.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احفظوا البعد الذي نوحّد عليه لا الاسم فقط.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دقيقة للجدول.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Batch Norm داخل RNN بنفس عقلية الصورة.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68  /  106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التنظيم يقيّد السعة حتى لا نحفظ الضجيج. Dropout يطفئ وحدات عشوائياً أثناء التدريب. تضاؤل الأوزان يعاقب الأوزان الكبيرة. الإيقاف المبكر يقطع عندما يفسد التحقق.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انظر dropout في الرسم ثم نفصّل.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جملة الهبوط: التنظيم للتعميم لا لرفع دقة التدريب.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اربط بتشخيص الفرط قبل دقائق.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69  /  106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ثلاث أدوات تكمل بعضاً. Dropout: شبكة فرعية كل دفعة فتقل الاعتماد على وحدة واحدة. Weight decay: قيد على المقياس. Early stopping: استخدموا منحنى التحقق كحَكَم.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في الاستدلال نغلق Dropout — مثلاً model.eval() في PyTorch — حتى يكون التنبؤ حتمياً.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أكدوا eval مقابل train بصوت عالٍ.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ترك dropout يعمل عند الاختبار فتتذبذب النتائج.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70  /  106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منحنى الإيقاف المبكر: نراقب التحقق ونأخذ أفضل نقطة لا آخر حقبة. التدريب الأطول ليس دائماً أفضل.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هذا يربط التنظيم بالقراءة لا بزر سحري.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نقطة التوقف على الرسم.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إن استمر التدريب بعد اتساع الفجوة فماذا نسمّي ذلك؟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71  /  106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Regularization: Dropout, Weight Decay, and Early Stopping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Constrain Capacity to Prevent Overfitting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ثلاث تقنيات وعمود الاستدلال. Dropout: يقطع روابط عشوائياً أثناء التدريب ويُغلق عند الاختبار (الأوزان تُقاس). تضاؤل L2: يصغّر الأوزان ويبقى أثره في الأوزان الثابتة. الإيقاف المبكر: نقطع عند أفضل تحقق ونحفظ نقطة الفحص.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الدرس العملي: ما يعمل في train قد يُطفأ في eval — وDropout أشهر مثال.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امشِ عمود Inference behavior ببطء.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هل Dropout يعمل وقت التنبؤ؟ لا.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72  /  106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3: Specialized Architectures (Vision &amp; Sequences)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Images vs Ordered Sequences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المرحلة 3 حوالي ٤٠ دقيقة: المعمارية تتبع بنية البيانات. الصورة لها جوار مكاني؛ النص والصوت لهما ترتيب زمني.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 تشارك المرشحات عبر المكان. RNN تشارك الأوزان عبر الزمن. MLP يتجاهل الاثنين ما لم نصمّم الملامح يدوياً.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بعد النظرة العامة ادخل شريحة الصورة بلا خطبة جديدة.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الجدول أجندة المرحلة.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73  /  106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3: Specialized Architectures (Vision &amp; Sequences)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Images vs Ordered Sequences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المخطط: انتقلنا من «كيف ندرّب» إلى «بماذا نلائم البيانات». الرؤية يساراً والتسلسل يميناً في أذهانكم حتى نهاية الجلسة.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المرحلة 3.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لماذا لا نعامل الصورة كمتجه مسطّح دائماً؟ نفقد الجوار.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74  /  106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3: Specialized Architectures (Vision &amp; Sequences)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Images vs Ordered Sequences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صفّان حسب الوسيط. صورة أو فيديو: شبكة مكانية — Conv2D وتجميع وكتل متبقية. نص أو كلام أو حسّاسات: رموز أو خطوات زمن — RNN/GRU/LSTM أو التفاف سببي أو انتباه.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اختاروا الانحياز الاستقرائي الصحيح بدل تكبير المعمارية الخطأ.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عمود Representative layers هو جسر المعمل.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إشارة للأمام فقط: الانتباه سيظهر لاحقاً في NLP وGenAI.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75  /  106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الحاسوب لا «يرى» جسماً. صورة ملونة عادة موتّر H×W×3؛ كل خانة شدة تُكمَّم ثم نطبّع.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المعنى في الجوار: رقعة صغيرة حافة، سياق أكبر جسم. الزيادة (قص، قلب، لون) تعلّم الثبات؛ التوحيد (متوسط/انحراف ImageNet مثلاً) يثبّت التحسين.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اربط بمقدمة القسم: بيانات خام عالية البعد.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إدخال 0–255 بلا مقياس في شبكة مسبَقة التدريب.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76  /  106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رسم الموتّر: ارتفاع وعرض وقنوات. الدفعة تضيف بُعداً رابعاً: N×C×H×W في PyTorch.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قولوا القنوات بصوت: أحمر أخضر أزرق — ليست «لوناً واحداً سحرياً».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الأبعاد بالترتيب المستخدم في الإطار.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أين القناة في شكل الصورة؟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77  /  106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معمارية CNN بالعين: جذع التفاف، كتل تتعلّم ملامح، ثم رأس تصنيف. هذا ما سنفككه في الشرائح التالية: نواة، تجميع، ثم ResNet.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تفصّل كل صندوق؛ ثبّت التدفق مكانياً فدلالياً.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امسح الرسم من الدخل إلى الخرج في ١٥ ثانية.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سيأتي التفصيل؛ هذه خريطة.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78  /  106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79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Image Data: How Computers “See” Pixels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Tensors, Channels, and Local Structure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ثلاث مراحل بيانات. حسّاس: شدات مكمَّمة. تجهيز: تغيير حجم وقص وتوحيد وزيادة. دخل النموذج: دفعة × قنوات × H × W إلى التفافات الجذع.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كثير من فشل التدريب يبدأ هنا لا في Adam.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لماذا القص العشوائي زيادة لا ضياع بيانات فقط؟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79  /  106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النواة مصفوفة صغيرة قابلة للتعلم — غالباً 3×3 — تستجيب لنمط محلي. عدة نوى تعطي رزمة خرائط ملامح.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كواشف الحافة الكلاسيكية مثل Sobel نوى ثابتة؛ CNN تتعلّم نوى المهمة من البيانات.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التكدّس يوسّع الحقل الاستقبالي: المبكر حواف، المتأخر أجزاء ودلالة.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 صمتوا: اسألوا ماذا يحدث إن كانت النواة كلّها واحداً؟ تعميم محلي.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تشتقوا الالتفاف كنظرية إشارات.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80  /  106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81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الالتفاف: النواة تنزلق، ضرب فجمع، فخريطة استجابة. نفس الأوزان في كل موضع — مشاركة مكانية.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هذا سبب قلة المعاملات مقابل MLP مسطّح على البكسلات.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الانزلاق بإصبعك.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سؤال: ماذا نربح من مشاركة الوزن؟ ترجمة تقريبية وكفاءة.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81  /  106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82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Sobel مثال لنواة حافة ثابتة. CNN لا تثبت Sobel — لكنها قد تتعلّم شيئاً يشبهه في الطبقات الأولى.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الدرس: المرشح أداة حساسية محلية، متعلَّم أو مصمَّم.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أظهر اتجاه الحافة على الرسم.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تطالبوا بحفظ مصفوفة Sobel.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82  /  106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83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هيبَرباراميترات الالتفاف على الرسم: حجم النواة، الخطوة stride، والحشو padding. الخطوة أكبر من 1 تصغّر المكان. الحشو يحفظ الحجم أو يتحكّم بالحدود.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هذه أزرار تشكل شكل الخريطة التالية.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اربط بشكل الموتّر: C وH وW تتغيّر حسب هذه الخيارات.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نسيان أن عدد المرشحات يغيّر القنوات الخارجة.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83  /  106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84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Convolution: Kernels, Edge Filters, and Feature Maps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Sliding Linear Filters + Nonlinearity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الجدول. حجم النواة: حجم الجوار المباشر. الخطوة: إنزال مكاني. الحشو: نفس الحجم أو السيطرة على الحافة.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3×3 شائع لأنه رخيص ويُكدَّس لعمق استقبالي.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دقيقة للثلاثة صفوف.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stride=2 يفعل ماذا لحجم الخريطة تقريباً؟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84  /  106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85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From Conv-Pool to ResNet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Regularization, and Residual Learning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الكتلة المتبقية: y = F(x) + x. الشبكة تتعلّم التعديل F بينما الهوية تحمل التدرج.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هذا علاج عملي لتلاشي الإشارة في الشبكات العميقة جداً — ربط مباشر بمرحلة التحسين.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اكتب y = F(x)+x وكبّر علامة الجمع.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الهوية ليست «غشاً» — مسار تدرج نظيف.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85  /  106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86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From Conv-Pool to ResNet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Regularization, and Residual Learning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التكديس الكلاسيكي: التفاف فتنشيط فتجميع يختصر المكان ويعمّق الملامح.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انظروا تتابع الصناديق: هذا هيكل AlexNet-ish قبل القفزة إلى المتبقيات.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امسح العمق من الجذع إلى الرأس.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التجميع يضحّي بالدقة المكانية لقاء ثبات وإيجاز.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86  /  106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87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From Conv-Pool to ResNet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Regularization, and Residual Learning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كتلة ResNet: فرع يحسب F وفرع يمرّر x ثم جمع. إن كان F قريباً من الصفر فالطبقات العميقة لا تؤذي الإشارة.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لذلك أمكن تدريب مئة طبقة بعد 2015.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الاختصار skip.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أين يذهب التدرج إن كانت F مشبعة؟ عبر x.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87  /  106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88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From Conv-Pool to ResNet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Depth, Regularization, and Residual Learning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CNN القياسي: Conv2D ثم ReLU ثم MaxPool. AlexNet 2012: أول فوز واسع على ImageNet بـ ReLU وdropout وGPU. ResNet 2015: وصلات تخطّي فتدريب بمئة طبقة.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احفظوا الفكرة لا سنة الامتحان.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امشِ ثلاث محطات تاريخية كأدوات لا كتاريخ للتباهي.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skip يحل تدرج العمق — أعيدوا الجملة.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88  /  106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89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CNN Blocks: From Conv-Pool to ResNet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Landmark ideas (simplified)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ما تتذكرونه. Conv+MaxPool: استخراج وإنزال. AlexNet: مقياس وReLU وزيادة على GPU. ResNet: F(x)+x ومسارات تدرج.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هذا جدول «فكرة واحدة لكل اسم».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أغلق الرؤية قبل الانتقال للتعلّم بالنقل.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تفتحوا EfficientNet إلا إن سُئلتم.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89  /  106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90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التدريب المسبق على ملايين الصور — ImageNet مثلاً — يعلّم مرشحات منخفضة ومتوسطة قابلة للنقل: حواف وأنسجة.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الوصفة: استبدلوا رأس التصنيف. جمّدوا الجذع إن كانت بياناتكم قليلة، أو اضبطوا بمعدّل صغير إن كبرت البيانات.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هذا يختصر الزمن والعيّنات الموسومة لمهمة رؤية جديدة.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 صمتوا: سيناريو «200 صورة قطط» مقابل التدريب من صفر.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تعدوا أن النقل يغني عن تنظيف البيانات.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90  /  106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91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الرسم: جذع جاهز ورأس جديد. المعرفة تنتقل في المرشحات لا في أسماء الأصناف القديمة.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رأس ImageNet ذو ألف صنف يُرمى؛ الملامح تبقى.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القطع بين الجذع والرأس.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سؤال: ماذا نجمّد أولاً عندما تقل البيانات؟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91  /  106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92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Transfer Learning with Pretrained Models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Reuse Features, Adapt the Head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حجم الهدف يحدّد الجرأة. صغير: جمّد الجذع ودرّب الرأس. متوسط: اضبط الكتل العليا بمعدّل أصغر. كبير: ضبط كامل بمعدّل صغير.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المعدّل الصغير يحمي المرشحات المفيدة من الهدم.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امشِ ثلاثة صفوف كسياسة لا كقانون فيزياء.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Fine-tune كامل بمعدّل Adam الافتراضي العالي على بيانات قليلة.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92  /  106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93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للتسلسل قانون انتقال واحد يُفرد عبر الزمن: hₜ = φ(W_hh hₜ₋₁ + W_xh xₜ + b).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نفس الأوزان في كل خطوة. الحالة hₜ ملخص للماضي. هذا انحياز زمني مقابل انحياز CNN المكاني.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اكتب القانون وأشر إلى h السابق.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الفرد عبر الزمن = شبكة عميقة بعدد الخطوات — ومن هنا التلاشي.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93  /  106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94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الرسم الفرد: كل مربع نفس الخلية. الدخل يتوالى، والحالة تجري على الشريط.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التدريب خلف عبر الزمن يشبه ضرب مصفوفة الوزن عشرات المرات — لذلك الجمل الطويلة صعبة على RNN الخام.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التكرار لا إلى «ذاكرة سحرية».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جملة يجب أن تُسمع: 50 خطوة ≈ 50 ضرباً للمصفوفة.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94  /  106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95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النص والصوت والحساسات لها ترتيب؛ خلطهم يكسر المعنى. RNN تحفظ متجه حالة كملخص. مشاركة W كفاءة في المعاملات، لكن الاعتمادات الطويلة تتلاشى أو تنفجر.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أكدوا: الكفاءة لا تساوي ذاكرة طويلة.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 صمتوا: مثال جملة الشرط في أولها والجواب في آخرها.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95  /  106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96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Sequential Data &amp; Vanilla RNNs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One Transition, Unfolded Through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الميزات والقيود. مشاركة المعاملات: لا يمكن موازاة الخطوات بسهولة. تتبع hₜ: عملياً لا يحتفظ بذاكرة بعيدة. هذا يمهّد LSTM.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صفّان يكفيان.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الانتقال الطبيعي: نحتاج مساراً جمعياً للحالة — الخلية في LSTM.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96  /  106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97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LSTM: حالة خلية cₜ تسير بمسار جمعي فتخفّف تلاشي الإشارة مقارنة بـ tanh RNN الخام.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ثلاث بوابات على الرسم: نسيان، إدخال، إخراج. انظروا تدفق c الأفقي — هذا «الشريط الناقل».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c قبل البوابات.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تطلبوا حفظ كل σ وtanh في الخلية من أول عرض.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97  /  106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98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بوابة النسيان تقرر كم نمسح من الماضي. الإدخال مع المرشح يكتب معلومات جديدة. الإخراج يصفّي ما يظهر كـ hₜ للخطوة التالية.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الذاكرة الطويلة ليست ملفاً — هي مسار جمعي تتحكّم به بوابات.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امشِ ثلاث جمل بالترتيب على الرسم.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 صمتوا: متى نريد أن ننسى؟ عند تغيّر الموضوع في النص.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98  /  106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99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LSTM: Gates for Long-Term Memory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Forget, Input, Output — Cell State Flows Linearly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fₜ تمسح ما لا يلزم. iₜ تسمح بدخول المرشح الجديد. oₜ تُظهر جزءاً من الخلية كـ hₜ.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احفظوا الدور الحدسي؛ الصيغ في المعمل.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دقيقة للثلاثة صفوف.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خطأ شائع: اعتبار hₜ هو الذاكرة الطويلة — الطويلة أقرب إلى cₜ.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99  /  106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100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4: Generative Models &amp; Reconstruction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Models and Representation Learning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المرحلة 4 قصيرة: حوالي ١٥ دقيقة. تمثيل بلا تسمية صريحة، وإعادة بناء.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المرمّز التلقائي الأساس: ضغط إلى عنق زجاجة ثم إعادة تكوين الدخل. الخسارة تعاقب الفشل في استعادة x.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تفتحوا GAN أو انتشاراً اليوم إلا إشارة.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ثبّتوا: الهدف x̂ ≈ x لا تسمية صنف.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100  /  106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101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Phase 4: Generative Models &amp; Reconstruction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Generative Models and Representation Learning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صف واحد يكفي فكرياً: دخل غير موسوم x، هدف ضغط وإعادة بناء. هذا يختلف عن المصنّف الذي يريد y.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العنق يجبر تمثيلاً مختصراً.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اقرأوا الأعمدة: مفهوم، دخل، هدف.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تحقق: هل نحتاج تسميات أصناف لـ AE؟ لا.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101  /  106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102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Autoencoders (AE): Compression and Reconstruction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 → Bottleneck → Decoder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الرسم: مرمّز إلى z ثم فاك إلى x̂. الوسط أضيق — عنق الزجاجة.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 نجح إعادة البناء فالرمز z يحمل ما يكفي من x. إن فشل على نقطة فشذوذاً محتملاً.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الضيق في الوسط.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هذه صورة كل متغيرات AE التالية.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102  /  106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103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Autoencoders (AE): Compression and Reconstruction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 → Bottleneck → Decoder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المرمّز f يعطي z = f(x). الفاك g يعيد x̂ ≈ x. العنق يفرض ضغطاً — مفيد لإزالة الضجيج (ضجيج→نظيف) ولاكتشاف الشذوذ (خطأ إعادة بناء عالٍ).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AE خطي مع MSE يقترب من PCA في شروط معينة؛ غير الخطي يتعلّم متشعباً منحنياً.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استطلاع: من رأى إعادة بناء في كشف عطل؟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تساووا AE بـ «توليد صور فنية» — ذلك أبعد.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103  /  106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104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7132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Autoencoders (AE): Compression and Reconstruction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700784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Encoder → Bottleneck → Decoder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084832"/>
            <a:ext cx="10972800" cy="2315809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2194560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523744"/>
            <a:ext cx="10460736" cy="1748881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متغيرات. إزالة الضجيج: أفسد الدخل وأعد النظيف. متناثر: عقوبة على التنشيط لرموز مفيدة. تقلّصي: عقوبة حساسية الرمز لتغيّر صغير في الدخل — خريطة أنعم.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528657"/>
            <a:ext cx="10972800" cy="1844710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638385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967569"/>
            <a:ext cx="10460736" cy="127778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فكرة واحدة لكل صف.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أغلقوا المرحلة 4: تمثيل وإعادة بناء، لا مصنّف.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104  /  106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105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3 Ideas to Keep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Leave with these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ثلاث جمل تخرجون بها. الأولى: العصبون z = wᵀx + b ثم a = f(z)، والعمق يحتاج غير خطية بين الطبقات.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الثانية: الانتشار الخلفي قاعدة سلسلة على رسم؛ راقبوا التلاشي ومعدّل التعلّم وقطار مقابل تحقق.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الثالثة: CNN تشارك مرشحات المكان، RNN تشارك أوزان الزمن، وننظّم حتى نعمّم.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إن نسيتم التفاصيل غداً ابقوا على هذه الثلاث.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اقرأوا الثلاث ببطء ولا تضيفوا رابعة.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اطلبوا من ثلاثة طلاب إعادة جملة واحد لكل فكرة.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105  /  106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136831" y="0"/>
            <a:ext cx="54864" cy="6858000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etra-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320" y="411480"/>
            <a:ext cx="1206201" cy="3200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38912"/>
            <a:ext cx="7772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S07 · دليل المحاضر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822960"/>
            <a:ext cx="11064240" cy="10972"/>
          </a:xfrm>
          <a:prstGeom prst="rect">
            <a:avLst/>
          </a:prstGeom>
          <a:solidFill>
            <a:srgbClr val="E4DC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38160" y="438912"/>
            <a:ext cx="23317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2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106 / 106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987552"/>
            <a:ext cx="1097280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490472"/>
            <a:ext cx="109728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Labs: code/15- Deep Learning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1874520"/>
            <a:ext cx="10972800" cy="2429377"/>
          </a:xfrm>
          <a:prstGeom prst="roundRect">
            <a:avLst>
              <a:gd name="adj" fmla="val 10000"/>
            </a:avLst>
          </a:prstGeom>
          <a:solidFill>
            <a:srgbClr val="EEE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984248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قل للطلاب: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2313432"/>
            <a:ext cx="10460736" cy="186244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شكراً لكم. المعمل في code/15- Deep Learning: طبّقوا الخلية، المرور الأمامي، والخسارة، ثم نموذجاً صغيراً للصورة أو التسلسل حسب الدفتر.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الشرائح الإنجليزية مرجعكم؛ هذا الدليل كان لصوتي اليوم.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إلى اللقاء في الجلسات التالية من المعسكر.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431913"/>
            <a:ext cx="10972800" cy="1941454"/>
          </a:xfrm>
          <a:prstGeom prst="roundRect">
            <a:avLst>
              <a:gd name="adj" fmla="val 10000"/>
            </a:avLst>
          </a:prstGeom>
          <a:solidFill>
            <a:srgbClr val="F5F1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4541641"/>
            <a:ext cx="10460736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400" b="1" rtl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توضيح: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4870825"/>
            <a:ext cx="10460736" cy="137452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أشر إلى مسار المجلد حرفياً حتى لا يضيعوا في code/.</a:t>
            </a:r>
          </a:p>
          <a:p>
            <a:pPr algn="r" rtl="1">
              <a:spcAft>
                <a:spcPts val="600"/>
              </a:spcAft>
            </a:pPr>
            <a:r>
              <a:rPr sz="1600" b="0" rtl="1">
                <a:solidFill>
                  <a:srgbClr val="121018"/>
                </a:solidFill>
                <a:latin typeface="DIN Next LT W23"/>
                <a:ea typeface="DIN Next LT W23"/>
                <a:cs typeface="DIN Next LT W23"/>
              </a:rPr>
              <a:t>لا تفتح موضوع أسبوع 3 إلا جملة: NLP يبني على التمثيل والتسلسل.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6446520"/>
            <a:ext cx="11064240" cy="10972"/>
          </a:xfrm>
          <a:prstGeom prst="rect">
            <a:avLst/>
          </a:prstGeom>
          <a:solidFill>
            <a:srgbClr val="5234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6510528"/>
            <a:ext cx="27432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5234B7"/>
                </a:solidFill>
                <a:latin typeface="DIN Next LT W23"/>
                <a:ea typeface="DIN Next LT W23"/>
                <a:cs typeface="DIN Next LT W23"/>
              </a:rPr>
              <a:t>ETRA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510528"/>
            <a:ext cx="201168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A5470"/>
                </a:solidFill>
                <a:latin typeface="DIN Next LT W23"/>
                <a:ea typeface="DIN Next LT W23"/>
                <a:cs typeface="DIN Next LT W23"/>
              </a:rPr>
              <a:t>106  /  106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