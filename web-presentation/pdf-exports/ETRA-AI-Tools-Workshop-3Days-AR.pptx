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0" y="15544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ورشة عملية  ·  ثلاثة أيام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011680"/>
            <a:ext cx="5669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الاصطناعي التوليدي</a:t>
            </a:r>
          </a:p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للأعمال والمحتوى والأتمتة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49840" y="3520440"/>
            <a:ext cx="1280160" cy="6400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0" y="3794760"/>
            <a:ext cx="5669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هندسة الأوامر · الوسائط · البيانات · المساعد الشخصي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pic>
        <p:nvPicPr>
          <p:cNvPr id="9" name="Picture 8" descr="cover-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5120640" cy="3021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الأجندة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توزيع الأيام الثلاثة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المفاهيم إلى التطبيق العملي</a:t>
            </a:r>
          </a:p>
        </p:txBody>
      </p:sp>
      <p:pic>
        <p:nvPicPr>
          <p:cNvPr id="11" name="Picture 10" descr="three-days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714" y="1965960"/>
            <a:ext cx="697409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أهداف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 الذي سيخرج به المتدرب في ثلاثة أيام؟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احترافية تقلل الهلوسة وترفع جودة المخرجات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محتوى عمل يومي: تقارير، مراسلات، ومنشورات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توظيف أدوات الصور والعروض والفيديو دون خبرة تصميمية مسبقة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بيانات جداول بلغة بشرية وبناء مسارات أتمتة بسيطة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وفهم أخلاقيات وأمن البيانات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الأول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هندسة الأوامر وصناعة المحتوى والبحث الذكي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  ·  ساعة ونصف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مدخل GenAI وهندسة الأوامر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  ·  ساعة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المحتوى الاحترافي والعمل اليومي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  ·  ساعة ونصف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الموثق والملفات الضخمة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مدخل إلى الذكاء الاصطناعي التوليدي وهندسة الأوامر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فهم كيف تعمل النماذج اللغوية وصياغة أوامر دقيقة قابلة للتكرار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المفاهيم التأسيسية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الفرق بين الذكاء التقليدي والتوليدي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قواعد وتصنيف وتنبؤ على بيانات محددة — مخرجات محدودة النطاق.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التوليدي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نماذج لغوية تولد نصا وصورا وشفرة جديدة من سياق الأمر.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كيف «تفكر» LLMs؟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تتنبأ بالكلمة التالية اعتمادا على الاحتمال والسياق — وليست قاعدة معرفة مضمونة.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هندسة الأوامر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السياق · الدور · الجمهور · الشكل</a:t>
            </a:r>
          </a:p>
        </p:txBody>
      </p:sp>
      <p:pic>
        <p:nvPicPr>
          <p:cNvPr id="11" name="Picture 10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عناصر الأمر الاحترافي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صياغة تقلل الغموض وترفع جودة الإجابة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ماذا حدث؟ ما الملف؟ ما القيود؟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 (Persona): من هو النموذج؟ خبير قانوني، محرر، محلل…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 المستهدف: مدير تنفيذي، عملاء، فريق داخلي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شكل المخرجات (Format): جدول، نقاط، إيميل، JSON، تقرير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 الجودة: الطول، اللهجة، المصادر، ما يجب تجنبه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متقدمة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أمر بسيط إلى سير تفكير مضبوط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Chain-of-Thought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التفكير خطوة بخطوة قبل الإجابة النهائية — مفيد للمهام المعقدة.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 Prompting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قدم مثالين أو ثلاثة داخل الأمر ليقلد النموذج النمط المطلوب.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تجنب الهلوسة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مصادر، قل «لا أعرف إن لم تكن متأكدا»، وراجع الحقائق الحساسة.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الأدوات المستخدمة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نماذج لغوية للحوار والصياغة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عامة وتحليل ومساعد يومي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Claude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ملفات طويلة وصياغة دقيقة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Google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متكامل وتعدد الوسائط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قالب أمر جاهز (Cheat Sheet)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وعدل — هيكل احترافي كامل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854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1671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[صف الموقف / الملف / القيود]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5328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6426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6609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243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الدور: أنت [خبير / محرر / محلل] بخبرة في [المجال]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29900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099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118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0815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الجمهور: اكتب لـ [مدير تنفيذي / عملاء / فريق]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4472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5570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5753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5387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الشكل: أخرج النتيجة كـ [نقاط / جدول / إيميل / تقرير]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39044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0142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0325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39959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القيود: الطول [X]، اللهجة [رسمية]، قل لا اعرف إن لم تكن متاكدا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4361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1173968" y="44714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73968" y="44897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44531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المهمة: [اكتب المطلوب النهائي بجملة واضحة]</a:t>
            </a:r>
          </a:p>
        </p:txBody>
      </p:sp>
      <p:pic>
        <p:nvPicPr>
          <p:cNvPr id="35" name="Picture 34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56202739200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قبل وبعد: امر ضعيف مقابل قوي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الجودة يبدأ من صياغة الطلب</a:t>
            </a:r>
          </a:p>
        </p:txBody>
      </p:sp>
      <p:pic>
        <p:nvPicPr>
          <p:cNvPr id="11" name="Picture 10" descr="weak-vs-str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 و Chain-of-Thought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امثلة داخل الأمر + تفكير خطوة بخطوة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اعط مثالين او ثلاثة للنبرة والشكل المطلوبين داخل الأمر.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Chain-of-Thought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التفكير خطوة بخطوة قبل الإجابة النهائية للمهام المعقدة.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قيد الدقة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قل: لا تخترع ارقاما، وقل لا اعرف إن لم تكن متأكدا.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هندسة الاوامر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غامض بلا سياق ولا هدف واضح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الجمهور او مستوى الرسمية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شكل المخرجات (جدول / إيميل / نقاط)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قبول الإجابة بلا تحقق من الارقام والمصادر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480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59028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60857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57200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اوامر طويلة بلا اولوية: ضع المهمة الاهم اولا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المحتوى الاحترافي وتطبيقات العمل اليومي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الأفكار الخام إلى مراسلات وتقارير ومحتوى تسويقي جاهز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المراسلات والتقارير الإدارية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لهجات ومستويات رسمية متعددة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إيميلات رسمية بلهجة مؤسسية أو ودية حسب الجمهور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كتابة تقارير إدارية مختصرة مع ملخص تنفيذي في الأعلى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إعادة صياغة مسودة ضعيفة إلى نص احترافي مع الحفاظ على المعنى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توحيد نبرة العلامة التجارية عبر قوالب أوامر ثابتة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فكرة إلى محتوى منشور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استراتيجيات وجدولة وتحويل سريع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استراتيجية محتوى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أعمدة محتوى، أهداف، وجمهور لكل منصة.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جدولة المنصات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الفكرة إلى سلسلة منشورات أسبوعية.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مسودات سريعة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مقالات، ملخصات تنفيذية، ونصوص إعلانية مقنعة.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قوالب عمل يومي جاهزة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القالب واملأ الحقول فقط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إيميل رسمي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 + التحية + الغرض في سطر + 3 نقاط + طلب إجراء + خاتمة.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تقرير إداري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ملخص تنفيذي + ما حدث + الارقام + المخاطر + التوصية.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منشور LinkedIn / 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خطاف + قيمة واحدة + دليل قصير + دعوة للتفاعل.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البحث الموثق والتعامل مع الملفات الضخمة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بمصادر حية وتلخيص PDF المعقدة ثم تحويلها لمخرجات عمل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بحث موثق وتحليل 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المعزز بالمصادر الحية ومقارنة الادعاءات بدقة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قراءة وتلخيص ملفات PDF واستخراج البيانات من تقارير معقدة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جداول مقارنة واستشهادات بدل فقرات عامة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اليدوي من الأرقام والأسماء والتواريخ الحساسة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البحث والملفات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حي مع مصادر قابلة للمراجعة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ChatPDF / 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وتحليل تقارير طويلة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نماذج الدردشة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الملخص إلى إيميل ومنشورات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جودة البحث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ارسال اي ملخص او تقرير</a:t>
            </a:r>
          </a:p>
        </p:txBody>
      </p:sp>
      <p:pic>
        <p:nvPicPr>
          <p:cNvPr id="11" name="Picture 10" descr="research-check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التحقق السريعة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طبقها على كل ملخص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854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1671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مصادر قابلة للفتح والمراجعة؟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606040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71576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73405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9748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قارنت بين مصدرين على الاقل للادعاءات المهمة؟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3136392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2461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644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227832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راجعت الارقام والاسماء والتواريخ يدويا؟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666743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776471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794759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758183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فصلت بين الحقائق وبين توصيات النموذج؟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4197096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30682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32511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4288536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حددت ما هو غير مؤكد بدل اختراعه؟</a:t>
            </a:r>
          </a:p>
        </p:txBody>
      </p:sp>
      <p:pic>
        <p:nvPicPr>
          <p:cNvPr id="31" name="Picture 30" descr="research-check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56202739200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المساعد الإداري الذكي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30 دقيقة — من PDF إلى إيميل وتغريدات</a:t>
            </a:r>
          </a:p>
        </p:txBody>
      </p:sp>
      <p:pic>
        <p:nvPicPr>
          <p:cNvPr id="11" name="Picture 10" descr="admin-assistan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التمرين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يعطى كل متدرب ملف تقرير PDF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التقرير في 5 نقاط رئيسية واضحة للإدارة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الملخص إلى إيميل رسمي موجه للمدير التنفيذي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صغ 3 تغريدات تسويقية مستخرجة من نفس الملف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راجع الدقة والأرقام قبل التسليم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قالب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احفظ هيكل السياق + الدور + الجمهور + الشكل كامر افتراضي.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تحقق دائما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ترسل ارقاما او اسماء دون مراجعة بشرية سريعة.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واجب قصير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صغ امرا واحدا قويا لمهمة حقيقية من عملك وارسالها غدا.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 يجب ان يملكه المتدرب قبل المغادرة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ملف Cheat Sheet شخصي لامر احترافي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ملخص PDF + إيميل رسمي + 3 تغريدات من التمرين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قائمة اخطاء شائعة لتجنبها غدا في المحتوى والوسائط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امر واحد جاهز لمهمة عمل حقيقية (الواجب)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الثاني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الوسائط المتعددة: الصور والعروض والفيديو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  ·  ساعة ونصف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  ·  ساعة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  ·  ساعة ونصف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الفيديو والأصوات بالذكاء الاصطناعي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إنتاج الوسائط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→ عرض → فيديو في سلسلة واحدة</a:t>
            </a:r>
          </a:p>
        </p:txBody>
      </p:sp>
      <p:pic>
        <p:nvPicPr>
          <p:cNvPr id="11" name="Picture 10" descr="media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 الاحترافية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صور قوية وتعديل العناصر للاستخدام التسويقي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أساسيات أوامر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الإضاءة: طبيعية، استوديو، ذهبية، ناعمة…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زوايا الكاميرا: علوية، عين المستوى، قريبة للمنتج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الأنماط الفنية (Styling): واقعي، مسطح، ثلاثي الأبعاد، هوية بصرية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الإخراج والنسب: مربع للمنصات، عريض للعروض، عمودي للقصص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التعديل والتوظيف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Inpainting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استبدال عنصر محدد داخل الصورة دون إعادة توليدها كاملة.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Outpainting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توسيع إطار الصورة لملاءمة بانر أو خلفية أوسع.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توظيف عملي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هويات بصرية، إعلانات، وتصاميم مواقع بلا خبرة تصميم سابقة.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توليد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جودة فنية عالية للأفكار البصرية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تكامل سهل مع ChatGPT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تحكم بالأنماط والتكرار السريع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هيكل امر صورة 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موضوع + اسلوب + اضاءة + زاوية + نسبة</a:t>
            </a:r>
          </a:p>
        </p:txBody>
      </p:sp>
      <p:pic>
        <p:nvPicPr>
          <p:cNvPr id="11" name="Picture 10" descr="image-promp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امر الصورة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العناصر وعدل حسب المنتج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854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1671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الموضوع: ماذا يظهر؟ منتج، شخص، مشهد، خلفية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606040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71576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73405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9748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الاسلوب: واقعي / مسطح / ثلاثي ابعاد / هوية العلامة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3136392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2461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644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227832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الاضاءة والزاوية: استوديو ناعمة، عين المستوى، قريبة للمنتج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666743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776471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794759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758183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النسبة: 1:1 للمنصات، 16:9 للعروض، 9:16 للقصص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4197096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30682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32511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4288536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يتجنب: نصوص مشوهة، شعارات محمية، وجوه عشوائية ان لم تطلب</a:t>
            </a:r>
          </a:p>
        </p:txBody>
      </p:sp>
      <p:pic>
        <p:nvPicPr>
          <p:cNvPr id="31" name="Picture 30" descr="image-promp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56202739200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متى تستخدم كل اداة صور؟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بسرعة حسب الهدف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افكار بصرية فنية وحملات تحتاج لمسة جمالية قوية.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تعديل سريع داخل ChatGPT ووصف طويل بالعربية/الانجليزية.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تكرار نمط ثابت للمنتجات والتجارب المتعددة بسرعة.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 التفاعلية بالكامل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أو مستند إلى شرائح متكاملة في دقائق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نص إلى عرض جاهز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مجردة أو مستند نصي إلى شرائح (محتوى + تصميم) في أقل من 3 دقائق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تخصيص القوالب وإعادة صياغة البطاقات الذكية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تضمين الرسوم البيانية والحفاظ على هوية بصرية موحدة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تصدير للعرض الحي أو للمشاركة كرابط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العروض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Gamma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عروض سريعة من أمر أو مستند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Beautiful.ai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ذكية وإعادة ترتيب تلقائي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عرض Gamma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مشاركة الرابط او التصدير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عنوان كل شريحة واضح في 6 كلمات او اقل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شريحة واحدة = فكرة واحدة فقط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اقل نص ممكن: نقاط قصيرة لا فقرات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تباين بصري جيد بين النص والخلفية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ازالة الشرائح المكررة او الزائدة بعد التوليد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وتعديل الفيديو والأصوات بالذكاء الاصطناعي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ناطق، فيديوهات توضيحية، وصوت واقعي من النص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قدرات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أفاتار ناطق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Digital Human بلغات ولهجات متعددة للشروحات والإعلانات.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نص → فيديو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مقاطع توضيحية كاملة بالصوت والمؤثرات من سكربت مكتوب.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استنساخ الصوت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Text-to-Speech واقعي ومحافظة على نبرة العلامة.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 وإعلانات قصيرة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ElevenLabs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صوت طبيعي وتحويل نص إلى كلام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Runway / Pika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وتعديل مقاطع فيديو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 30 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</a:t>
            </a:r>
          </a:p>
        </p:txBody>
      </p:sp>
      <p:pic>
        <p:nvPicPr>
          <p:cNvPr id="11" name="Picture 10" descr="video-scrip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السكربت للنسخ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 — جاهز للنسخ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Hook (0-5 ث): سؤال او مشكلة تمس الجمهور فورا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قيمة (5-20 ث): ميزتان واضحتان للمنتج او الحل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اثبات قصير: رقم او نتيجة او وعد قابل للتصديق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CTA (20-30 ث): اطلب اجراء واحد فقط (جرب / تواصل / زر الرابط)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الوسائط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استخدام صور/اصوات دون مراعاة حقوق الاستخدام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لهجة صوت لا تناسب الجمهور او العلامة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اطول من اللازم يفقد الانتباه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اسلوب بصري عشوائي بين الصورة والعرض والفيديو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480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59028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60857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57200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نصوص طويلة على الشاشة بدل جملة واحدة قوية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المصمم الشامل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30 دقيقة — هوية إعلان متكاملة</a:t>
            </a:r>
          </a:p>
        </p:txBody>
      </p:sp>
      <p:pic>
        <p:nvPicPr>
          <p:cNvPr id="11" name="Picture 10" descr="designer-exerc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التمرين المطلوبة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صورة منتج مناسبة للهوية الإعلانية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إنشاء عرض تقديمي من 4 شرائح يشرح فكرة المنتج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فيديو قصير (30 ثانية) بمتحدث رقمي عن المميزات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تجميع المخرجات في مجلد واحد للعرض السريع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ثبت اسلوبا واضاءة ونسبة لكل حملة.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قصير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الفيديو قبل توليده: Hook → قيمة → CTA.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حزمة متسقة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+ عرض + فيديو بنفس الالوان والنبرة.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حزمة اعلان جاهزة للمشاركة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منتج باسلوب وهوية محددة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من 4 شرائح يشرح الفكرة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30 ثانية بمتحدث رقمي او صوت طبيعي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مجلد واحد يجمع الملفات الثلاثة للمراجعة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الثالث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والأتمتة وبناء مساعد شخصي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  ·  ساعة ونصف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والقرارات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  ·  ساعة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أتمتة المهام وربط الأدوات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  ·  ساعة ونصف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ومستقبل العمل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78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واتخاذ القرارات الذكية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Excel/CSV والسؤال بلغة بشرية دون معادلات يدوية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الجدول إلى القرار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رفع → سؤال → رسم → توصية</a:t>
            </a:r>
          </a:p>
        </p:txBody>
      </p:sp>
      <p:pic>
        <p:nvPicPr>
          <p:cNvPr id="11" name="Picture 10" descr="data-to-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ممارسات تحليل البيانات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828800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385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19202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Excel وCSV المعقدة وتحليلها بلغة بسيطة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359152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46888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48716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2450592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استخراج إحصاءات متقدمة وتوليد رسوم بيانية وخرائط حرارية فورا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0" y="2889504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299923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01752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2980944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التنبؤ بالاتجاهات واستنتاج توصيات تشغيلية ومالية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3419855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529583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547871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0488" y="3511295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من الافتراضات: اطلب المنهجية وحدود التحليل</a:t>
            </a:r>
          </a:p>
        </p:txBody>
      </p:sp>
      <p:pic>
        <p:nvPicPr>
          <p:cNvPr id="26" name="Picture 25" descr="data-to-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30448352000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أداة التحليل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1106424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1106424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Advanced Data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داخل ChatGPT — تحليل جداول ورسوم فورية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تحليل جاهزة لـ Excel /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بعد رفع الملف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اعمدة البيانات وابرز 5 مؤشرات رئيسية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اكتشف القيم الشاذة والصفوف الناقصة واشرح اثرها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قارن الاداء حسب الشهر / المنتج / المنطقة في جدول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اقترح 3 توصيات تشغيلية مبنية على البيانات فقط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ارسم رسما بيانيا مناسبا واشرح ماذا يعني للإدارة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أتمتة المهام اليومية والربط بين الأدوات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Workflow يربط البريد والجداول والردود الذكية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مفهوم سير العمل الآلي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مثال عملي من الإيميل إلى مسودة الرد</a:t>
            </a:r>
          </a:p>
        </p:txBody>
      </p:sp>
      <p:pic>
        <p:nvPicPr>
          <p:cNvPr id="11" name="Picture 10" descr="automatio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ماذا نربط؟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Gmail وNotion وSlack وDrive كتطبيقات يومية شائعة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محفز (Trigger) → خطوة ذكاء اصطناعي → إجراء (Action)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إيميل عميل → تلخيص → صف في جدول → مسودة رد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بمسار واحد بسيط ثم وسع الشروط والتنبيهات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منصات الأتمتة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Zapier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مسارات سريعة وموصلات كثيرة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سيناريوهات مرئية أكثر تفصيلا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قبل تشغيل الأتمتة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لا تفعل المسار قبل هذه النقاط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المحفز بالضبط؟ (إيميل جديد / نموذج / رسالة Slack)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بيانات حساسة يجب حجبها قبل ارسالها للنموذج؟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مسار الفشل؟ تنبيه بشري عند خطأ او نقص بيانات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الرد النهائي يحتاج موافقة بشرية قبل الارسال؟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سجلت المسار في مستند بسيط للفريق؟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بدون برمجة ومستقبل العمل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Custom GPT/Bot على ملفات داخلية + أخلاقيات وأمن البيانات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المساعد المخصص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Custom GPT / 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درب المساعد على ملفات الشركة ومجال العمل.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المعرفة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ما يسمح بالإجابة عنه وما يحال للإنسان.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مستقبل العمل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المساعد يسرع المهام الروتينية ويبقي القرار للفريق.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بناء Custom 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الهدف الى الاختبار</a:t>
            </a:r>
          </a:p>
        </p:txBody>
      </p:sp>
      <p:pic>
        <p:nvPicPr>
          <p:cNvPr id="11" name="Picture 10" descr="gpt-builder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بناء المساعد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نفذ بالترتيب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الهدف: لمن يخدم المساعد وما المهام المسموحة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الملفات الداخلية المعتمدة فقط (سياسات / ادلة / اسعار عامة)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تعليمات واضحة: النبرة، الشكل، ومتى يقول لا اعرف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 بـ 5 اسئلة حقيقية وعدل التعليمات قبل النشر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أخلاقيات وأمن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قواعد لا تتجاوزها في العمل</a:t>
            </a:r>
          </a:p>
        </p:txBody>
      </p:sp>
      <p:pic>
        <p:nvPicPr>
          <p:cNvPr id="11" name="Picture 10" descr="ethics-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أمن البيانات عمليا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828800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385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19202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ملكية المحتوى المولد وسياسات الاستخدام المؤسسي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359152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46888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48716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2450592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رفع بيانات سرية إلى أدوات غير معتمدة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0" y="2889504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299923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01752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2980944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البشري قبل نشر أو إرسال مخرجات حساسة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3419855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529583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547871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0488" y="3511295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الشفافية مع العملاء عند استخدام الذكاء الاصطناعي</a:t>
            </a:r>
          </a:p>
        </p:txBody>
      </p:sp>
      <p:pic>
        <p:nvPicPr>
          <p:cNvPr id="26" name="Picture 25" descr="ethics-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30448352000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بناء المساعد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GPT Builder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داخل منظومة ChatGPT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Poe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تجربة بوتات متعددة ونشر سريع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مشروع التخرج النهائي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45 دقيقة — فرق مصغرة وحل متكامل</a:t>
            </a:r>
          </a:p>
        </p:txBody>
      </p:sp>
      <p:pic>
        <p:nvPicPr>
          <p:cNvPr id="11" name="Picture 10" descr="capstone-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سيناريوهات جاهزة للاختيار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مشكلة عمل واحدة وابدأ بسرعة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مبيعات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استفسارات العملاء + مسودة رد + جدول متابعة.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موارد بشرية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سياسة داخلية + اسئلة شائعة عبر بوت مخصص.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تسويق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حملة + عرض 4 شرائح + فيديو 30 ثانية للمنتج.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متطلبات المشروع والعرض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اختيار مشكلة عمل محددة للفريق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دمج: بحث ذكي + تصميم (صورة/عرض/فيديو) + أتمتة أو بوت مخصص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لكل فريق (دقائق معدودة)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تقييم الحلول من حيث الفائدة، الجودة، وقابلية التطبيق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معايير تقييم العروض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درجات واضحة للمدرب والفرق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الفائدة (40%)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يحل مشكلة عمل حقيقية ويوفر وقتا واضحا؟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الجودة (30%)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المحتوى، وضوح المخرجات، واتساق الهوية.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قابلية التطبيق (30%)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يمكن تشغيله غدا بحسابات وادوات متاحة؟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اسال البيانات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جدولا واطلب ملخصا + شذوذا + توصيات.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اتمت بحذر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 واحد بسيط مع موافقة بشرية على الرد.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بوت محدود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بتعليمات واضحة وملفات معتمدة فقط.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خطة 7 ايام بعد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تطبق عند الرجوع للعمل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1-2: ثبت قالب امر احترافي لمهامك المتكررة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3-4: انتج حزمة وسائط واحدة لحملة او منتج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5: حلل ملفا جدولا حقيقيا واكتب 3 توصيات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6: ابن مسارا اتوماتيا واحدا او Custom GPT بسيط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7: راجع النتائج مع زميلك وحدث الـ Cheatsheet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التنظيم  ·  التجهيزات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ملاحظات لتنظيم القاعة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بدء الورشة — لتفادي إضاعة الوقت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رابط سحابي مسبق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Google Drive أو Notion: روابط الأدوات + Cheatsheet للأوامر.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حسابات جاهزة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فتح الحسابات المجانية على الأدوات الأساسية قبل اليوم الأول.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ملف التمرين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توزيع PDF التمرين الإداري وبيانات Excel التجريبية مسبقا.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التنظيم  ·  التجهيزات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سريعة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إنترنت مستقر وشاشات عرض واضحة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سماعة/ميكروفون للجلسات التي تتضمن فيديو وصوت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وقت احتياطي قصير بين الجلسات لتفعيل الحسابات الطارئة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قناة دعم سريعة (WhatsApp/Slack) لأسئلة الأدوات أثناء التطبيق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التنظيم  ·  التجهيزات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محتوى الرابط السحابي المقترح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 يوزع على المشتركين قبل الورشة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روابط الادوات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ChatGPT, Claude, Gemini, Perplexity, Midjourney, Gamma, HeyGen, Zapier.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Cheatsheet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الاوامر + هيكل الصورة + سكربت الفيديو + اسئلة التحليل.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ملفات التمرين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PDF اداري + Excel تجريبي + نموذج تقييم المشروع.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4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شكرا لكم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ابدأوا بالتمرين الصغير… ثم ابنوا حلكم المتكامل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ETRA  ·  ورشة أدوات الذكاء الاصطناعي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78  /  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