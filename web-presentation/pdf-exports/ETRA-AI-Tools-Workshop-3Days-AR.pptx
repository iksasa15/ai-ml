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ورشة عملية  ·  ثلاثة أيام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6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الذكاء الاصطناعي التوليدي</a:t>
            </a:r>
          </a:p>
          <a:p>
            <a:pPr algn="r" rtl="1">
              <a:spcAft>
                <a:spcPts val="400"/>
              </a:spcAft>
            </a:pPr>
            <a:r>
              <a:rPr sz="36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للأعمال والمحتوى والأتمتة</a:t>
            </a:r>
          </a:p>
        </p:txBody>
      </p:sp>
      <p:sp>
        <p:nvSpPr>
          <p:cNvPr id="6" name="Rectangle 5"/>
          <p:cNvSpPr/>
          <p:nvPr/>
        </p:nvSpPr>
        <p:spPr>
          <a:xfrm>
            <a:off x="9418320" y="443484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هندسة الأوامر · الوسائط · البيانات · المساعد الشخصي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الورشة  ·  الأجندة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توزيع الأيام الثلاثة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من المفاهيم إلى التطبيق العملي</a:t>
            </a:r>
          </a:p>
        </p:txBody>
      </p:sp>
      <p:pic>
        <p:nvPicPr>
          <p:cNvPr id="11" name="Picture 10" descr="three-days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الورشة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أهداف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ما الذي سيخرج به المتدرب في ثلاثة أيام؟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صياغة أوامر احترافية تقلل الهلوسة وترفع جودة المخرجات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إنتاج محتوى عمل يومي: تقارير، مراسلات، ومنشورات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توظيف أدوات الصور والعروض والفيديو دون خبرة تصميمية مسبقة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تحليل بيانات جداول بلغة بشرية وبناء مسارات أتمتة بسيطة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43891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بناء مساعد شخصي مخصص وفهم أخلاقيات وأمن البيانات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800" b="1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اليوم الأول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هندسة الأوامر وصناعة المحتوى والبحث الذكي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1  ·  ساعة ونصف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مدخل GenAI وهندسة الأوامر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2  ·  ساعة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المحتوى الاحترافي والعمل اليومي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3  ·  ساعة ونصف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البحث الموثّق والملفات الضخمة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49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8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مدخل إلى الذكاء الاصطناعي التوليدي وهندسة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فهم كيف تعمل النماذج اللغوية وصياغة أوامر دقيقة قابلة للتكرار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المفاهيم التأسيسية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الفرق بين الذكاء التقليدي والتوليدي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الذكاء التقليدي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قواعد وتصنيف وتنبؤ على بيانات محددة — مخرجات محدودة النطاق.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الذكاء التوليدي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نماذج لغوية تولّد نصًا وصورًا وشفرة جديدة من سياق الأمر.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كيف «تفكر» LLMs؟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تتنبأ بالكلمة التالية اعتمادًا على الاحتمال والسياق — وليست قاعدة معرفة مضمونة.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قواعد 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السياق · الدور · الجمهور · الشكل</a:t>
            </a:r>
          </a:p>
        </p:txBody>
      </p:sp>
      <p:pic>
        <p:nvPicPr>
          <p:cNvPr id="11" name="Picture 10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عناصر الأمر الاحترافي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صياغة تقلّل الغموض وترفع جودة الإجابة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السياق: ماذا حدث؟ ما الملف؟ ما القيود؟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الدور (Persona): من هو النموذج؟ خبير قانوني، محرر، محلل…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الجمهور المستهدف: مدير تنفيذي، عملاء، فريق داخلي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شكل المخرجات (Format): جدول، نقاط، إيميل، JSON، تقرير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43891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قيود الجودة: الطول، اللهجة، المصادر، ما يجب تجنّبه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تقنيات متقدمة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من أمر بسيط إلى سير تفكير مضبوط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Chain-of-Thought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اطلب التفكير خطوة بخطوة قبل الإجابة النهائية — مفيد للمهام المعقدة.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Few-Shot Prompting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قدّم مثالين أو ثلاثة داخل الأمر ليقلّد النموذج النمط المطلوب.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تجنّب الهلوسة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اطلب مصادر، قل «لا أعرف إن لم تكن متأكدًا»، وراجع الحقائق الحساسة.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الأدوات المستخدمة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نماذج لغوية للحوار والصياغة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صياغة عامة وتحليل ومساعد يومي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تحليل ملفات طويلة وصياغة دقيقة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Google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بحث متكامل وتعدد الوسائط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8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إنتاج المحتوى الاحترافي وتطبيقات العمل اليومي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تحويل الأفكار الخام إلى مراسلات وتقارير ومحتوى تسويقي جاهز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المراسلات والتقارير الإدارية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لهجات ومستويات رسمية متعددة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21214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2140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صياغة إيميلات رسمية بلهجة مؤسسية أو ودّية حسب الجمهور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68833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88336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كتابة تقارير إدارية مختصرة مع ملخص تنفيذي في الأعلى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325526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55264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إعادة صياغة مسودة ضعيفة إلى نص احترافي مع الحفاظ على المعنى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38221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2219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توحيد نبرة العلامة التجارية عبر قوالب أوامر ثابتة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من فكرة إلى محتوى منشور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استراتيجيات وجدولة وتحويل سريع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استراتيجية محتوى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أعمدة محتوى، أهداف، وجمهور لكل منصة.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جدولة المنصات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تحويل الفكرة إلى سلسلة منشورات أسبوعية.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مسودات سريعة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مقالات، ملخصات تنفيذية، ونصوص إعلانية مقنعة.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البحث الموثّق والتعامل مع الملفات الضخمة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البحث بمصادر حية وتلخيص PDF المعقّدة ثم تحويلها لمخرجات عمل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بحث موثّق وتحليل ملفات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البحث المعزّز بالمصادر الحية ومقارنة الادعاءات بدقة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قراءة وتلخيص ملفات PDF واستخراج البيانات من تقارير معقّدة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طلب جداول مقارنة واستشهادات بدل فقرات عامة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التحقق اليدوي من الأرقام والأسماء والتواريخ الحساسة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أدوات البحث والملفات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Perplexity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بحث حي مع مصادر قابلة للمراجعة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ChatPDF / 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رفع ملفات وتحليل تقارير طويلة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نماذج الدردشة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تحويل الملخص إلى إيميل ومنشورات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تمرين: المساعد الإداري الذكي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دقيقة — من PDF إلى إيميل وتغريدات</a:t>
            </a:r>
          </a:p>
        </p:txBody>
      </p:sp>
      <p:pic>
        <p:nvPicPr>
          <p:cNvPr id="11" name="Picture 10" descr="admin-assistan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خطوات التمرين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يُعطى كل متدرب ملف تقرير PDF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378440" y="222199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78440" y="2258568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258568"/>
            <a:ext cx="9784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لخّص التقرير في 5 نقاط رئيسية واضحة للإدارة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378440" y="318211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78440" y="3218688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218688"/>
            <a:ext cx="9784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حوّل الملخص إلى إيميل رسمي موجّه للمدير التنفيذي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378440" y="414223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78440" y="4178808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78808"/>
            <a:ext cx="9784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صغّ 3 تغريدات تسويقية مستخرجة من نفس الملف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78440" y="510235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78440" y="5138928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138928"/>
            <a:ext cx="9784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راجع الدقة والأرقام قبل التسليم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800" b="1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اليوم الثاني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الوسائط المتعددة: الصور والعروض والفيديو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1  ·  ساعة ونصف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توليد الصور والرسومات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2  ·  ساعة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تصميم العروض التقديمية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3  ·  ساعة ونصف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الفيديو والأصوات بالذكاء الاصطناعي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49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مسار إنتاج الوسائط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صورة → عرض → فيديو في سلسلة واحدة</a:t>
            </a:r>
          </a:p>
        </p:txBody>
      </p:sp>
      <p:pic>
        <p:nvPicPr>
          <p:cNvPr id="11" name="Picture 10" descr="media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توليد الصور والرسومات الاحترافية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صياغة أوامر صور قوية وتعديل العناصر للاستخدام التسويقي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أساسيات أوامر الصور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الإضاءة: طبيعية، استوديو، ذهبية، ناعمة…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زوايا الكاميرا: علوية، عين المستوى، قريبة للمنتج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الأنماط الفنية (Styling): واقعي، مسطح، ثلاثي الأبعاد، هوية بصرية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دقة الإخراج والنِسب: مربع للمنصات، عريض للعروض، عمودي للقصص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تقنيات التعديل والتوظيف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Inpainting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استبدال عنصر محدد داخل الصورة دون إعادة توليدها كاملة.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Outpainting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توسيع إطار الصورة لملاءمة بانر أو خلفية أوسع.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توظيف عملي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هويات بصرية، إعلانات، وتصاميم مواقع بلا خبرة تصميم سابقة.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أدوات توليد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جودة فنية عالية للأفكار البصرية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DALL·E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تكامل سهل مع ChatGPT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Leonardo.ai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تحكم بالأنماط والتكرار السريع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تصميم العروض التقديمية التفاعلية بالكامل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تحويل فكرة أو مستند إلى شرائح متكاملة في دقائق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من نص إلى عرض جاهز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تحويل فكرة مجردة أو مستند نصي إلى شرائح (محتوى + تصميم) في أقل من 3 دقائق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تخصيص القوالب وإعادة صياغة البطاقات الذكية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تضمين الرسوم البيانية والحفاظ على هوية بصرية موحّدة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تصدير للعرض الحي أو للمشاركة كرابط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أدوات العروض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Gamma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عروض سريعة من أمر أو مستند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Beautiful.ai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قوالب ذكية وإعادة ترتيب تلقائي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8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إنتاج وتعديل الفيديو والأصوات بالذكاء الاصطناعي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أفاتار ناطق، فيديوهات توضيحية، وصوت واقعي من النص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قدرات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أفاتار ناطق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Digital Human بلغات ولهجات متعددة للشروحات والإعلانات.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نص → فيديو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مقاطع توضيحية كاملة بالصوت والمؤثرات من سكربت مكتوب.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استنساخ الصوت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Text-to-Speech واقعي ومحافظة على نبرة العلامة.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أدوات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HeyGen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أفاتار ناطق وإعلانات قصيرة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ElevenLabs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صوت طبيعي وتحويل نص إلى كلام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Runway / Pika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تمرين: المصمم الشامل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دقيقة — هوية إعلان متكاملة</a:t>
            </a:r>
          </a:p>
        </p:txBody>
      </p:sp>
      <p:pic>
        <p:nvPicPr>
          <p:cNvPr id="11" name="Picture 10" descr="designer-exerc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مخرجات التمرين المطلوبة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378440" y="222199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78440" y="2258568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258568"/>
            <a:ext cx="9784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توليد صورة منتج مناسبة للهوية الإعلانية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378440" y="318211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78440" y="3218688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218688"/>
            <a:ext cx="9784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إنشاء عرض تقديمي من 4 شرائح يشرح فكرة المنتج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378440" y="414223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78440" y="4178808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178808"/>
            <a:ext cx="9784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إنتاج فيديو قصير (30 ثانية) بمتحدث رقمي عن المميزات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78440" y="510235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40" y="5138928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138928"/>
            <a:ext cx="9784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تجميع المخرجات في مجلد واحد للعرض السريع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800" b="1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اليوم الثالث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تحليل البيانات والأتمتة وبناء مساعد شخصي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1  ·  ساعة ونصف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تحليل البيانات والقرارات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2  ·  ساعة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أتمتة المهام وربط الأدوات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11296"/>
            <a:ext cx="311810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الجلسة 3  ·  ساعة ونصف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858768"/>
            <a:ext cx="3118104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مساعد مخصص ومستقبل العمل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49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تحليل البيانات واتخاذ القرارات الذكية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رفع Excel/CSV والسؤال بلغة بشرية دون معادلات يدوية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من الجدول إلى القرار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رفع ملفات Excel وCSV المعقّدة وتحليلها بلغة بسيطة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استخراج إحصاءات متقدمة وتوليد رسوم بيانية وخرائط حرارية فورًا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التنبؤ بالاتجاهات واستنتاج توصيات تشغيلية ومالية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التحقق من الافتراضات: اطلب المنهجية وحدود التحليل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أداة التحليل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Advanced Data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أتمتة المهام اليومية والربط بين الأدوات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بناء Workflow يربط البريد والجداول والردود الذكية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مفهوم سير العمل الآلي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مثال عملي من الإيميل إلى مسودة الرد</a:t>
            </a:r>
          </a:p>
        </p:txBody>
      </p:sp>
      <p:pic>
        <p:nvPicPr>
          <p:cNvPr id="11" name="Picture 10" descr="autom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ماذا نربط؟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Gmail وNotion وSlack وDrive كتطبيقات يومية شائعة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محفّز (Trigger) → خطوة ذكاء اصطناعي → إجراء (Action)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مثال: إيميل عميل → تلخيص → صف في جدول → مسودة رد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ابدأ بمسار واحد بسيط ثم وسّع الشروط والتنبيهات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منصات الأتمتة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Zapier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مسارات سريعة وموصّلات كثيرة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سيناريوهات مرئية أكثر تفصيلًا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8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بناء مساعد شخصي مخصص بدون برمجة ومستقبل العمل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المدة: ساعة ونصف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Custom GPT/Bot على ملفات داخلية + أخلاقيات وأمن البيانات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المساعد المخصص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Custom GPT / 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درّب المساعد على ملفات الشركة ومجال العمل.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حدود المعرفة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حدّد ما يُسمح بالإجابة عنه وما يُحال للإنسان.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مستقبل العمل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المساعد يسرّع المهام الروتينية ويُبقي القرار للفريق.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أخلاقيات وأمن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ملكية المحتوى المُولَّد وسياسات الاستخدام المؤسسي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عدم رفع بيانات سرية إلى أدوات غير معتمدة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التحقق البشري قبل نشر أو إرسال مخرجات حساسة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الشفافية مع العملاء عند استخدام الذكاء الاصطناعي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أدوات بناء المساعد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 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مساعد مخصص داخل منظومة ChatGPT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مشروع التخرج النهائي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دقيقة — فرق مصغّرة وحل متكامل</a:t>
            </a:r>
          </a:p>
        </p:txBody>
      </p:sp>
      <p:pic>
        <p:nvPicPr>
          <p:cNvPr id="11" name="Picture 10" descr="capstone-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499" y="1965960"/>
            <a:ext cx="774252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متطلبات المشروع والعرض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378440" y="222199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78440" y="2258568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258568"/>
            <a:ext cx="9784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اختيار مشكلة عمل محددة للفريق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378440" y="318211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78440" y="3218688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218688"/>
            <a:ext cx="9784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دمج: بحث ذكي + تصميم (صورة/عرض/فيديو) + أتمتة أو بوت مخصص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378440" y="414223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78440" y="4178808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178808"/>
            <a:ext cx="9784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عرض سريع لكل فريق (دقائق معدودة)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78440" y="510235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40" y="5138928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138928"/>
            <a:ext cx="9784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ملاحظات لتنظيم القاعة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قبل بدء الورشة — لتفادي إضاعة الوقت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رابط سحابي مسبق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Google Drive أو Notion: روابط الأدوات + Cheatsheet للأوامر.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حسابات جاهزة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فتح الحسابات المجانية على الأدوات الأساسية قبل اليوم الأول.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76856"/>
            <a:ext cx="316382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ملف التمرين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24328"/>
            <a:ext cx="3163824" cy="3054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توزيع PDF التمرين الإداري وبيانات Excel التجريبية مسبقًا.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2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قائمة تحقق سريعة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87452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إنترنت مستقر وشاشات عرض واضحة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244144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سماعة/ميكروفون للجلسات التي تتضمن فيديو وصوت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300837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08376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وقت احتياطي قصير بين الجلسات لتفعيل الحسابات الطارئة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57530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75304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7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قناة دعم سريعة (WhatsApp/Slack) لأسئلة الأدوات أثناء التطبيق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40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شكرًا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800" b="0" rtl="1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ابدأوا بالتمرين الصغير… ثم ابنوا حلّكم المتكامل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ETRA  ·  ورشة أدوات الذكاء الاصطناعي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