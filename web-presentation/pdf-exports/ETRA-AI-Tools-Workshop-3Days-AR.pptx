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6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8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12.png"/><Relationship Id="rId6" Type="http://schemas.openxmlformats.org/officeDocument/2006/relationships/image" Target="../media/image2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8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9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0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2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8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9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40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42.png"/><Relationship Id="rId6" Type="http://schemas.openxmlformats.org/officeDocument/2006/relationships/image" Target="../media/image25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8044" y="320040"/>
            <a:ext cx="537667" cy="438912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3727" y="347472"/>
            <a:ext cx="1447441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20640" y="173736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1" rtl="1" lang="ar-SA" altLang="en-US">
                <a:solidFill>
                  <a:srgbClr val="9E59CD"/>
                </a:solidFill>
                <a:latin typeface="IBM Plex Sans Arabic"/>
                <a:ea typeface="IBM Plex Sans Arabic"/>
                <a:cs typeface="IBM Plex Sans Arabic"/>
              </a:rPr>
              <a:t>ورشة عملية  ·  ثلاثة أيام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2194560"/>
            <a:ext cx="6400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الذكاء الاصطناعي التوليدي</a:t>
            </a:r>
          </a:p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للأعمال والمحتوى والأتمتة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3657600"/>
            <a:ext cx="1371600" cy="64008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388620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هندسة الأوامر · الوسائط · البيانات · المساعد الشخصي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4297680" cy="41148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.crop-hero-cov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1719072"/>
            <a:ext cx="3977639" cy="37947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01  /  83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الورشة  ·  الأجندة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02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توزيع الأيام الثلاثة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من المفاهيم إلى التطبيق العملي</a:t>
            </a:r>
          </a:p>
        </p:txBody>
      </p:sp>
      <p:pic>
        <p:nvPicPr>
          <p:cNvPr id="12" name="Picture 11" descr="three-days-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3714" y="1965960"/>
            <a:ext cx="6974091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الورشة  ·  نظرة عامة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03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نواتج التعلم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ما الذي يكتسبه المتدرب بنهاية الورشة؟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93976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173968" y="2194560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73968" y="2203704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167128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إتقان هندسة الأوامر: صياغة طلبات مكتملة العناصر تقلل هلوسة المعلومات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715768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173968" y="281635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73968" y="2825496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788920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إنتاج وسائط متعددة (صور وعروض وفيديو) بصياغة منضبطة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37560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173968" y="343814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73968" y="3447288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41071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تحليل الجداول بلغة طبيعية وبناء مسارات أتمتة بسيطة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95935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173968" y="405993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73968" y="4069080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03250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بناء مساعد شخصي مخصص مع الالتزام بضوابط أمن البيانات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581144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173968" y="4681728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73968" y="4690872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654296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تطبيق معايير مراجعة بشرية قبل اعتماد أي مخرج حساس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9373" y="320040"/>
            <a:ext cx="515264" cy="42062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2653" y="347472"/>
            <a:ext cx="1378516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0" y="1234440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800" b="1" rtl="1" lang="ar-SA" altLang="en-US">
                <a:solidFill>
                  <a:srgbClr val="9E59CD"/>
                </a:solidFill>
                <a:latin typeface="IBM Plex Sans Arabic"/>
                <a:ea typeface="IBM Plex Sans Arabic"/>
                <a:cs typeface="IBM Plex Sans Arabic"/>
              </a:rPr>
              <a:t>اليوم الأول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691640"/>
            <a:ext cx="6492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8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هندسة الأوامر بتعمق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4206240" cy="21488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.crop-hero-day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371600"/>
            <a:ext cx="3931920" cy="187451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46719" y="3657600"/>
            <a:ext cx="3566160" cy="21488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7" y="380390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الوحدة 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7" y="4187952"/>
            <a:ext cx="316382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فهم النموذج وحدوده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3657600"/>
            <a:ext cx="3566160" cy="214884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7" y="380390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الوحدة 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7" y="4187952"/>
            <a:ext cx="316382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مكونات الأمر الاحترافي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3566160" cy="21488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80390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الوحدة 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187952"/>
            <a:ext cx="316382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تقنيات متقدمة وضبط الجودة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04  /  83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الوحدة أ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05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024128"/>
            <a:ext cx="6217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فهم النموذج وحدوده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2148840"/>
            <a:ext cx="6217920" cy="35661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237744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هدف الجلسة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880360"/>
            <a:ext cx="55778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8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تمييز قدرات النموذج اللغوي وحدود موثوقيته قبل صياغة أي أمر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48840"/>
            <a:ext cx="4480560" cy="356616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.crop-hero-lapt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331720"/>
            <a:ext cx="41605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الوحدة أ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06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8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الذكاء التقليدي مقابل التوليدي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متى يستخدم كل نوع في بيئة العمل؟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836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الذكاء التقليدي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836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تصنيف وتنبؤ ضمن نطاق محدد؛ المخرج غالبا فئة أو رقم أو احتمال.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292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408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الذكاء التوليدي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408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توليد نص أو صورة أو شفرة جديدة انطلاقا من سياق الأمر.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الخلاصة المهنية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التوليدي مرن وغير مضمون؛ الأمر والمراجعة البشرية جزء أصيل من العمل.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الوحدة أ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07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آلية عمل النماذج اللغوية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التنبؤ بالرمز التالي وفق الاحتمال والسياق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836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المبدأ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836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يكمل النموذج التسلسل التالي اعتمادا على التدريب وسياق الأمر.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292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408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النتيجة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408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الأمر الغامض ينتج مخرجا عاما؛ الأمر الدقيق يرفع جودة الإجابة.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التحذير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الإقناع اللغوي لا يساوي التحقق من صحة الحقائق.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الوحدة أ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08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هلوسة المعلومات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تعريف · أمثلة · مخاطر مهنية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836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التعريف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836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محتوى يبدو صحيحا وهو مختلق أو غير مدعوم بمصدر موثوق.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292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408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أمثلة شائعة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408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أرقام · أسماء · تواريخ · اقتباسات غير موجودة في المدخل.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المخاطر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قرارات إدارية أو مراسلات خارجية مبنية على معلومات غير دقيقة.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الوحدة أ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09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8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حدود النموذج: ما يستطيع وما لا يضمن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إطار توقعات مهني واضح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93976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173968" y="2194560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73968" y="2203704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167128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يستطيع: إعادة الصياغة، التلخيص، اقتراح هياكل، توليد مسودات متعددة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715768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173968" y="281635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73968" y="2825496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788920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لا يضمن: دقة الأرقام أو الأسماء دون مصدر أو ملف أو مراجعة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37560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173968" y="343814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73968" y="3447288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41071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يعتمد على جودة الأمر: السياق والدور والجمهور والشكل والقيود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95935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173968" y="405993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73968" y="4069080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03250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المسؤولية النهائية لاعتماد المخرج تبقى بشرية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الوحدة أ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10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6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لماذا تعد هندسة الأوامر مهارة مؤسسية؟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الجودة تتبع جودة التوجيه لا اسم الأداة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836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بدون توجيه كاف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836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مخرج عام يصعب اعتماده أو إرساله لصانع القرار.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292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408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مع توجيه مكتمل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408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مخرج قابل للاستخدام: أوضح، أقصر، وأكثر التزاما بالمعطيات.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القاعدة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يراجع الأمر أولا قبل الحكم على ضعف الأداة.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الوحدة ب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11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024128"/>
            <a:ext cx="6217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مكونات الأمر الاحترافي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2148840"/>
            <a:ext cx="6217920" cy="35661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237744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هدف الجلسة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880360"/>
            <a:ext cx="55778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8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بناء أمر مكتمل العناصر وتشخيص الأمر الضعيف خلال ثوان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48840"/>
            <a:ext cx="4480560" cy="356616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.crop-hero-day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331720"/>
            <a:ext cx="41605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الوحدة ب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12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المكونات الخمسة للأمر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السياق · الدور · الجمهور · الشكل · قيود الجودة</a:t>
            </a:r>
          </a:p>
        </p:txBody>
      </p:sp>
      <p:pic>
        <p:nvPicPr>
          <p:cNvPr id="12" name="Picture 11" descr="prompt-stru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7479" y="1874519"/>
            <a:ext cx="7206561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الوحدة ب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13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السياق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ماذا حدث؟ ما الملف؟ ما يجب التركيز عليه؟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93976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173968" y="2194560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73968" y="2203704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167128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ضعيف: «لخص التقرير» — دون تحديد الملف أو الهدف أو القيود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715768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173968" y="281635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73968" y="2825496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788920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أفضل: تقرير مبيعات أغسطس لفرع الرياض؛ الهدف 1.2 مليون؛ المتحقق 980 ألف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37560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173968" y="343814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73968" y="3447288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41071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أضف: ركز على أسباب الفجوة لا على الإنجازات العامة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95935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173968" y="405993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73968" y="4069080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03250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الأثر: يمنع التلخيص العشوائي ويرفع صلة المخرج بالقرار المطلوب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الوحدة ب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14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الدور (Persona)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يضبط المفردات وعمق التحليل وزاوية النظر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93976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173968" y="2194560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73968" y="2203704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167128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بدون دور: نبرة غير مستقرة وقد لا تناسب السياق المؤسسي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715768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173968" y="281635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73968" y="2825496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788920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«أنت محلل إداري» يميل إلى توصية حذرة مدعومة بمعطيات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37560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173968" y="343814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73968" y="3447288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41071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«أنت كاتب محتوى تسويقي» يميل إلى نبرة إقناعية مختلفة تماما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95935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173968" y="405993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73968" y="4069080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03250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اختبر: غير الدور فقط على المدخل نفسه ولاحظ اختلاف الناتج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الوحدة ب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15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الجمهور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نفس الحقيقة تعرض بصيغ مختلفة حسب القارئ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93976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173968" y="2194560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73968" y="2203704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167128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صانع قرار تنفيذي: مختصر + قرار مطلوب + أثر رقمي واضح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715768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173968" y="281635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73968" y="2825496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788920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فريق تشغيلي: تفاصيل تنفيذ ومسؤوليات وخطوات تالية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37560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173968" y="343814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73968" y="3447288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41071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جمهور عام أو مهني خارجي: قيمة عامة دون بيانات داخلية حساسة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95935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173968" y="405993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73968" y="4069080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03250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عدم تحديد الجمهور يؤدي إلى تذبذب مستوى الرسمية والتفصيل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الوحدة ب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16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شكل المخرجات (Format)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حول الإجابة من فقرة عامة إلى أداة عمل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93976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173968" y="2194560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73968" y="2203704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167128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حدد الشكل صراحة: نقاط مرقمة · جدول · رسالة رسمية · ملخص تنفيذي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715768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173968" y="281635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73968" y="2825496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788920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مثال: «خمس نقاط ثم توصية واحدة في سطرين»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37560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173968" y="343814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73968" y="3447288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41071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مثال: «جدول عمودين: السبب | الإجراء المقترح»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95935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173968" y="405993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73968" y="4069080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03250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ترك الشكل مفتوحا غالبا ينتج نصا طويلا قليل الفائدة التشغيلية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الوحدة ب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17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قيود الجودة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طبقة الأمان داخل الأمر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93976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173968" y="2194560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73968" y="2203704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167128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لا تخترع أرقاما أو أسماء أو تواريخ غير موجودة في المدخل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715768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173968" y="281635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73968" y="2825496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788920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إن لم تتوفر المعلومة فاكتب: غير متوفر / لا أعرف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37560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173968" y="343814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73968" y="3447288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41071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حدد الطول الأقصى ومستوى الرسمية المطلوب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95935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173968" y="405993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73968" y="4069080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03250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افصل الحقائق الواردة في الملف عن التوصيات المقترحة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الوحدة ب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18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أمر ضعيف مقابل أمر قوي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نفس الأداة · جودة مختلفة · السبب في صياغة الطلب</a:t>
            </a:r>
          </a:p>
        </p:txBody>
      </p:sp>
      <p:pic>
        <p:nvPicPr>
          <p:cNvPr id="12" name="Picture 11" descr="weak-vs-stro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7479" y="1874519"/>
            <a:ext cx="7206561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الوحدة ب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19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نموذج أمر جاهز (Cheat Sheet)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انسخ الهيكل وعدل الحقول فقط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2075688"/>
            <a:ext cx="562356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173968" y="217627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73968" y="2185416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148840"/>
            <a:ext cx="48737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السياق: [الموقف / الملف / القيود / محور التركيز]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2532888"/>
            <a:ext cx="562356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173968" y="263347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73968" y="2642616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2606040"/>
            <a:ext cx="48737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الدور: أنت [محلل / محرر / مختص] بخبرة في [المجال]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2990088"/>
            <a:ext cx="562356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173968" y="309067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73968" y="3099816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0488" y="3063240"/>
            <a:ext cx="48737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الجمهور: موجه إلى [مدير تنفيذي / فريق / جمهور مهني]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3447288"/>
            <a:ext cx="562356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173968" y="354787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73968" y="3557016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3520440"/>
            <a:ext cx="48737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الشكل: أخرج النتيجة بصيغة [نقاط / جدول / رسالة / تقرير]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89320" y="3904488"/>
            <a:ext cx="562356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173968" y="400507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73968" y="4014216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0488" y="3977640"/>
            <a:ext cx="48737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القيود: الطول · الرسمية · لا تختلق · اذكر غير المتوفر صراحة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89320" y="4361688"/>
            <a:ext cx="562356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1173968" y="446227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73968" y="4471416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0488" y="4434840"/>
            <a:ext cx="48737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المهمة: [الطلب النهائي بجملة واحدة واضحة]</a:t>
            </a:r>
          </a:p>
        </p:txBody>
      </p:sp>
      <p:pic>
        <p:nvPicPr>
          <p:cNvPr id="36" name="Picture 35" descr="prompt-stru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504052"/>
            <a:ext cx="5212080" cy="307519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الوحدة ب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20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8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مثال تطبيقي مكتمل — فرع الرياض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ابدأ من أمر ممتلئ ثم عدل القيم حسب مهمتك</a:t>
            </a:r>
          </a:p>
        </p:txBody>
      </p:sp>
      <p:pic>
        <p:nvPicPr>
          <p:cNvPr id="12" name="Picture 11" descr="filled-prompt-exam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7479" y="1874519"/>
            <a:ext cx="7206561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الوحدة ب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21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تطبيق الوحدة 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أعد بناء أمر ضعيف إلى أمر مكتمل العناصر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5740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36224" y="223113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36224" y="2258568"/>
            <a:ext cx="47548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22199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خذ أمرا ضعيفا: «اكتب لي عن التقرير»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01752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936224" y="319125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3218688"/>
            <a:ext cx="47548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18211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أضف السياق والدور والجمهور والشكل والقيود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7764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936224" y="415137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36224" y="4178808"/>
            <a:ext cx="47548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14223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نفذ الأمرين على ملف مبيعات الرياض وقارن المخرجين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93776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936224" y="511149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36224" y="5138928"/>
            <a:ext cx="47548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10235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احفظ النموذج الستة في ملفك الشخصي فورا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الوحدة ج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22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024128"/>
            <a:ext cx="6217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تقنيات متقدمة وضبط الجودة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2148840"/>
            <a:ext cx="6217920" cy="35661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237744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هدف الجلسة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880360"/>
            <a:ext cx="55778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8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توظيف CoT وFew-Shot وإطار الحد من الهلوسة بمعايير قبول واضحة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48840"/>
            <a:ext cx="4480560" cy="356616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.crop-hero-research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331720"/>
            <a:ext cx="41605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الوحدة ج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23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8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التوجيه المتسلسل (Chain-of-Thought)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متى يستخدم ومتى يتجنب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836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يستخدم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836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مقارنة بدائل · توصية من عدة معطيات · تلخيص ثم استنتاج.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292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408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الصيغة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408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اكتب خطوات التفكير في 3–5 أسطر ثم أعط النتيجة النهائية فقط.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يتجنب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المراسلات القصيرة وإعادة الصياغة البسيطة؛ يطيل بلا فائدة.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الوحدة ج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24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8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التعلم من الأمثلة (Few-Shot)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تثبيت النبرة والشكل داخل الأمر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836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يستخدم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836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نمط ثابت لمراسلات الدعم أو المحاضر أو المحتوى الدوري.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292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408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الهيكل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408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مثال 1: مدخل/مخرج · مثال 2 · ثم نفذ على المدخل الجديد.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تجنب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لصق نص طويل دون تمييز الأمثلة بعناوين واضحة.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الوحدة ج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25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الجمع بين التقنيات دون إطالة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اختر الأداة المناسبة للمهمة لا تكديس الأساليب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93976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173968" y="2194560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73968" y="2203704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167128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ابدأ دائما بالمكونات الخمسة قبل أي تقنية متقدمة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715768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173968" y="281635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73968" y="2825496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788920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أضف Few-Shot عند الحاجة لنبرة أو شكل ثابت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37560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173968" y="343814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73968" y="3447288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41071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أضف Chain-of-Thought عند الحاجة لترتيب منطقي صريح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95935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173968" y="405993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73968" y="4069080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03250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لا تجمع التقنيتين مع أمر بسيط؛ راقب الطول والفائدة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الوحدة ج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26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إطار الحد من هلوسة المعلومات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ثلاث طبقات متكاملة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836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1) داخل الأمر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836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قيود الدقة وعبارة: اذكر غير المتوفر بدل الاختلاق.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292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408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2) في الأداة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408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الاعتماد على ملف مرفوع أو مصادر قابلة للمراجعة.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3) بعد الناتج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مراجعة بشرية للأرقام والأسماء والتواريخ قبل الاعتماد.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الوحدة ج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27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اختيار الأداة وفق المهمة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المعيار: طبيعة المهمة ونوع الملف والحاجة إلى الويب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2194560"/>
            <a:ext cx="3535680" cy="3474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77200" y="2194560"/>
            <a:ext cx="3535680" cy="7315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.pad-icon-open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9008" y="2468880"/>
            <a:ext cx="502920" cy="502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05800" y="3108960"/>
            <a:ext cx="307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ChatGPT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5800" y="3840480"/>
            <a:ext cx="307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صياغة عامة · تجارب سريعة · مساعد يومي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2920" y="2194560"/>
            <a:ext cx="3535680" cy="347472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2920" y="2194560"/>
            <a:ext cx="3535680" cy="73152"/>
          </a:xfrm>
          <a:prstGeom prst="rect">
            <a:avLst/>
          </a:prstGeom>
          <a:solidFill>
            <a:srgbClr val="9E59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.pad-icon-anthrop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4728" y="2468880"/>
            <a:ext cx="502920" cy="502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41520" y="3108960"/>
            <a:ext cx="307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Claude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3840480"/>
            <a:ext cx="307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ملفات طويلة · صياغة منضبطة · تقارير كثيفة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194560"/>
            <a:ext cx="3535680" cy="3474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2194560"/>
            <a:ext cx="3535680" cy="7315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.pad-icon-gemin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0448" y="2468880"/>
            <a:ext cx="502920" cy="5029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7240" y="3108960"/>
            <a:ext cx="307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Google Gemini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840480"/>
            <a:ext cx="307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سياق ويب ووسائط متعددة في مسار واحد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الوحدة ج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28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سلامة البيانات عند الاستخدام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ضوابط إلزامية قبل رفع أي ملف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93976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173968" y="2194560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73968" y="2203704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167128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استخدم ملفات تدريبية في التمارين؛ تجنب العقود السرية الحقيقية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715768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173968" y="281635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73968" y="2825496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788920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احذف الأسماء والأرقام الحساسة أو جهل البيانات قبل الرفع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37560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173968" y="343814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73968" y="3447288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41071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لا تعتمد أداة شخصية غير معتمدة لبيانات جهة العمل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95935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173968" y="405993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73968" y="4069080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03250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ميز بين مسودة داخلية ومحتوى قابل للنشر الخارجي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الوحدة ج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29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أخطاء شائعة في هندسة الأوامر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كل خطأ يقابله علاج مباشر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93976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173968" y="2194560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73968" y="2203704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167128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طلب غامض بلا هدف → حدد المخرج المطلوب بجملة صريحة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715768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173968" y="281635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73968" y="2825496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788920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غياب الجمهور → حدد القارئ ومستوى الرسمية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37560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173968" y="343814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73968" y="3447288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41071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غياب الشكل → اطلب نقاطا أو جدولا أو هيكل رسالة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95935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173968" y="405993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73968" y="4069080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03250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اعتماد المخرج دون تحقق → دقيقة مراجعة للأرقام قبل الإرسال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581144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173968" y="4681728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73968" y="4690872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654296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أمر طويل بلا أولوية → ضع المهمة أولا ثم السياق ثم التفاصيل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الوحدة ج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30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مسار العمل المهني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إعداد → تنفيذ → مراجعة → اعتماد</a:t>
            </a:r>
          </a:p>
        </p:txBody>
      </p:sp>
      <p:pic>
        <p:nvPicPr>
          <p:cNvPr id="12" name="Picture 11" descr="practice-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7479" y="1874519"/>
            <a:ext cx="7206561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تطبيق ختامي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31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تطبيق ختامي لليوم الأول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مهمة عمل كاملة بأمر واحد قوي ومعايير قبول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5740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36224" y="223113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36224" y="2258568"/>
            <a:ext cx="47548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22199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اختر مهمة حقيقية من عملك أو استخدم ملف مبيعات الرياض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01752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936224" y="319125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3218688"/>
            <a:ext cx="47548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18211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ابن أمرا مكتمل العناصر الستة ثم نفذه في الأداة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7764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936224" y="415137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36224" y="4178808"/>
            <a:ext cx="47548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14223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طبق إطار الحد من الهلوسة وراجع الأرقام والأسماء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93776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936224" y="511149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36224" y="5138928"/>
            <a:ext cx="47548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10235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قرر الاعتماد أو التعديل وفق معايير القبول قبل الإرسال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ختام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32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خلاصة اليوم الأول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ثبت العادة قبل الانتقال إلى وسائط اليوم الثاني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836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الأمر أولا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836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مكونات كاملة قبل اختيار الأداة أو التقنية.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292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408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المراجعة دوما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408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لا اعتماد لأرقام أو أسماء دون تحقق بشري.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غدا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الوسائط بنفس الانضباط: موضوع · أسلوب · جمهور · شكل · قيود.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9373" y="320040"/>
            <a:ext cx="515264" cy="42062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2653" y="347472"/>
            <a:ext cx="1378516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0" y="1234440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800" b="1" rtl="1" lang="ar-SA" altLang="en-US">
                <a:solidFill>
                  <a:srgbClr val="9E59CD"/>
                </a:solidFill>
                <a:latin typeface="IBM Plex Sans Arabic"/>
                <a:ea typeface="IBM Plex Sans Arabic"/>
                <a:cs typeface="IBM Plex Sans Arabic"/>
              </a:rPr>
              <a:t>اليوم الثاني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691640"/>
            <a:ext cx="6492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8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الوسائط المتعددة: الصور والعروض والفيديو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4206240" cy="21488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.crop-hero-day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371600"/>
            <a:ext cx="3931920" cy="187451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46719" y="3657600"/>
            <a:ext cx="3566160" cy="21488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7" y="380390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الجلسة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7" y="4187952"/>
            <a:ext cx="316382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توليد الصور والرسومات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3657600"/>
            <a:ext cx="3566160" cy="214884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7" y="380390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الجلسة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7" y="4187952"/>
            <a:ext cx="316382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تصميم العروض التقديمية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3566160" cy="21488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80390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الجلسة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187952"/>
            <a:ext cx="316382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الفيديو والأصوات بالذكاء الاصطناعي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33  /  83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نظرة عامة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34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مسار إنتاج الوسائط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صورة → عرض → فيديو في سلسلة واحدة</a:t>
            </a:r>
          </a:p>
        </p:txBody>
      </p:sp>
      <p:pic>
        <p:nvPicPr>
          <p:cNvPr id="12" name="Picture 11" descr="media-st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7479" y="1874519"/>
            <a:ext cx="7206561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الجلسة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35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024128"/>
            <a:ext cx="6217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8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توليد الصور والرسومات الاحترافية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2148840"/>
            <a:ext cx="6217920" cy="35661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237744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هدف الجلسة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880360"/>
            <a:ext cx="55778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8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صياغة أوامر صور قوية وتعديل العناصر للاستخدام التسويقي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48840"/>
            <a:ext cx="4480560" cy="356616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.crop-hero-medi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331720"/>
            <a:ext cx="41605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الجلسة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36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أساسيات أوامر الصور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47088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173968" y="194767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73968" y="1956816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920240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الإضاءة: طبيعية، استوديو، ذهبية، ناعمة…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468880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173968" y="256946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73968" y="2578608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54203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زوايا الكاميرا: علوية، عين المستوى، قريبة للمنتج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9067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173968" y="319125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73968" y="3200400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16382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الأنماط الفنية (Styling): واقعي، مسطح، ثلاثي الأبعاد، هوية بصرية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12464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173968" y="3813048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73968" y="3822192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785616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دقة الإخراج والنسب: مربع للمنصات، عريض للعروض، عمودي للقصص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الجلسة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37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تقنيات التعديل والتوظيف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720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836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Inpainting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836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استبدال عنصر محدد داخل الصورة دون إعادة توليدها كاملة.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408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Outpainting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408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توسيع إطار الصورة لملاءمة بانر أو خلفية أوسع.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توظيف عملي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هويات بصرية، إعلانات، وتصاميم مواقع بلا خبرة تصميم سابقة.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الجلسة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38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أدوات توليد الصور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7200" y="2194560"/>
            <a:ext cx="3535680" cy="3474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77200" y="2194560"/>
            <a:ext cx="3535680" cy="7315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.pad-icon-midjourn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9008" y="2468880"/>
            <a:ext cx="502920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05800" y="3108960"/>
            <a:ext cx="307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Midjourney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800" y="3840480"/>
            <a:ext cx="307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جودة فنية عالية للأفكار البصرية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2920" y="2194560"/>
            <a:ext cx="3535680" cy="347472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2920" y="2194560"/>
            <a:ext cx="3535680" cy="73152"/>
          </a:xfrm>
          <a:prstGeom prst="rect">
            <a:avLst/>
          </a:prstGeom>
          <a:solidFill>
            <a:srgbClr val="9E59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.pad-icon-opena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4728" y="2468880"/>
            <a:ext cx="502920" cy="5029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41520" y="3108960"/>
            <a:ext cx="307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DALL·E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520" y="3840480"/>
            <a:ext cx="307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تكامل سهل مع ChatGPT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194560"/>
            <a:ext cx="3535680" cy="3474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2194560"/>
            <a:ext cx="3535680" cy="7315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.pad-icon-leonard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0448" y="2468880"/>
            <a:ext cx="502920" cy="502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7240" y="3108960"/>
            <a:ext cx="307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Leonardo.ai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840480"/>
            <a:ext cx="307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تحكم بالأنماط والتكرار السريع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الجلسة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39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هيكل امر صورة احترافي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موضوع + اسلوب + اضاءة + زاوية + نسبة</a:t>
            </a:r>
          </a:p>
        </p:txBody>
      </p:sp>
      <p:pic>
        <p:nvPicPr>
          <p:cNvPr id="12" name="Picture 11" descr="image-prompt-anatom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7479" y="1874519"/>
            <a:ext cx="7206561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الجلسة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40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تفاصيل امر الصورة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انسخ العناصر وعدل حسب المنتج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93976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173968" y="2194560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73968" y="2203704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167128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الموضوع: ماذا يظهر؟ منتج، شخص، مشهد، خلفية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715768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173968" y="281635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73968" y="2825496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788920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الاسلوب: واقعي / مسطح / ثلاثي ابعاد / هوية العلامة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37560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173968" y="343814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73968" y="3447288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41071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الاضاءة والزاوية: استوديو ناعمة، عين المستوى، قريبة للمنتج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95935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173968" y="405993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73968" y="4069080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03250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النسبة: 1:1 للمنصات، 16:9 للعروض، 9:16 للقصص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581144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173968" y="4681728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73968" y="4690872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654296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ما يتجنب: نصوص مشوهة، شعارات محمية، وجوه عشوائية ان لم تطلب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الجلسة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41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متى تستخدم كل اداة صور؟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اختر بسرعة حسب الهدف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836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Midjourney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836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افكار بصرية فنية وحملات تحتاج لمسة جمالية قوية.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292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408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DALL·E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408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تعديل سريع داخل ChatGPT ووصف طويل بالعربية/الانجليزية.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Leonardo.ai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تكرار نمط ثابت للمنتجات والتجارب المتعددة بسرعة.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الجلسة 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42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024128"/>
            <a:ext cx="6217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6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تصميم العروض التقديمية التفاعلية بالكامل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2148840"/>
            <a:ext cx="6217920" cy="35661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237744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هدف الجلسة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880360"/>
            <a:ext cx="55778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8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تحويل فكرة أو مستند إلى شرائح متكاملة في دقائق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48840"/>
            <a:ext cx="4480560" cy="356616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.crop-hero-day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331720"/>
            <a:ext cx="41605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الجلسة 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43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من نص إلى عرض جاهز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47088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173968" y="194767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73968" y="1956816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920240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تحويل فكرة مجردة أو مستند نصي إلى شرائح (محتوى + تصميم) في أقل من 3 دقائق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468880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173968" y="256946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73968" y="2578608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54203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تخصيص القوالب وإعادة صياغة البطاقات الذكية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9067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173968" y="319125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73968" y="3200400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16382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تضمين الرسوم البيانية والحفاظ على هوية بصرية موحدة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12464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173968" y="3813048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73968" y="3822192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785616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تصدير للعرض الحي أو للمشاركة كرابط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الجلسة 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44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أدوات العروض الذكية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59" y="2194560"/>
            <a:ext cx="5417820" cy="3474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5059" y="2194560"/>
            <a:ext cx="5417820" cy="7315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.pad-icon-gamm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7937" y="2468880"/>
            <a:ext cx="502920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23659" y="3108960"/>
            <a:ext cx="49606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Gamma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3659" y="3840480"/>
            <a:ext cx="49606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عروض سريعة من أمر أو مستند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194560"/>
            <a:ext cx="5417820" cy="347472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194560"/>
            <a:ext cx="5417820" cy="73152"/>
          </a:xfrm>
          <a:prstGeom prst="rect">
            <a:avLst/>
          </a:prstGeom>
          <a:solidFill>
            <a:srgbClr val="9E59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.pad-icon-beautifula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1518" y="2468880"/>
            <a:ext cx="502920" cy="5029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3108960"/>
            <a:ext cx="49606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Beautiful.ai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840480"/>
            <a:ext cx="49606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قوالب ذكية وإعادة ترتيب تلقائي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الجلسة 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45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قائمة تحقق عرض Gamma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قبل مشاركة الرابط او التصدير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93976"/>
            <a:ext cx="11064240" cy="530352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173968" y="2194560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73968" y="2203704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167128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عنوان كل شريحة واضح في 6 كلمات او اقل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173968" y="281635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73968" y="2825496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788920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شريحة واحدة = فكرة واحدة فقط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337560"/>
            <a:ext cx="11064240" cy="530352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173968" y="343814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73968" y="3447288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41071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اقل نص ممكن: نقاط قصيرة لا فقرات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173968" y="405993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73968" y="4069080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03250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تباين بصري جيد بين النص والخلفية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581144"/>
            <a:ext cx="11064240" cy="530352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173968" y="4681728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73968" y="4690872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654296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ازالة الشرائح المكررة او الزائدة بعد التوليد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الجلسة 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46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024128"/>
            <a:ext cx="6217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6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إنتاج وتعديل الفيديو والأصوات بالذكاء الاصطناعي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2148840"/>
            <a:ext cx="6217920" cy="35661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237744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هدف الجلسة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880360"/>
            <a:ext cx="55778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8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أفاتار ناطق، فيديوهات توضيحية، وصوت واقعي من النص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48840"/>
            <a:ext cx="4480560" cy="356616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.crop-hero-medi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331720"/>
            <a:ext cx="41605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الجلسة 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47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قدرات الفيديو والصوت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720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836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أفاتار ناطق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836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Digital Human بلغات ولهجات متعددة للشروحات والإعلانات.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408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نص → فيديو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408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مقاطع توضيحية كاملة بالصوت والمؤثرات من سكربت مكتوب.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استنساخ الصوت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Text-to-Speech واقعي ومحافظة على نبرة العلامة.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الجلسة 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48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أدوات الفيديو والصوت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7200" y="2194560"/>
            <a:ext cx="3535680" cy="3474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77200" y="2194560"/>
            <a:ext cx="3535680" cy="7315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.pad-icon-heyg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9008" y="2468880"/>
            <a:ext cx="502920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05800" y="3108960"/>
            <a:ext cx="307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HeyGen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800" y="3840480"/>
            <a:ext cx="307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أفاتار ناطق وإعلانات قصيرة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2920" y="2194560"/>
            <a:ext cx="3535680" cy="347472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2920" y="2194560"/>
            <a:ext cx="3535680" cy="73152"/>
          </a:xfrm>
          <a:prstGeom prst="rect">
            <a:avLst/>
          </a:prstGeom>
          <a:solidFill>
            <a:srgbClr val="9E59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.pad-icon-elevenlab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4728" y="2468880"/>
            <a:ext cx="502920" cy="5029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41520" y="3108960"/>
            <a:ext cx="307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ElevenLabs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520" y="3840480"/>
            <a:ext cx="307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صوت طبيعي وتحويل نص إلى كلام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194560"/>
            <a:ext cx="3535680" cy="3474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2194560"/>
            <a:ext cx="3535680" cy="7315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.pad-icon-runw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0448" y="2468880"/>
            <a:ext cx="502920" cy="502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7240" y="3108960"/>
            <a:ext cx="307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Runway / Pika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840480"/>
            <a:ext cx="307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توليد وتعديل مقاطع فيديو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الجلسة 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49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سكربت فيديو 30 ثانية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Hook ثم قيمة ثم CTA</a:t>
            </a:r>
          </a:p>
        </p:txBody>
      </p:sp>
      <p:pic>
        <p:nvPicPr>
          <p:cNvPr id="12" name="Picture 11" descr="video-script-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7479" y="1874519"/>
            <a:ext cx="7206561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الجلسة 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50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تفاصيل السكربت للنسخ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Hook ثم قيمة ثم CTA — جاهز للنسخ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5740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36224" y="223113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36224" y="2258568"/>
            <a:ext cx="47548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22199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Hook (0-5 ث): سؤال او مشكلة تمس الجمهور فورا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01752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936224" y="319125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3218688"/>
            <a:ext cx="47548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18211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قيمة (5-20 ث): ميزتان واضحتان للمنتج او الحل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7764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936224" y="415137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36224" y="4178808"/>
            <a:ext cx="47548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14223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اثبات قصير: رقم او نتيجة او وعد قابل للتصديق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93776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936224" y="511149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36224" y="5138928"/>
            <a:ext cx="47548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10235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CTA (20-30 ث): اطلب اجراء واحد فقط (جرب / تواصل / زر الرابط)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الجلسة 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51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اخطاء شائعة في الوسائط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47088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173968" y="194767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73968" y="1956816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920240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استخدام صور/اصوات دون مراعاة حقوق الاستخدام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468880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173968" y="256946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73968" y="2578608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54203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لهجة صوت لا تناسب الجمهور او العلامة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9067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173968" y="319125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73968" y="3200400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16382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فيديو اطول من اللازم يفقد الانتباه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12464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173968" y="3813048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73968" y="3822192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785616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اسلوب بصري عشوائي بين الصورة والعرض والفيديو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334256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173968" y="4434840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73968" y="4443984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4407408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نصوص طويلة على الشاشة بدل جملة واحدة قوية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تطبيق عملي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52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تمرين: المصمم الشامل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هوية إعلان متكاملة</a:t>
            </a:r>
          </a:p>
        </p:txBody>
      </p:sp>
      <p:pic>
        <p:nvPicPr>
          <p:cNvPr id="12" name="Picture 11" descr="designer-exerci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7479" y="1874519"/>
            <a:ext cx="7206561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تطبيق عملي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53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مخرجات التمرين المطلوبة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5740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936224" y="223113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36224" y="2258568"/>
            <a:ext cx="47548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22199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توليد صورة منتج مناسبة للهوية الإعلانية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1752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936224" y="319125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36224" y="3218688"/>
            <a:ext cx="47548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18211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إنشاء عرض تقديمي من 4 شرائح يشرح فكرة المنتج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7764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936224" y="415137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36224" y="4178808"/>
            <a:ext cx="47548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14223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إنتاج فيديو قصير (30 ثانية) بمتحدث رقمي عن المميزات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93776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936224" y="511149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36224" y="5138928"/>
            <a:ext cx="47548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10235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تجميع المخرجات في مجلد واحد للعرض السريع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ختام اليوم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54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اكبر فائدة اليوم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ثلاث نقاط قابلة للتنفيذ فورا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836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امر صورة ثابت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836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ثبت اسلوبا واضاءة ونسبة لكل حملة.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292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408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سكربت قصير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408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اكتب الفيديو قبل توليده: Hook → قيمة → CTA.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حزمة متسقة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صورة + عرض + فيديو بنفس الالوان والنبرة.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ختام اليوم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55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مخرجات نهاية اليوم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حزمة اعلان جاهزة للمشاركة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93976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173968" y="2194560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73968" y="2203704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167128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صورة منتج باسلوب وهوية محددة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715768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173968" y="281635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73968" y="2825496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788920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عرض من 4 شرائح يشرح الفكرة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37560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173968" y="343814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73968" y="3447288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41071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فيديو 30 ثانية بمتحدث رقمي او صوت طبيعي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95935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173968" y="405993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73968" y="4069080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03250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مجلد واحد يجمع الملفات الثلاثة للمراجعة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للتطبيق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56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3 اوامر جاهزة — انسخ الآن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يوم 2: صورة وعرض وفيديو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836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امر صورة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836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منتج على خلفية بيضاء، اضاءة استوديو ناعمة، زاوية عين المستوى، نسبة 1:1.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292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408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امر عرض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408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حول هذا النص إلى عرض 4 شرائح: مشكلة، حل، مميزات، دعوة لاجراء.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سكربت فيديو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اكتب سكربت 30 ثانية: Hook ثم ميزتان ثم CTA واحد واضح.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9373" y="320040"/>
            <a:ext cx="515264" cy="42062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2653" y="347472"/>
            <a:ext cx="1378516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0" y="1234440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800" b="1" rtl="1" lang="ar-SA" altLang="en-US">
                <a:solidFill>
                  <a:srgbClr val="9E59CD"/>
                </a:solidFill>
                <a:latin typeface="IBM Plex Sans Arabic"/>
                <a:ea typeface="IBM Plex Sans Arabic"/>
                <a:cs typeface="IBM Plex Sans Arabic"/>
              </a:rPr>
              <a:t>اليوم الثالث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691640"/>
            <a:ext cx="6492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8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تحليل البيانات والأتمتة وبناء مساعد شخصي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4206240" cy="21488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.crop-hero-day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371600"/>
            <a:ext cx="3931920" cy="187451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46719" y="3657600"/>
            <a:ext cx="3566160" cy="21488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7" y="380390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الجلسة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7" y="4187952"/>
            <a:ext cx="316382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تحليل البيانات والقرارات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3657600"/>
            <a:ext cx="3566160" cy="214884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7" y="380390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الجلسة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7" y="4187952"/>
            <a:ext cx="316382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أتمتة المهام وربط الأدوات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3566160" cy="21488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80390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الجلسة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187952"/>
            <a:ext cx="316382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مساعد مخصص ومستقبل العمل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57  /  83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الجلسة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58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024128"/>
            <a:ext cx="6217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6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تحليل البيانات واتخاذ القرارات الذكية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2148840"/>
            <a:ext cx="6217920" cy="35661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237744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هدف الجلسة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880360"/>
            <a:ext cx="55778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8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رفع Excel/CSV والسؤال بلغة بشرية دون معادلات يدوية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48840"/>
            <a:ext cx="4480560" cy="356616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.crop-hero-dat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331720"/>
            <a:ext cx="41605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الجلسة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59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من الجدول إلى القرار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رفع → سؤال → رسم → توصية</a:t>
            </a:r>
          </a:p>
        </p:txBody>
      </p:sp>
      <p:pic>
        <p:nvPicPr>
          <p:cNvPr id="12" name="Picture 11" descr="data-to-deci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7479" y="1874519"/>
            <a:ext cx="7206561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الجلسة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60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ممارسات تحليل البيانات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47088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173968" y="194767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73968" y="1956816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920240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رفع ملفات Excel وCSV المعقدة وتحليلها بلغة بسيطة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468880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173968" y="256946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73968" y="2578608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54203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استخراج إحصاءات متقدمة وتوليد رسوم بيانية وخرائط حرارية فورا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9067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173968" y="319125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73968" y="3200400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16382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التنبؤ بالاتجاهات واستنتاج توصيات تشغيلية ومالية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12464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173968" y="3813048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73968" y="3822192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785616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التحقق من الافتراضات: اطلب المنهجية وحدود التحليل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الجلسة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61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أداة التحليل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11064240" cy="3474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11064240" cy="7315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.pad-icon-open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728" y="2468880"/>
            <a:ext cx="502920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31089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Advanced Data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4048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داخل ChatGPT — تحليل جداول ورسوم فورية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الجلسة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62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8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اسئلة تحليل جاهزة لـ Excel / 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انسخ بعد رفع الملف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93976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173968" y="2194560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73968" y="2203704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167128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لخص اعمدة البيانات وابرز 5 مؤشرات رئيسية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715768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173968" y="281635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73968" y="2825496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788920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اكتشف القيم الشاذة والصفوف الناقصة واشرح اثرها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37560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173968" y="343814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73968" y="3447288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41071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قارن الاداء حسب الشهر / المنتج / المنطقة في جدول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95935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173968" y="405993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73968" y="4069080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03250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اقترح 3 توصيات تشغيلية مبنية على البيانات فقط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581144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173968" y="4681728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73968" y="4690872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654296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ارسم رسما بيانيا مناسبا واشرح ماذا يعني للإدارة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الجلسة 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63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024128"/>
            <a:ext cx="6217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6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أتمتة المهام اليومية والربط بين الأدوات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2148840"/>
            <a:ext cx="6217920" cy="35661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237744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هدف الجلسة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880360"/>
            <a:ext cx="55778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8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بناء Workflow يربط البريد والجداول والردود الذكية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48840"/>
            <a:ext cx="4480560" cy="356616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.crop-hero-automati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331720"/>
            <a:ext cx="41605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الجلسة 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64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مفهوم سير العمل الآلي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مثال عملي من الإيميل إلى مسودة الرد</a:t>
            </a:r>
          </a:p>
        </p:txBody>
      </p:sp>
      <p:pic>
        <p:nvPicPr>
          <p:cNvPr id="12" name="Picture 11" descr="automation-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7479" y="1874519"/>
            <a:ext cx="7206561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الجلسة 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65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ماذا نربط؟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47088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173968" y="194767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73968" y="1956816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920240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Gmail وNotion وSlack وDrive كتطبيقات يومية شائعة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468880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173968" y="256946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73968" y="2578608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54203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محفز (Trigger) → خطوة ذكاء اصطناعي → إجراء (Action)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9067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173968" y="319125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73968" y="3200400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16382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مثال: إيميل عميل → تلخيص → صف في جدول → مسودة رد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12464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173968" y="3813048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73968" y="3822192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785616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ابدأ بمسار واحد بسيط ثم وسع الشروط والتنبيهات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الجلسة 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66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منصات الأتمتة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59" y="2194560"/>
            <a:ext cx="5417820" cy="3474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5059" y="2194560"/>
            <a:ext cx="5417820" cy="7315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.pad-icon-zapi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7937" y="2468880"/>
            <a:ext cx="502920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23659" y="3108960"/>
            <a:ext cx="49606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Zapier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3659" y="3840480"/>
            <a:ext cx="49606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مسارات سريعة وموصلات كثيرة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194560"/>
            <a:ext cx="5417820" cy="347472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194560"/>
            <a:ext cx="5417820" cy="73152"/>
          </a:xfrm>
          <a:prstGeom prst="rect">
            <a:avLst/>
          </a:prstGeom>
          <a:solidFill>
            <a:srgbClr val="9E59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.pad-icon-m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1518" y="2468880"/>
            <a:ext cx="502920" cy="5029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3108960"/>
            <a:ext cx="49606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Make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840480"/>
            <a:ext cx="49606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سيناريوهات مرئية أكثر تفصيلا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الجلسة 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67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قائمة تحقق قبل تشغيل الأتمتة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لا تفعل المسار قبل هذه النقاط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93976"/>
            <a:ext cx="11064240" cy="530352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173968" y="2194560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73968" y="2203704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167128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ما المحفز بالضبط؟ (إيميل جديد / نموذج / رسالة Slack)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173968" y="281635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73968" y="2825496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788920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هل توجد بيانات حساسة يجب حجبها قبل ارسالها للنموذج؟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337560"/>
            <a:ext cx="11064240" cy="530352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173968" y="343814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73968" y="3447288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41071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ما مسار الفشل؟ تنبيه بشري عند خطأ او نقص بيانات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173968" y="405993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73968" y="4069080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03250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هل الرد النهائي يحتاج موافقة بشرية قبل الارسال؟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581144"/>
            <a:ext cx="11064240" cy="530352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173968" y="4681728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73968" y="4690872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654296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هل سجلت المسار في مستند بسيط للفريق؟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الجلسة 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68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024128"/>
            <a:ext cx="6217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6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بناء مساعد شخصي مخصص بدون برمجة ومستقبل العمل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2148840"/>
            <a:ext cx="6217920" cy="35661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237744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هدف الجلسة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880360"/>
            <a:ext cx="55778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8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Custom GPT/Bot على ملفات داخلية + أخلاقيات وأمن البيانات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48840"/>
            <a:ext cx="4480560" cy="356616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.crop-hero-tea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331720"/>
            <a:ext cx="41605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الجلسة 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69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المساعد المخصص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720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836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Custom GPT / 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836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درب المساعد على ملفات الشركة ومجال العمل.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408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حدود المعرفة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408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حدد ما يسمح بالإجابة عنه وما يحال للإنسان.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مستقبل العمل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المساعد يسرع المهام الروتينية ويبقي القرار للفريق.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الجلسة 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70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خطوات بناء Custom GPT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من الهدف الى الاختبار</a:t>
            </a:r>
          </a:p>
        </p:txBody>
      </p:sp>
      <p:pic>
        <p:nvPicPr>
          <p:cNvPr id="12" name="Picture 11" descr="gpt-builder-ste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7479" y="1874519"/>
            <a:ext cx="7206561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الجلسة 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71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تفاصيل بناء المساعد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نفذ بالترتيب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5740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36224" y="223113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36224" y="2258568"/>
            <a:ext cx="47548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22199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حدد الهدف: لمن يخدم المساعد وما المهام المسموحة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01752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936224" y="319125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3218688"/>
            <a:ext cx="47548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18211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ارفع الملفات الداخلية المعتمدة فقط (سياسات / ادلة / اسعار عامة)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7764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936224" y="415137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36224" y="4178808"/>
            <a:ext cx="47548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14223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اكتب تعليمات واضحة: النبرة، الشكل، ومتى يقول لا اعرف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93776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936224" y="511149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36224" y="5138928"/>
            <a:ext cx="47548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10235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اختبر بـ 5 اسئلة حقيقية وعدل التعليمات قبل النشر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الجلسة 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72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أخلاقيات وأمن البيانات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قواعد لا تتجاوزها في العمل</a:t>
            </a:r>
          </a:p>
        </p:txBody>
      </p:sp>
      <p:pic>
        <p:nvPicPr>
          <p:cNvPr id="12" name="Picture 11" descr="ethics-secur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7479" y="1874519"/>
            <a:ext cx="7206561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الجلسة 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73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قواعد أمن البيانات عمليا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47088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173968" y="194767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73968" y="1956816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920240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ملكية المحتوى المولد وسياسات الاستخدام المؤسسي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468880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173968" y="256946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73968" y="2578608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54203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عدم رفع بيانات سرية إلى أدوات غير معتمدة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9067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173968" y="319125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73968" y="3200400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16382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التحقق البشري قبل نشر أو إرسال مخرجات حساسة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12464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173968" y="3813048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73968" y="3822192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785616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الشفافية مع العملاء عند استخدام الذكاء الاصطناعي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الجلسة 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74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أدوات بناء المساعد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59" y="2194560"/>
            <a:ext cx="5417820" cy="3474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5059" y="2194560"/>
            <a:ext cx="5417820" cy="7315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.pad-icon-open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7937" y="2468880"/>
            <a:ext cx="502920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23659" y="3108960"/>
            <a:ext cx="49606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GPT Builder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3659" y="3840480"/>
            <a:ext cx="49606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مساعد مخصص داخل منظومة ChatGPT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194560"/>
            <a:ext cx="5417820" cy="347472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194560"/>
            <a:ext cx="5417820" cy="73152"/>
          </a:xfrm>
          <a:prstGeom prst="rect">
            <a:avLst/>
          </a:prstGeom>
          <a:solidFill>
            <a:srgbClr val="9E59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.pad-icon-po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1518" y="2468880"/>
            <a:ext cx="502920" cy="5029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3108960"/>
            <a:ext cx="49606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Poe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840480"/>
            <a:ext cx="49606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تجربة بوتات متعددة ونشر سريع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مشروع التخرج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75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مشروع التخرج النهائي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فرق مصغرة وحل متكامل</a:t>
            </a:r>
          </a:p>
        </p:txBody>
      </p:sp>
      <p:pic>
        <p:nvPicPr>
          <p:cNvPr id="12" name="Picture 11" descr="capstone-proj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7479" y="1874519"/>
            <a:ext cx="7206561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مشروع التخرج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76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سيناريوهات جاهزة للاختيار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اختر مشكلة عمل واحدة وابدأ بسرعة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836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مبيعات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836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تلخيص استفسارات العملاء + مسودة رد + جدول متابعة.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292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408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موارد بشرية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408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تلخيص سياسة داخلية + اسئلة شائعة عبر بوت مخصص.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تسويق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صورة حملة + عرض 4 شرائح + فيديو 30 ثانية للمنتج.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مشروع التخرج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77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متطلبات المشروع والعرض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5740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936224" y="223113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36224" y="2258568"/>
            <a:ext cx="47548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22199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اختيار مشكلة عمل محددة للفريق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1752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936224" y="319125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36224" y="3218688"/>
            <a:ext cx="47548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18211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دمج: بحث ذكي + تصميم (صورة/عرض/فيديو) + أتمتة أو بوت مخصص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7764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936224" y="415137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36224" y="4178808"/>
            <a:ext cx="47548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14223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عرض سريع لكل فريق (دقائق معدودة)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93776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936224" y="511149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36224" y="5138928"/>
            <a:ext cx="47548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10235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تقييم الحلول من حيث الفائدة، الجودة، وقابلية التطبيق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مشروع التخرج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78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معايير تقييم العروض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كيف نقيم حلول الفرق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836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الفائدة (40%)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836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هل يحل مشكلة عمل حقيقية ويوفر وقتا واضحا؟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292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408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الجودة (30%)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408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دقة المحتوى، وضوح المخرجات، واتساق الهوية.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قابلية التطبيق (30%)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هل يمكن تشغيله غدا بحسابات وادوات متاحة؟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ختام الورشة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79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اكبر فائدة اليوم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ثلاث نقاط قابلة للتنفيذ فورا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836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اسال البيانات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836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ارفع جدولا واطلب ملخصا + شذوذا + توصيات.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292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408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اتمت بحذر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408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مسار واحد بسيط مع موافقة بشرية على الرد.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بوت محدود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مساعد بتعليمات واضحة وملفات معتمدة فقط.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ختام الورشة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80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خطة 7 ايام بعد الورشة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ماذا تطبق عند الرجوع للعمل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93976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173968" y="2194560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73968" y="2203704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167128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اليوم 1-2: ثبت قالب امر احترافي لمهامك المتكررة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715768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173968" y="281635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73968" y="2825496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788920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اليوم 3-4: انتج حزمة وسائط واحدة لحملة او منتج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37560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173968" y="343814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73968" y="3447288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41071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اليوم 5: حلل ملفا جدولا حقيقيا واكتب 3 توصيات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95935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173968" y="405993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73968" y="4069080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03250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اليوم 6: ابن مسارا اتوماتيا واحدا او Custom GPT بسيط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581144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173968" y="4681728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73968" y="4690872"/>
            <a:ext cx="329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rtl="1" lang="ar-SA" altLang="en-US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654296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اليوم 7: راجع النتائج مع زميلك وحدث الـ Cheatsheet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للتطبيق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81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3 اوامر جاهزة — انسخ الآن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يوم 3: بيانات وأتتمتة ومساعد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836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تحليل جدول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836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لخص الاعمدة، اكتشف الشذوذ، واقترح 3 توصيات تشغيلية من البيانات فقط.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292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408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مسار اتمتة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408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صمم مسار: إيميل وارد → تلخيص → صف في جدول → مسودة رد للموافقة.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148840"/>
            <a:ext cx="353568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295144"/>
            <a:ext cx="3133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تعليمات بوت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679192"/>
            <a:ext cx="313334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انت مساعد داخلي. اجب من الملفات فقط. ان لم تجد الجواب قل: لا اعرف.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694" y="320040"/>
            <a:ext cx="459257" cy="374904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7" y="347472"/>
            <a:ext cx="1206201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"/>
            <a:ext cx="8995586588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الورشة  ·  ابدأ هنا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82  / 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افتح حساباتك على الأدوات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سجل الدخول قبل التمارين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2194560"/>
            <a:ext cx="3535680" cy="3474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77200" y="2194560"/>
            <a:ext cx="3535680" cy="7315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.pad-icon-open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9008" y="2468880"/>
            <a:ext cx="502920" cy="502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05800" y="3108960"/>
            <a:ext cx="307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ChatGPT / Claude / Gemini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5800" y="3840480"/>
            <a:ext cx="307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الصياغة والتحليل والملفات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2920" y="2194560"/>
            <a:ext cx="3535680" cy="347472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2920" y="2194560"/>
            <a:ext cx="3535680" cy="73152"/>
          </a:xfrm>
          <a:prstGeom prst="rect">
            <a:avLst/>
          </a:prstGeom>
          <a:solidFill>
            <a:srgbClr val="9E59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.pad-icon-perplex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4728" y="2468880"/>
            <a:ext cx="502920" cy="502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41520" y="3108960"/>
            <a:ext cx="307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Perplexity · Midjourney · Gamma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3840480"/>
            <a:ext cx="307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بحث وصور وعروض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194560"/>
            <a:ext cx="3535680" cy="3474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2194560"/>
            <a:ext cx="3535680" cy="7315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.pad-icon-heyg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0448" y="2468880"/>
            <a:ext cx="502920" cy="5029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7240" y="3108960"/>
            <a:ext cx="307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HeyGen · Zapier / Make · GPT Builder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840480"/>
            <a:ext cx="307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rtl="1" lang="ar-SA" altLang="en-US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فيديو وأتتمتة ومساعد مخصص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-logo-mark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8044" y="320040"/>
            <a:ext cx="537667" cy="438912"/>
          </a:xfrm>
          <a:prstGeom prst="rect">
            <a:avLst/>
          </a:prstGeom>
        </p:spPr>
      </p:pic>
      <p:pic>
        <p:nvPicPr>
          <p:cNvPr id="4" name="Picture 3" descr="etra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3727" y="347472"/>
            <a:ext cx="1447441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1945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شكرا لكم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 rtl="1" lang="ar-SA" altLang="en-US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ابدأوا بالتمرين الصغير… ثم ابنوا حلكم المتكامل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rtl="1" lang="ar-SA" altLang="en-US">
                <a:solidFill>
                  <a:srgbClr val="9E59CD"/>
                </a:solidFill>
                <a:latin typeface="IBM Plex Sans Arabic"/>
                <a:ea typeface="IBM Plex Sans Arabic"/>
                <a:cs typeface="IBM Plex Sans Arabic"/>
              </a:rPr>
              <a:t>ETRA  ·  ورشة أدوات الذكاء الاصطناعي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4572000"/>
            <a:ext cx="4114800" cy="1371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.crop-hero-tea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4663440"/>
            <a:ext cx="3840480" cy="11887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rtl="1" lang="ar-SA" altLang="en-US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100" b="0" rtl="0" lang="en-US" altLang="ar-SA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83  /  83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