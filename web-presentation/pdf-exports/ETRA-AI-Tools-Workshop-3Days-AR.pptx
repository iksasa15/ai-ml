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7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9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2.png"/><Relationship Id="rId5" Type="http://schemas.openxmlformats.org/officeDocument/2006/relationships/image" Target="../media/image12.png"/><Relationship Id="rId6" Type="http://schemas.openxmlformats.org/officeDocument/2006/relationships/image" Target="../media/image2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4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9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8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4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5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6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7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8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2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4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5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46.png"/><Relationship Id="rId6" Type="http://schemas.openxmlformats.org/officeDocument/2006/relationships/image" Target="../media/image29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043" y="320040"/>
            <a:ext cx="537667" cy="438912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3726" y="347472"/>
            <a:ext cx="144744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173736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ورشة عملية  ·  ثلاثة أيام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2194560"/>
            <a:ext cx="6400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الاصطناعي التوليدي</a:t>
            </a:r>
          </a:p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للأعمال والمحتوى والأتمتة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0" y="3657600"/>
            <a:ext cx="1371600" cy="64008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3886200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هندسة الأوامر · الوسائط · البيانات · المساعد الشخصي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54480"/>
            <a:ext cx="4297680" cy="41148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.crop-hero-cov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1719072"/>
            <a:ext cx="3977639" cy="37947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01  /  91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الأجندة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02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توزيع الأيام الثلاثة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المفاهيم إلى التطبيق العملي</a:t>
            </a:r>
          </a:p>
        </p:txBody>
      </p:sp>
      <p:pic>
        <p:nvPicPr>
          <p:cNvPr id="12" name="Picture 11" descr="three-days-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3714" y="1965960"/>
            <a:ext cx="697409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نظرة عامة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03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نواتج التعلم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 الذي يكتسبه المتدرب بنهاية الورشة؟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إتقان هندسة الأوامر: صياغة طلبات مكتملة العناصر تقلل هلوسة المعلومات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إنتاج وسائط متعددة (صور وعروض وفيديو) بصياغة منضبطة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الجداول بلغة طبيعية وبناء مسارات أتمتة بسيطة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بناء مساعد شخصي مخصص مع الالتزام بضوابط أمن البيانات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تطبيق معايير مراجعة بشرية قبل اعتماد أي مخرج حساس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9371" y="320040"/>
            <a:ext cx="515264" cy="42062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2652" y="347472"/>
            <a:ext cx="1378516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0" y="12344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الأول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691640"/>
            <a:ext cx="6492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هندسة الأوامر بتعمق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420624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.crop-hero-day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371600"/>
            <a:ext cx="3931920" cy="18745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4671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الوحدة 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788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فهم النموذج وحدوده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الوحدة 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مكونات الأمر الاحترافي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الوحدة 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تقنيات متقدمة وضبط الجودة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04  /  91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05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فهم النموذج وحدوده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تمييز قدرات النموذج اللغوي وحدود موثوقيته قبل صياغة أي أمر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lapto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06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التقليدي مقابل التوليدي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متى يستخدم كل نوع في بيئة العمل؟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التقليدي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تصنيف وتنبؤ ضمن نطاق محدد؛ المخرج غالبا فئة أو رقم أو احتمال.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التوليدي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نص أو صورة أو شفرة جديدة انطلاقا من سياق الأمر.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الخلاصة المهنية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التوليدي مرن وغير مضمون؛ الأمر والمراجعة البشرية جزء أصيل من العمل.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07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آلية عمل النماذج اللغوية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التنبؤ بالرمز التالي وفق الاحتمال والسياق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المبدأ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يكمل النموذج التسلسل التالي اعتمادا على التدريب وسياق الأمر.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النتيجة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الأمر الغامض ينتج مخرجا عاما؛ الأمر الدقيق يرفع جودة الإجابة.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التحذير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الإقناع اللغوي لا يساوي التحقق من صحة الحقائق.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08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هلوسة المعلومات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تعريف · أمثلة · مخاطر مهنية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التعريف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محتوى يبدو صحيحا وهو مختلق أو غير مدعوم بمصدر موثوق.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أمثلة شائعة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أرقام · أسماء · تواريخ · اقتباسات غير موجودة في المدخل.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المخاطر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قرارات إدارية أو مراسلات خارجية مبنية على معلومات غير دقيقة.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09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حدود النموذج: ما يستطيع وما لا يضمن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إطار توقعات مهني واضح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يستطيع: إعادة الصياغة، التلخيص، اقتراح هياكل، توليد مسودات متعددة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يضمن: دقة الأرقام أو الأسماء دون مصدر أو ملف أو مراجعة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يعتمد على جودة الأمر: السياق والدور والجمهور والشكل والقيود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المسؤولية النهائية لاعتماد المخرج تبقى بشرية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10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لماذا تعد هندسة الأوامر مهارة مؤسسية؟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الجودة تتبع جودة التوجيه لا اسم الأداة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بدون توجيه كاف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مخرج عام يصعب اعتماده أو إرساله لصانع القرار.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مع توجيه مكتمل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مخرج قابل للاستخدام: أوضح، أقصر، وأكثر التزاما بالمعطيات.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القاعدة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يراجع الأمر أولا قبل الحكم على ضعف الأداة.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11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مكونات الأمر الاحترافي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بناء أمر مكتمل العناصر وتشخيص الأمر الضعيف خلال ثوان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day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12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المكونات الخمسة للأمر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السياق · الدور · الجمهور · الشكل · قيود الجودة</a:t>
            </a:r>
          </a:p>
        </p:txBody>
      </p:sp>
      <p:pic>
        <p:nvPicPr>
          <p:cNvPr id="12" name="Picture 11" descr="prompt-stru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13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السياق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ماذا حدث؟ ما الملف؟ ما يجب التركيز عليه؟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ضعيف: «لخص التقرير» — دون تحديد الملف أو الهدف أو القيود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أفضل: تقرير مبيعات أغسطس لفرع الرياض؛ الهدف 1.2 مليون؛ المتحقق 980 ألف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أضف: ركز على أسباب الفجوة لا على الإنجازات العامة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الأثر: يمنع التلخيص العشوائي ويرفع صلة المخرج بالقرار المطلوب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14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الدور (Persona)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يضبط المفردات وعمق التحليل وزاوية النظر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بدون دور: نبرة غير مستقرة وقد لا تناسب السياق المؤسسي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«أنت محلل إداري» يميل إلى توصية حذرة مدعومة بمعطيات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«أنت كاتب محتوى تسويقي» يميل إلى نبرة إقناعية مختلفة تماما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اختبر: غير الدور فقط على المدخل نفسه ولاحظ اختلاف الناتج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15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الجمهور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نفس الحقيقة تعرض بصيغ مختلفة حسب القارئ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صانع قرار تنفيذي: مختصر + قرار مطلوب + أثر رقمي واضح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فريق تشغيلي: تفاصيل تنفيذ ومسؤوليات وخطوات تالية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جمهور عام أو مهني خارجي: قيمة عامة دون بيانات داخلية حساسة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تحديد الجمهور يؤدي إلى تذبذب مستوى الرسمية والتفصيل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16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شكل المخرجات (Format)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حول الإجابة من فقرة عامة إلى أداة عمل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الشكل صراحة: نقاط مرقمة · جدول · رسالة رسمية · ملخص تنفيذي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مثال: «خمس نقاط ثم توصية واحدة في سطرين»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مثال: «جدول عمودين: السبب | الإجراء المقترح»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ترك الشكل مفتوحا غالبا ينتج نصا طويلا قليل الفائدة التشغيلية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17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قيود الجودة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طبقة الأمان داخل الأمر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تخترع أرقاما أو أسماء أو تواريخ غير موجودة في المدخل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 لم تتوفر المعلومة فاكتب: غير متوفر / لا أعرف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الطول الأقصى ومستوى الرسمية المطلوب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افصل الحقائق الواردة في الملف عن التوصيات المقترحة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18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أمر ضعيف مقابل أمر قوي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نفس الأداة · جودة مختلفة · السبب في صياغة الطلب</a:t>
            </a:r>
          </a:p>
        </p:txBody>
      </p:sp>
      <p:pic>
        <p:nvPicPr>
          <p:cNvPr id="12" name="Picture 11" descr="weak-vs-stro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19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نموذج أمر جاهز (Cheat Sheet)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الهيكل وعدل الحقول فقط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2075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762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1854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21488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السياق: [الموقف / الملف / القيود / محور التركيز]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25328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6334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6426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0488" y="26060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الدور: أنت [محلل / محرر / مختص] بخبرة في [المجال]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89320" y="29900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090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099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0488" y="30632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الجمهور: موجه إلى [مدير تنفيذي / فريق / جمهور مهني]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89320" y="34472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35478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35570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90488" y="35204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الشكل: أخرج النتيجة بصيغة [نقاط / جدول / رسالة / تقرير]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89320" y="39044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173968" y="4005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73968" y="40142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0488" y="39776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القيود: الطول · الرسمية · لا تختلق · اذكر غير المتوفر صراحة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89320" y="4361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1173968" y="44622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173968" y="44714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0488" y="44348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المهمة: [الطلب النهائي بجملة واحدة واضحة]</a:t>
            </a:r>
          </a:p>
        </p:txBody>
      </p:sp>
      <p:pic>
        <p:nvPicPr>
          <p:cNvPr id="36" name="Picture 35" descr="prompt-stru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504052"/>
            <a:ext cx="5212080" cy="307519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20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مثال تطبيقي مكتمل — فرع الرياض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ابدأ من أمر ممتلئ ثم عدل القيم حسب مهمتك</a:t>
            </a:r>
          </a:p>
        </p:txBody>
      </p:sp>
      <p:pic>
        <p:nvPicPr>
          <p:cNvPr id="12" name="Picture 11" descr="filled-prompt-exam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21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تطبيق الوحدة 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أعد بناء أمر ضعيف إلى أمر مكتمل العناصر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خذ أمرا ضعيفا: «اكتب لي عن التقرير»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أضف السياق والدور والجمهور والشكل والقيود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نفذ الأمرين على ملف مبيعات الرياض وقارن المخرجين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احفظ النموذج الستة في ملفك الشخصي فورا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22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تقنيات متقدمة وضبط الجودة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توظيف CoT وFew-Shot وإطار الحد من الهلوسة بمعايير قبول واضحة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researc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23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التوجيه المتسلسل (Chain-of-Thought)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متى يستخدم ومتى يتجنب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يستخدم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مقارنة بدائل · توصية من عدة معطيات · تلخيص ثم استنتاج.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الصيغة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خطوات التفكير في 3–5 أسطر ثم أعط النتيجة النهائية فقط.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يتجنب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المراسلات القصيرة وإعادة الصياغة البسيطة؛ يطيل بلا فائدة.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24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التعلم من الأمثلة (Few-Shot)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تثبيت النبرة والشكل داخل الأمر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يستخدم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نمط ثابت لمراسلات الدعم أو المحاضر أو المحتوى الدوري.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الهيكل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مثال 1: مدخل/مخرج · مثال 2 · ثم نفذ على المدخل الجديد.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تجنب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لصق نص طويل دون تمييز الأمثلة بعناوين واضحة.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25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الجمع بين التقنيات دون إطالة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اختر الأداة المناسبة للمهمة لا تكديس الأساليب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ابدأ دائما بالمكونات الخمسة قبل أي تقنية متقدمة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أضف Few-Shot عند الحاجة لنبرة أو شكل ثابت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أضف Chain-of-Thought عند الحاجة لترتيب منطقي صريح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تجمع التقنيتين مع أمر بسيط؛ راقب الطول والفائدة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26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إطار الحد من هلوسة المعلومات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طبقات متكاملة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1) داخل الأمر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قيود الدقة وعبارة: اذكر غير المتوفر بدل الاختلاق.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2) في الأداة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الاعتماد على ملف مرفوع أو مصادر قابلة للمراجعة.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3) بعد الناتج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مراجعة بشرية للأرقام والأسماء والتواريخ قبل الاعتماد.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27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اختيار الأداة وفق المهمة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المعيار: طبيعة المهمة ونوع الملف والحاجة إلى الويب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pad-icon-open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ChatGPT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عامة · تجارب سريعة · مساعد يومي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.pad-icon-anthrop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Claude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ملفات طويلة · صياغة منضبطة · تقارير كثيفة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.pad-icon-gemin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Google Gemini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سياق ويب ووسائط متعددة في مسار واحد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28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سلامة البيانات عند الاستخدام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ضوابط إلزامية قبل رفع أي ملف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استخدم ملفات تدريبية في التمارين؛ تجنب العقود السرية الحقيقية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احذف الأسماء والأرقام الحساسة أو جهل البيانات قبل الرفع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تعتمد أداة شخصية غير معتمدة لبيانات جهة العمل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ميز بين مسودة داخلية ومحتوى قابل للنشر الخارجي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29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أخطاء شائعة في هندسة الأوامر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كل خطأ يقابله علاج مباشر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طلب غامض بلا هدف → حدد المخرج المطلوب بجملة صريحة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غياب الجمهور → حدد القارئ ومستوى الرسمية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غياب الشكل → اطلب نقاطا أو جدولا أو هيكل رسالة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اعتماد المخرج دون تحقق → دقيقة مراجعة للأرقام قبل الإرسال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أمر طويل بلا أولوية → ضع المهمة أولا ثم السياق ثم التفاصيل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30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العمل المهني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إعداد → تنفيذ → مراجعة → اعتماد</a:t>
            </a:r>
          </a:p>
        </p:txBody>
      </p:sp>
      <p:pic>
        <p:nvPicPr>
          <p:cNvPr id="12" name="Picture 11" descr="practice-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تطبيق ختامي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31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تطبيق ختامي لليوم الأول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مهمة عمل كاملة بأمر واحد قوي ومعايير قبول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اختر مهمة حقيقية من عملك أو استخدم ملف مبيعات الرياض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ابن أمرا مكتمل العناصر الستة ثم نفذه في الأداة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طبق إطار الحد من الهلوسة وراجع الأرقام والأسماء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قرر الاعتماد أو التعديل وفق معايير القبول قبل الإرسال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ختام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32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خلاصة اليوم الأول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ثبت العادة قبل الانتقال إلى وسائط اليوم الثاني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الأمر أولا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مكونات كاملة قبل اختيار الأداة أو التقنية.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المراجعة دوما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اعتماد لأرقام أو أسماء دون تحقق بشري.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غدا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الوسائط بنفس الانضباط: موضوع · أسلوب · جمهور · شكل · قيود.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ختام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33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تواصل معي على LinkedIn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امسح الرمز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2057400"/>
            <a:ext cx="470916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edin-qr-ahmed014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79" y="2331720"/>
            <a:ext cx="3063240" cy="306324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48640" y="2057400"/>
            <a:ext cx="5943600" cy="3977639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743200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امسح الرمز الآن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6576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linkedin.com/in/ahmed014x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20624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2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https://www.linkedin.com/in/ahmed014x/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9371" y="320040"/>
            <a:ext cx="515264" cy="42062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2652" y="347472"/>
            <a:ext cx="1378516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0" y="12344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الثاني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691640"/>
            <a:ext cx="6492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الوسائط المتعددة بتعمق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420624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.crop-hero-day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371600"/>
            <a:ext cx="3931920" cy="18745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4671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الوحدة 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788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الصور والرسومات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الوحدة 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تصميم العروض التقديمية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الوحدة 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الفيديو والصوت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34  /  91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إطار اليوم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35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هندسة الأوامر إلى الوسائط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نفس المكونات الخمسة · قناة إخراج مختلفة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19" y="2148840"/>
            <a:ext cx="5394959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7" y="2295144"/>
            <a:ext cx="499262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جسر يوم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7" y="2679192"/>
            <a:ext cx="4992623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السياق · الدور · الجمهور · الشكل · القيود تبقى أساس كل أمر.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48840"/>
            <a:ext cx="5394959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295144"/>
            <a:ext cx="499262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إسقاط على الوسائط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679192"/>
            <a:ext cx="4992623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موضوع≈سياق · أسلوب≈هوية · جمهور · شكل/نسبة · قيود/حقوق.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نظرة عامة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36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إنتاج الوسائط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صورة → عرض → فيديو في سلسلة واحدة متسقة الهوية</a:t>
            </a:r>
          </a:p>
        </p:txBody>
      </p:sp>
      <p:pic>
        <p:nvPicPr>
          <p:cNvPr id="12" name="Picture 11" descr="media-st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37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توليد الصور والرسومات الاحترافية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أمر صورة مكتمل العناصر وتعديله للاستخدام التسويقي بمعايير قبول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medi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38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أساسيات بصرية لأمر الصورة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قبل اختيار الأداة: ثبت القرارات البصرية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الإضاءة: طبيعية · استوديو ناعمة · ذهبية — اختر واحدة وثبتها للحملة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زاوية الكاميرا: علوية · عين المستوى · قريبة للمنتج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الأسلوب: واقعي · مسطح · ثلاثي الأبعاد · وفق هوية العلامة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النسبة: 1:1 للمنصات · 16:9 للعروض · 9:16 للقصص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39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المكونات الخمسة لأمر الصورة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موضوع · أسلوب · إضاءة · زاوية · نسبة — ثم القيود</a:t>
            </a:r>
          </a:p>
        </p:txBody>
      </p:sp>
      <p:pic>
        <p:nvPicPr>
          <p:cNvPr id="12" name="Picture 11" descr="image-prompt-anatom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40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أمر صورة ضعيف مقابل أمر قوي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نفس الأداة · جودة مختلفة · السبب في صياغة الطلب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ضعيف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«صور لي منتج حلو.» — بلا موضوع محدد ولا أسلوب ولا نسبة ولا قيود.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منتج سماعة على خلفية بيضاء · أسلوب واقعي · إضاءة استوديو ناعمة · عين المستوى · نسبة 1:1 · بلا نص مشوه.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القاعدة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يراجع أمر الصورة أولا قبل الحكم على ضعف الأداة.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41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مثال أمر صورة مكتمل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ابدأ من أمر ممتلئ ثم عدل القيم حسب منتجك</a:t>
            </a:r>
          </a:p>
        </p:txBody>
      </p:sp>
      <p:pic>
        <p:nvPicPr>
          <p:cNvPr id="12" name="Picture 11" descr="filled-image-prompt-exam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42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تقنيات التعديل والتوظيف المهني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Inpainting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استبدال عنصر محدد داخل الصورة دون إعادة توليدها كاملة.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Outpainting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توسيع الإطار لملاءمة بانر أو خلفية أوسع.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التوظيف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هويات بصرية وإعلانات وتصاميم مواقع بمعايير قبول واضحة.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43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اختيار أداة الصورة وفق المهمة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المعيار: الجودة الفنية · سرعة التعديل · ثبات النمط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pad-icon-midjourn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Midjourney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جودة فنية عالية للحملات والأفكار البصرية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.pad-icon-opena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DALL·E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تعديل سريع داخل ChatGPT ووصف طويل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.pad-icon-leonard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Leonardo.ai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تكرار نمط ثابت للمنتجات والتجارب المتعددة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44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تطبيق الوحدة 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ابن أمر صورة مكتملا ونفذه بمعايير قبول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اختر منتجا حقيقيا أو استخدم مثال السماعة التدريبي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أمرا بالعناصر الخمسة ثم أضف قيود الجودة والحقوق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نفذ في الأداة وقارن مع أمر ضعيف قصير على نفس الموضوع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معايير القبول: النسبة صحيحة · بلا نص مشوه · الأسلوب ثابت · صالح للنشر الداخلي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45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تصميم العروض التقديمية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فكرة أو مستند إلى عرض بمعايير قبول قبل المشاركة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day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46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نص إلى عرض جاهز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مدخل واضح → هيكل شرائح → مراجعة هوية → تصدير</a:t>
            </a:r>
          </a:p>
        </p:txBody>
      </p:sp>
      <p:pic>
        <p:nvPicPr>
          <p:cNvPr id="12" name="Picture 11" descr="deck-prompt-anatom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47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هيكل أمر العرض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مشكلة · حل · مميزات · دعوة لإجراء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الجمهور: مدير تنفيذي · فريق مبيعات · جمهور عام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اطلب عدد الشرائح صراحة (مثال: أربع شرائح فقط)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هيكل مقترح: مشكلة → حل → مميزات → دعوة لإجراء واحدة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قيود: شريحة واحدة = فكرة واحدة · نقاط قصيرة · بلا فقرات طويلة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48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أمر عرض ضعيف مقابل أمر قوي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الفرق في تحديد الشكل والجمهور والقيود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ضعيف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«سو لي عرض عن المنتج.» — بلا جمهور ولا عدد شرائح ولا هيكل.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حول النص إلى عرض 4 شرائح لمدير تنفيذي: مشكلة، حل، مميزتان، دعوة لإجراء واحدة.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بعد التوليد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احذف الشرائح المكررة واضبط الهوية قبل مشاركة الرابط.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49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العروض وفق المهمة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59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5059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.pad-icon-gam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7937" y="24688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23659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Gamma App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3659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عرض سريع من أمر أو مستند مع رابط مشاركة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.pad-icon-beautifula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1518" y="246888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Beautiful.ai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قوالب ذكية وإعادة ترتيب تلقائي للعناصر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50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جودة العرض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قبل مشاركة الرابط أو التصدير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عنوان كل شريحة واضح في ست كلمات أو أقل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73968" y="272491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73405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69748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شريحة واحدة = فكرة واحدة فقط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154680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2552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2644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2278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أقل نص ممكن: نقاط قصيرة لا فقرات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173968" y="3785615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794759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58183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تباين بصري جيد بين النص والخلفية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215384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173968" y="431596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73968" y="432511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28853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إزالة الشرائح المكررة أو الزائدة بعد التوليد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173968" y="48463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73968" y="485546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481888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اتساق الألوان والخطوط مع هوية الحملة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51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تطبيق الوحدة 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أنتج عرضا من أربع شرائح بمعايير القبول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جهز فقرة قصيرة عن منتج أو فكرة من عملك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أمر عرض مكتمل العناصر ونفذه في Gamma أو Beautiful.ai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طبق قائمة التحقق وعدل الشرائح يدويا عند الحاجة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معايير القبول: 4 شرائح · فكرة واحدة لكل شريحة · دعوة إجراء واحدة · جاهز للمشاركة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52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إنتاج الفيديو والصوت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كتابة سكربت 30 ثانية ثم توليده بأفاتار أو صوت بمعايير قبول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medi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53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قدرات الفيديو والصوت وحدودها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مرونة عالية · مراجعة بشرية قبل النشر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أفاتار ناطق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متحدث رقمي بلغات متعددة للشروحات والإعلانات القصيرة.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نص إلى فيديو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مقطع توضيحي من سكربت مكتوب بالصوت والمشهد.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الحد المهني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الجودة تتبع السكربت والهوية؛ لا تنشر دون مراجعة بشرية.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54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فيديو 30 ثانية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جذب الانتباه → القيمة → دعوة لإجراء</a:t>
            </a:r>
          </a:p>
        </p:txBody>
      </p:sp>
      <p:pic>
        <p:nvPicPr>
          <p:cNvPr id="12" name="Picture 11" descr="video-script-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55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السكربت للنسخ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هيكل زمني جاهز للتعديل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جذب الانتباه (0–5 ث): سؤال أو مشكلة تمس الجمهور فورا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القيمة (5–20 ث): ميزتان واضحتان للمنتج أو الحل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إثبات قصير: رقم أو نتيجة أو وعد قابل للتصديق من مصدر موثوق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دعوة لإجراء (20–30 ث): اطلب إجراء واحدا فقط (جرب / تواصل / زر الرابط)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56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اختيار أداة الفيديو والصوت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المعيار: أفاتار · صوت · توليد مقطع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pad-icon-heyg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HeyGen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أفاتار ناطق وإعلانات قصيرة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.pad-icon-elevenlab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ElevenLabs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صوت طبيعي وتحويل نص إلى كلام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.pad-icon-runwa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Runway / Pika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وتعديل مقاطع فيديو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57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أخطاء شائعة وحقوق الاستخدام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طبقة أمان قبل اعتماد المخرج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استخدام صور أو أصوات دون التحقق من حقوق الاستخدام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نبرة صوت لا تناسب الجمهور أو هوية العلامة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أطول من اللازم يفقد الانتباه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أسلوب بصري عشوائي بين الصورة والعرض والفيديو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نصوص طويلة على الشاشة بدل جملة واحدة قوية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58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تطبيق الوحدة 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اكتب السكربت أولا ثم ولد المقطع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سكربت 30 ثانية بالهيكل الأربعة على منتجك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اختر أداة مناسبة (أفاتار أو صوت) ونفذ المسودة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راجع النبرة والطول ووضوح دعوة الإجراء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معايير القبول: ≤30 ثانية · دعوة إجراء واحدة · نبرة متسقة · صالح للمراجعة الداخلية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تطبيق ختامي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59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تمرين: المصمم الشامل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حزمة إعلان متسقة الهوية</a:t>
            </a:r>
          </a:p>
        </p:txBody>
      </p:sp>
      <p:pic>
        <p:nvPicPr>
          <p:cNvPr id="12" name="Picture 11" descr="designer-exerci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تطبيق ختامي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60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بوابة جودة الحزمة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صورة · عرض · فيديو — مراجعة قبل الاعتماد</a:t>
            </a:r>
          </a:p>
        </p:txBody>
      </p:sp>
      <p:pic>
        <p:nvPicPr>
          <p:cNvPr id="12" name="Picture 11" descr="media-quality-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تطبيق ختامي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61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التمرين ومعايير القبول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صورة منتج بأمر مكتمل العناصر ونسبة محددة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إنشاء عرض من 4 شرائح يشرح الفكرة لدعوة إجراء واحدة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إنتاج فيديو 30 ثانية بمتحدث رقمي أو صوت طبيعي من السكربت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تجميع الملفات في مجلد واحد ومراجعة الاتساق البصري والنبرة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ختام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62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خلاصة اليوم الثاني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ثبت العادة قبل الانتقال إلى بيانات اليوم الثالث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أمر صورة ثابت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ثبت أسلوبا وإضاءة ونسبة لكل حملة.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قبل التوليد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جذب انتباه → قيمة → دعوة لإجراء.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غدا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الجداول والأتمتة بنفس الانضباط: سؤال واضح · مصدر · مراجعة.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ختام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63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تواصل معي على LinkedIn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امسح الرمز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2057400"/>
            <a:ext cx="470916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edin-qr-ahmed014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79" y="2331720"/>
            <a:ext cx="3063240" cy="306324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48640" y="2057400"/>
            <a:ext cx="5943600" cy="3977639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743200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امسح الرمز الآن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6576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linkedin.com/in/ahmed014x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20624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2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https://www.linkedin.com/in/ahmed014x/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9371" y="320040"/>
            <a:ext cx="515264" cy="42062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2652" y="347472"/>
            <a:ext cx="1378516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0" y="12344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الثالث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691640"/>
            <a:ext cx="6492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والأتمتة وبناء مساعد شخصي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420624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.crop-hero-day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371600"/>
            <a:ext cx="3931920" cy="18745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4671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788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والقرارات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أتمتة المهام وربط الأدوات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مخصص ومستقبل العمل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64  /  91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65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واتخاذ القرارات الذكية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Excel/CSV والسؤال بلغة بشرية دون معادلات يدوية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dat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66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الجدول إلى القرار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رفع → سؤال → رسم → توصية</a:t>
            </a:r>
          </a:p>
        </p:txBody>
      </p:sp>
      <p:pic>
        <p:nvPicPr>
          <p:cNvPr id="12" name="Picture 11" descr="data-to-decis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67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ممارسات تحليل البيانات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ملفات Excel وCSV المعقدة وتحليلها بلغة بسيطة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استخراج إحصاءات متقدمة وتوليد رسوم بيانية وخرائط حرارية فورا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التنبؤ بالاتجاهات واستنتاج توصيات تشغيلية ومالية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من الافتراضات: اطلب المنهجية وحدود التحليل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68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أداة التحليل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94560"/>
            <a:ext cx="1106424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194560"/>
            <a:ext cx="1106424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.pad-icon-open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10896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Advanced Data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0480"/>
            <a:ext cx="10607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داخل ChatGPT — تحليل جداول ورسوم فورية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69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اسئلة تحليل جاهزة لـ Excel / CSV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بعد رفع الملف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اعمدة البيانات وابرز 5 مؤشرات رئيسية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اكتشف القيم الشاذة والصفوف الناقصة واشرح اثرها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قارن الاداء حسب الشهر / المنتج / المنطقة في جدول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اقترح 3 توصيات تشغيلية مبنية على البيانات فقط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ارسم رسما بيانيا مناسبا واشرح ماذا يعني للإدارة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70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أتمتة المهام اليومية والربط بين الأدوات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بناء Workflow يربط البريد والجداول والردود الذكية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automatio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71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مفهوم سير العمل الآلي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مثال عملي من الإيميل إلى مسودة الرد</a:t>
            </a:r>
          </a:p>
        </p:txBody>
      </p:sp>
      <p:pic>
        <p:nvPicPr>
          <p:cNvPr id="12" name="Picture 11" descr="automation-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72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ماذا نربط؟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Gmail وNotion وSlack وDrive كتطبيقات يومية شائعة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محفز (Trigger) → خطوة ذكاء اصطناعي → إجراء (Action)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مثال: إيميل عميل → تلخيص → صف في جدول → مسودة رد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ابدأ بمسار واحد بسيط ثم وسع الشروط والتنبيهات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73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منصات الأتمتة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59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5059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.pad-icon-zapi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7937" y="24688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23659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Zapier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3659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مسارات سريعة وموصلات كثيرة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.pad-icon-mak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1518" y="246888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Make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سيناريوهات مرئية أكثر تفصيلا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74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قبل تشغيل الأتمتة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لا تفعل المسار قبل هذه النقاط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المحفز بالضبط؟ (إيميل جديد / نموذج / رسالة Slack)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توجد بيانات حساسة يجب حجبها قبل ارسالها للنموذج؟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مسار الفشل؟ تنبيه بشري عند خطأ او نقص بيانات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الرد النهائي يحتاج موافقة بشرية قبل الارسال؟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81144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سجلت المسار في مستند بسيط للفريق؟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75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بناء مساعد شخصي مخصص بدون برمجة ومستقبل العمل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Custom GPT/Bot على ملفات داخلية + أخلاقيات وأمن البيانات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tea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76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المساعد المخصص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Custom GPT / Bot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درب المساعد على ملفات الشركة ومجال العمل.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حدود المعرفة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ما يسمح بالإجابة عنه وما يحال للإنسان.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مستقبل العمل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المساعد يسرع المهام الروتينية ويبقي القرار للفريق.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77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خطوات بناء Custom GPT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الهدف الى الاختبار</a:t>
            </a:r>
          </a:p>
        </p:txBody>
      </p:sp>
      <p:pic>
        <p:nvPicPr>
          <p:cNvPr id="12" name="Picture 11" descr="gpt-builder-ste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78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بناء المساعد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نفذ بالترتيب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الهدف: لمن يخدم المساعد وما المهام المسموحة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ارفع الملفات الداخلية المعتمدة فقط (سياسات / ادلة / اسعار عامة)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تعليمات واضحة: النبرة، الشكل، ومتى يقول لا اعرف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اختبر بـ 5 اسئلة حقيقية وعدل التعليمات قبل النشر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79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أخلاقيات وأمن البيانات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قواعد لا تتجاوزها في العمل</a:t>
            </a:r>
          </a:p>
        </p:txBody>
      </p:sp>
      <p:pic>
        <p:nvPicPr>
          <p:cNvPr id="12" name="Picture 11" descr="ethics-secu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80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قواعد أمن البيانات عمليا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ملكية المحتوى المولد وسياسات الاستخدام المؤسسي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رفع بيانات سرية إلى أدوات غير معتمدة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البشري قبل نشر أو إرسال مخرجات حساسة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الشفافية مع العملاء عند استخدام الذكاء الاصطناعي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81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بناء المساعد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59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5059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.pad-icon-open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7937" y="24688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23659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GPT Builder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3659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مخصص داخل منظومة ChatGPT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.pad-icon-po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1518" y="246888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Poe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تجربة بوتات متعددة ونشر سريع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82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مشروع التخرج النهائي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فرق مصغرة وحل متكامل</a:t>
            </a:r>
          </a:p>
        </p:txBody>
      </p:sp>
      <p:pic>
        <p:nvPicPr>
          <p:cNvPr id="12" name="Picture 11" descr="capstone-proj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83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سيناريوهات جاهزة للاختيار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اختر مشكلة عمل واحدة وابدأ بسرعة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مبيعات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تلخيص استفسارات العملاء + مسودة رد + جدول متابعة.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موارد بشرية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تلخيص سياسة داخلية + اسئلة شائعة عبر بوت مخصص.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تسويق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حملة + عرض 4 شرائح + فيديو 30 ثانية للمنتج.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84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متطلبات المشروع والعرض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اختيار مشكلة عمل محددة للفريق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دمج: بحث ذكي + تصميم (صورة/عرض/فيديو) + أتمتة أو بوت مخصص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عرض سريع لكل فريق (دقائق معدودة)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تقييم الحلول من حيث الفائدة، الجودة، وقابلية التطبيق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85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معايير تقييم العروض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كيف نقيم حلول الفرق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الفائدة (40%)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يحل مشكلة عمل حقيقية ويوفر وقتا واضحا؟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الجودة (30%)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دقة المحتوى، وضوح المخرجات، واتساق الهوية.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قابلية التطبيق (30%)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يمكن تشغيله غدا بحسابات وادوات متاحة؟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ختام الورشة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86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اكبر فائدة اليوم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نقاط قابلة للتنفيذ فورا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اسال البيانات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ارفع جدولا واطلب ملخصا + شذوذا + توصيات.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اتمت بحذر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مسار واحد بسيط مع موافقة بشرية على الرد.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بوت محدود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بتعليمات واضحة وملفات معتمدة فقط.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ختام الورشة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87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خطة 7 ايام بعد الورشة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ماذا تطبق عند الرجوع للعمل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1-2: ثبت قالب امر احترافي لمهامك المتكررة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3-4: انتج حزمة وسائط واحدة لحملة او منتج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5: حلل ملفا جدولا حقيقيا واكتب 3 توصيات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6: ابن مسارا اتوماتيا واحدا او Custom GPT بسيط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7: راجع النتائج مع زميلك وحدث الـ Cheatsheet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للتطبيق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88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3 اوامر جاهزة — انسخ الآن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يوم 3: بيانات وأتتمتة ومساعد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جدول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الاعمدة، اكتشف الشذوذ، واقترح 3 توصيات تشغيلية من البيانات فقط.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اتمتة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صمم مسار: إيميل وارد → تلخيص → صف في جدول → مسودة رد للموافقة.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تعليمات بوت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انت مساعد داخلي. اجب من الملفات فقط. ان لم تجد الجواب قل: لا اعرف.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ختام الورشة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89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تواصل معي على LinkedIn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امسح الرمز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2057400"/>
            <a:ext cx="470916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edin-qr-ahmed014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79" y="2331720"/>
            <a:ext cx="3063240" cy="306324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48640" y="2057400"/>
            <a:ext cx="5943600" cy="3977639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743200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امسح الرمز الآن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6576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linkedin.com/in/ahmed014x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20624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2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https://www.linkedin.com/in/ahmed014x/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ابدأ هنا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90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افتح حساباتك على الأدوات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سجل الدخول قبل التمارين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pad-icon-open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ChatGPT / Claude / Gemini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الصياغة والتحليل والملفات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.pad-icon-perplexit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Perplexity · Midjourney · Gamma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بحث وصور وعروض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.pad-icon-heyg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HeyGen · Zapier / Make · GPT Builder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وأتتمتة ومساعد مخصص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043" y="320040"/>
            <a:ext cx="537667" cy="438912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3726" y="347472"/>
            <a:ext cx="144744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1945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شكرا لكم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089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ابدأوا بالتمرين الصغير… ثم ابنوا حلكم المتكامل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ETRA  ·  ورشة أدوات الذكاء الاصطناعي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0" y="4572000"/>
            <a:ext cx="4114800" cy="1371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.crop-hero-tea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4663440"/>
            <a:ext cx="3840480" cy="11887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91  /  91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