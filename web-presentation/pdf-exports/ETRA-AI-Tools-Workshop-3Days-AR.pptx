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Relationship Id="rId6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0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3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7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9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40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42.png"/><Relationship Id="rId6" Type="http://schemas.openxmlformats.org/officeDocument/2006/relationships/image" Target="../media/image2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043" y="320040"/>
            <a:ext cx="537667" cy="438912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726" y="347472"/>
            <a:ext cx="144744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94560"/>
            <a:ext cx="6400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365760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388620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4297680" cy="4114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.crop-hero-cov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719072"/>
            <a:ext cx="3977639" cy="3794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01  /  83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02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2" name="Picture 11" descr="three-days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03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نواتج التعلم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 الذي يكتسبه المتدرب بنهاية الورشة؟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إتقان هندسة الأوامر: صياغة طلبات مكتملة العناصر تقلل هلوسة المعلومات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وسائط متعددة (صور وعروض وفيديو) بصياغة منضبطة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الجداول بلغة طبيعية وبناء مسارات أتمتة بسيطة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مع الالتزام بضوابط أمن البيانات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تطبيق معايير مراجعة بشرية قبل اعتماد أي مخرج حساس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بتعمق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النموذج وحدوده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مكونات الأمر الاحترافي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الوحدة 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تقنيات متقدمة وضبط الجودة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04  /  83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05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فهم النموذج وحدوده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تمييز قدرات النموذج اللغوي وحدود موثوقيته قبل صياغة أي أمر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lapt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06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 مقابل التوليدي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يستخدم كل نوع في بيئة العمل؟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تصنيف وتنبؤ ضمن نطاق محدد؛ المخرج غالبا فئة أو رقم أو احتمال.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نص أو صورة أو شفرة جديدة انطلاقا من سياق الأمر.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الخلاصة المهنية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التوليدي مرن وغير مضمون؛ الأمر والمراجعة البشرية جزء أصيل من العمل.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07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آلية عمل النماذج اللغوية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التنبؤ بالرمز التالي وفق الاحتمال والسياق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المبدأ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يكمل النموذج التسلسل التالي اعتمادا على التدريب وسياق الأمر.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النتيجة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الأمر الغامض ينتج مخرجا عاما؛ الأمر الدقيق يرفع جودة الإجابة.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التحذير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الإقناع اللغوي لا يساوي التحقق من صحة الحقائق.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08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هلوسة المعلومات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تعريف · أمثلة · مخاطر مهنية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التعريف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محتوى يبدو صحيحا وهو مختلق أو غير مدعوم بمصدر موثوق.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أمثلة شائعة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أرقام · أسماء · تواريخ · اقتباسات غير موجودة في المدخل.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المخاطر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قرارات إدارية أو مراسلات خارجية مبنية على معلومات غير دقيقة.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09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النموذج: ما يستطيع وما لا يضمن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إطار توقعات مهني واضح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يستطيع: إعادة الصياغة، التلخيص، اقتراح هياكل، توليد مسودات متعددة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يضمن: دقة الأرقام أو الأسماء دون مصدر أو ملف أو مراجعة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يعتمد على جودة الأمر: السياق والدور والجمهور والشكل والقيود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المسؤولية النهائية لاعتماد المخرج تبقى بشرية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أ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10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لماذا تعد هندسة الأوامر مهارة مؤسسية؟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الجودة تتبع جودة التوجيه لا اسم الأداة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بدون توجيه كاف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مخرج عام يصعب اعتماده أو إرساله لصانع القرار.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 توجيه مكتمل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مخرج قابل للاستخدام: أوضح، أقصر، وأكثر التزاما بالمعطيات.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يراجع الأمر أولا قبل الحكم على ضعف الأداة.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11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مكونات الأمر الاحترافي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أمر مكتمل العناصر وتشخيص الأمر الضعيف خلال ثوان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y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12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المكونات الخمسة للأمر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 · قيود الجودة</a:t>
            </a:r>
          </a:p>
        </p:txBody>
      </p:sp>
      <p:pic>
        <p:nvPicPr>
          <p:cNvPr id="12" name="Picture 11" descr="prompt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13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السياق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حدث؟ ما الملف؟ ما يجب التركيز عليه؟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ضعيف: «لخص التقرير» — دون تحديد الملف أو الهدف أو القيود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أفضل: تقرير مبيعات أغسطس لفرع الرياض؛ الهدف 1.2 مليون؛ المتحقق 980 ألف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أضف: ركز على أسباب الفجوة لا على الإنجازات العامة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الأثر: يمنع التلخيص العشوائي ويرفع صلة المخرج بالقرار المطلوب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14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الدور (Persona)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يضبط المفردات وعمق التحليل وزاوية النظر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بدون دور: نبرة غير مستقرة وقد لا تناسب السياق المؤسسي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«أنت محلل إداري» يميل إلى توصية حذرة مدعومة بمعطيات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«أنت كاتب محتوى تسويقي» يميل إلى نبرة إقناعية مختلفة تماما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اختبر: غير الدور فقط على المدخل نفسه ولاحظ اختلاف الناتج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15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الجمهور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الحقيقة تعرض بصيغ مختلفة حسب القارئ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صانع قرار تنفيذي: مختصر + قرار مطلوب + أثر رقمي واضح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فريق تشغيلي: تفاصيل تنفيذ ومسؤوليات وخطوات تالية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جمهور عام أو مهني خارجي: قيمة عامة دون بيانات داخلية حساسة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يؤدي إلى تذبذب مستوى الرسمية والتفصيل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16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حول الإجابة من فقرة عامة إلى أداة عمل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الشكل صراحة: نقاط مرقمة · جدول · رسالة رسمية · ملخص تنفيذي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«خمس نقاط ثم توصية واحدة في سطرين»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«جدول عمودين: السبب | الإجراء المقترح»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ترك الشكل مفتوحا غالبا ينتج نصا طويلا قليل الفائدة التشغيلية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17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قيود الجودة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طبقة الأمان داخل الأمر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تخترع أرقاما أو أسماء أو تواريخ غير موجودة في المدخل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 لم تتوفر المعلومة فاكتب: غير متوفر / لا أعرف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الطول الأقصى ومستوى الرسمية المطلوب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افصل الحقائق الواردة في الملف عن التوصيات المقترحة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18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أمر ضعيف مقابل أمر قوي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الأداة · جودة مختلفة · السبب في صياغة الطلب</a:t>
            </a:r>
          </a:p>
        </p:txBody>
      </p:sp>
      <p:pic>
        <p:nvPicPr>
          <p:cNvPr id="12" name="Picture 11" descr="weak-vs-stro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19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نموذج أمر جاهز (Cheat Sheet)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الهيكل وعدل الحقول فقط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76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185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2148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[الموقف / الملف / القيود / محور التركيز]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6334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6426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26060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[محلل / محرر / مختص] بخبرة في [المجال]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090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099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0488" y="3063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موجه إلى [مدير تنفيذي / فريق / جمهور مهني]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35478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35570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0488" y="35204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بصيغة [نقاط / جدول / رسالة / تقرير]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005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0142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0488" y="39776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· الرسمية · لا تختلق · اذكر غير المتوفر صراحة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173968" y="4462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73968" y="4471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0488" y="4434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[الطلب النهائي بجملة واحدة واضحة]</a:t>
            </a:r>
          </a:p>
        </p:txBody>
      </p:sp>
      <p:pic>
        <p:nvPicPr>
          <p:cNvPr id="36" name="Picture 35" descr="prompt-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04052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20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تطبيقي مكتمل — فرع الرياض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من أمر ممتلئ ثم عدل القيم حسب مهمتك</a:t>
            </a:r>
          </a:p>
        </p:txBody>
      </p:sp>
      <p:pic>
        <p:nvPicPr>
          <p:cNvPr id="12" name="Picture 11" descr="filled-prompt-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21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الوحدة 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أعد بناء أمر ضعيف إلى أمر مكتمل العناصر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خذ أمرا ضعيفا: «اكتب لي عن التقرير»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السياق والدور والجمهور والشكل والقيود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نفذ الأمرين على ملف مبيعات الرياض وقارن المخرجين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النموذج الستة في ملفك الشخصي فورا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22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 وضبط الجودة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CoT وFew-Shot وإطار الحد من الهلوسة بمعايير قبول واضحة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resear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23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التوجيه المتسلسل (Chain-of-Thought)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يستخدم ومتى يتجنب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يستخدم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مقارنة بدائل · توصية من عدة معطيات · تلخيص ثم استنتاج.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الصيغة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خطوات التفكير في 3–5 أسطر ثم أعط النتيجة النهائية فقط.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يتجنب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المراسلات القصيرة وإعادة الصياغة البسيطة؛ يطيل بلا فائدة.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24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التعلم من الأمثلة (Few-Shot)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تثبيت النبرة والشكل داخل الأمر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يستخدم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نمط ثابت لمراسلات الدعم أو المحاضر أو المحتوى الدوري.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الهيكل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 1: مدخل/مخرج · مثال 2 · ثم نفذ على المدخل الجديد.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لصق نص طويل دون تمييز الأمثلة بعناوين واضحة.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25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الجمع بين التقنيات دون إطالة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الأداة المناسبة للمهمة لا تكديس الأساليب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دائما بالمكونات الخمسة قبل أي تقنية متقدمة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Few-Shot عند الحاجة لنبرة أو شكل ثابت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أضف Chain-of-Thought عند الحاجة لترتيب منطقي صريح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تجمع التقنيتين مع أمر بسيط؛ راقب الطول والفائدة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26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إطار الحد من هلوسة المعلومات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طبقات متكاملة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1) داخل الأمر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الدقة وعبارة: اذكر غير المتوفر بدل الاختلاق.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2) في الأداة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الاعتماد على ملف مرفوع أو مصادر قابلة للمراجعة.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3) بعد الناتج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مراجعة بشرية للأرقام والأسماء والتواريخ قبل الاعتماد.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27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اختيار الأداة وفق المهمة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المعيار: طبيعة المهمة ونوع الملف والحاجة إلى الويب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· تجارب سريعة · مساعد يومي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anthrop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ملفات طويلة · صياغة منضبطة · تقارير كثيفة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gemin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سياق ويب ووسائط متعددة في مسار واحد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28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سلامة البيانات عند الاستخدام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ضوابط إلزامية قبل رفع أي ملف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استخدم ملفات تدريبية في التمارين؛ تجنب العقود السرية الحقيقية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احذف الأسماء والأرقام الحساسة أو جهل البيانات قبل الرفع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تعتمد أداة شخصية غير معتمدة لبيانات جهة العمل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ميز بين مسودة داخلية ومحتوى قابل للنشر الخارجي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29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أخطاء شائعة في هندسة الأوامر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كل خطأ يقابله علاج مباشر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هدف → حدد المخرج المطلوب بجملة صريحة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غياب الجمهور → حدد القارئ ومستوى الرسمية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غياب الشكل → اطلب نقاطا أو جدولا أو هيكل رسالة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اعتماد المخرج دون تحقق → دقيقة مراجعة للأرقام قبل الإرسال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أمر طويل بلا أولوية → ضع المهمة أولا ثم السياق ثم التفاصيل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الوحدة 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العمل المهني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إعداد → تنفيذ → مراجعة → اعتماد</a:t>
            </a:r>
          </a:p>
        </p:txBody>
      </p:sp>
      <p:pic>
        <p:nvPicPr>
          <p:cNvPr id="12" name="Picture 11" descr="practice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ختامي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31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تطبيق ختامي لليوم الأول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مهمة عمل كاملة بأمر واحد قوي ومعايير قبول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اختر مهمة حقيقية من عملك أو استخدم ملف مبيعات الرياض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ابن أمرا مكتمل العناصر الستة ثم نفذه في الأداة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طبق إطار الحد من الهلوسة وراجع الأرقام والأسماء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قرر الاعتماد أو التعديل وفق معايير القبول قبل الإرسال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32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خلاصة اليوم الأول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ثبت العادة قبل الانتقال إلى وسائط اليوم الثاني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الأمر أولا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مكونات كاملة قبل اختيار الأداة أو التقنية.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المراجعة دوما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اعتماد لأرقام أو أسماء دون تحقق بشري.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غدا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الوسائط بنفس الانضباط: موضوع · أسلوب · جمهور · شكل · قيود.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33  /  83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34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2" name="Picture 11" descr="media-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35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medi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36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37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38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midjour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open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leonar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39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2" name="Picture 11" descr="image-prompt-anatom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40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41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42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y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43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44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gam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beautiful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46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medi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47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48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heyg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elevenlab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run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49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2" name="Picture 11" descr="video-script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50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51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3342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4348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44398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40740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52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هوية إعلان متكاملة</a:t>
            </a:r>
          </a:p>
        </p:txBody>
      </p:sp>
      <p:pic>
        <p:nvPicPr>
          <p:cNvPr id="12" name="Picture 11" descr="designer-exerc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53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54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55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للتطبيق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56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2: صورة وعرض وفيديو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على خلفية بيضاء، اضاءة استوديو ناعمة، زاوية عين المستوى، نسبة 1:1.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عرض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هذا النص إلى عرض 4 شرائح: مشكلة، حل، مميزات، دعوة لاجراء.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ثانية: Hook ثم ميزتان ثم CTA واحد واضح.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9371" y="320040"/>
            <a:ext cx="515264" cy="42062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652" y="347472"/>
            <a:ext cx="1378516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day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57  /  83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58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dat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59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2" name="Picture 11" descr="data-to-dec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60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61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1089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62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63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automa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64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2" name="Picture 11" descr="automation-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65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66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zap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mak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67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68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02412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23774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880360"/>
            <a:ext cx="55778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.crop-hero-te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69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70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2" name="Picture 11" descr="gpt-builder-ste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71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72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2" name="Picture 11" descr="ethics-secu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73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74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po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75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2" name="Picture 11" descr="capstone-pro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76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77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78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79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80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للتطبيق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81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3: بيانات وأتتمتة ومساعد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جدول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الاعمدة، اكتشف الشذوذ، واقترح 3 توصيات تشغيلية من البيانات فقط.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اتمتة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صمم مسار: إيميل وارد → تلخيص → صف في جدول → مسودة رد للموافقة.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تعليمات بوت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مساعد داخلي. اجب من الملفات فقط. ان لم تجد الجواب قل: لا اعرف.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7693" y="320040"/>
            <a:ext cx="459257" cy="374904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66" y="347472"/>
            <a:ext cx="1206201" cy="320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"/>
            <a:ext cx="9033021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82  /  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.pad-icon-perplex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.pad-icon-heyg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وأتتمتة ومساعد مخصص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a-logo-m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043" y="320040"/>
            <a:ext cx="537667" cy="438912"/>
          </a:xfrm>
          <a:prstGeom prst="rect">
            <a:avLst/>
          </a:prstGeom>
        </p:spPr>
      </p:pic>
      <p:pic>
        <p:nvPicPr>
          <p:cNvPr id="4" name="Picture 3" descr="etra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3726" y="347472"/>
            <a:ext cx="144744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4572000"/>
            <a:ext cx="4114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.crop-hero-te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663440"/>
            <a:ext cx="3840480" cy="11887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0" lang="en-US" altLang="ar-SA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83  /  83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