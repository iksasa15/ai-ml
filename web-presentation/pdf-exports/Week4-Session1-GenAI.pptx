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0116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4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0515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GenAI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47472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947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GenAI: BERT, T5, GPT, Attention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1264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AI &amp; Machine Learning Bootcamp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Big picture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Where Are We in the Bootcamp?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Week 4 Session 1 — GenAI: BERT, T5, GPT, Attention.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&amp; Preprocessing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Classification Basics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Naive Bayes &amp; Trees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SVM &amp; Kernels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Clustering &amp; PCA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64992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64992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11296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13632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81344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27648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9984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27648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9984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27648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29984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Text Analysis &amp; 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27648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9984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27648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9984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27648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29984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Seq2Seq &amp; NMT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97696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997696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997696" y="2679192"/>
            <a:ext cx="45720" cy="25603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0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46336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Generative AI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46336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RAG Systems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0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46336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MLOps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02  /  42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874519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4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105156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GenAI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20040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5204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BERT · T5 · GPT · Attention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Core Concepts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33088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33088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Transfer Learning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17536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17536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BERT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33088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33088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GPT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17536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17536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Attention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541264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596128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Scaling &amp; Practice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03  /  42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BERT · T5 · GPT · Attention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we will cover in this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Core Concepts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7063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70632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Transfer Learning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9242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BERT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1421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1421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3600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25780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25780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Attention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7959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879592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Scaling &amp; Practice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04  /  42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Generative AI: Core Concepts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BERT, T5, GPT, LLMs, and Attention (Focused Edition)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84832"/>
            <a:ext cx="10972800" cy="42702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odel-famil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261314"/>
            <a:ext cx="10607040" cy="391728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05  /  42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Generative AI: Core Concepts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BERT, T5, GPT, LLMs, and Attention (Focused Edition)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8483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8483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This section extracts the most important ideas into a compact teaching flow.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8206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8206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Focus areas: transfer learning, model families, attention mechanics, scaling, and practical deployment.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7929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7929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Designed for bootcamp delivery within roughly 20 slides.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06  /  42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Transfer Learning in Generative AI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ransfer-stag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181032"/>
            <a:ext cx="10607040" cy="373037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07  /  42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Transfer Learning in Generative AI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Stage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Data Type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Goal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Pretraining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Large mostly unlabeled corpora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Learn general language representations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Fine-tuning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Task-labeled dataset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Adapt model to specific downstream objective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Inference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User prompt/context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Generate or classify outputs for real tasks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371246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8561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Transfer learning reduces labeled data needs and accelerates convergence.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08  /  42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Feature-Based Transfer vs Fine-Tuning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eature-vs-finetu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134305"/>
            <a:ext cx="10607040" cy="382383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09  /  42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Feature-Based Transfer vs Fine-Tuning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Strategy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What Changes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Pros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Tradeoff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Feature-based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Freeze pretrained backbone; use embeddings as input features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Fast and lightweight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Less task adaptation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Fine-tuning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Update model weights (often with a task head)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Higher task performance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More compute and tuning effort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  /  42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BERT: Encoder-Only Bidirectional Understanding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ransformer-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4398" y="1847088"/>
            <a:ext cx="4181282" cy="43982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11  /  42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BERT: Encoder-Only Bidirectional Understanding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BERT learns contextual token representations using both left and right context.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3459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3459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Strong for understanding tasks: classification, NER, QA, and retrieval-oriented use cases.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13182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3182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Pretrained at scale (Wikipedia + BooksCorpus), then adapted to downstream tasks.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12  /  42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BERT Pretraining Objectives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Objective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How It Works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What It Teaches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MLM (Masked Language Modeling)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Mask subset of tokens and predict originals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Bidirectional contextual semantics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NSP (Next Sentence Prediction)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Predict whether sentence B follows sentence A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Inter-sentence coherence signals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3236976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10128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MLM and NSP were jointly used in original BERT training setup.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13  /  42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BERT Special Tokens: [CLS] and [SEP]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ls-sep-toke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181032"/>
            <a:ext cx="10607040" cy="373037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14  /  42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BERT Special Tokens: [CLS] and [SEP]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[CLS] is prepended and its final embedding is used as a sequence-level summary.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128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[SEP] separates sentence segments and marks boundaries.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883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883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In classification tasks, [CLS] passes through a lightweight prediction head.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Token design helps unify single- and pair-sentence tasks.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15  /  42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Arabic Adaptation Example: AraBERT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AraBERT follows BERT-base style architecture with Arabic-specific preprocessing.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128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Segmentation and Arabic-tailored tokenization improve vocabulary coverage.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883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883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Domain/language adaptation quality can matter more than raw parameter count.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16  /  42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Arabic Adaptation Example: AraBERT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Component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Adaptation Benefit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Farasa-style segmentation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Better handling of prefixes/suffixes and morphology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Arabic-focused vocabulary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Lower fragmentation and stronger lexical coverage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Arabic corpus curation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Improved contextual understanding in target language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17  /  42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T5: Unified Text-to-Text Framework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5-text-to-tex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134305"/>
            <a:ext cx="10607040" cy="382383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18  /  42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T5: Unified Text-to-Text Framework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T5 reframes every NLP task as text input -&gt; text output.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128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Task instruction is included as a prefix (e.g., "summarize:", "translate:").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883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883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One shared architecture/training recipe serves multiple tasks.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This design strongly influenced modern prompt-based LLM usage.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19  /  42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T5 Pretraining Objective: Span Corruption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n-corrup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087578"/>
            <a:ext cx="10607040" cy="391728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20  /  42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T5 Pretraining Objective: Span Corruption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Remove contiguous text spans from input and replace with sentinel tokens.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128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Train model to reconstruct missing spans autoregressively.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883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883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Encourages stronger generative behavior than token-only masking.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21  /  42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T5 Pretraining Objective: Span Corruption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Model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Corruption Style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Typical Strength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BERT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Random masked individual tokens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Language understanding tasks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T5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Contiguous span corruption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Generation + multitask transfer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22  /  42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T5 Attention Strategies (Encoder/Decoder)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5-attention-mas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036957"/>
            <a:ext cx="10607040" cy="401852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23  /  42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T5 Attention Strategies (Encoder/Decoder)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Attention Type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Visibility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Used In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Fully visible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All tokens attend to all tokens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Encoder representations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Causal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Token attends to past only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Autoregressive generation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Prefix-causal hybrid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Full source access + causal target decoding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Seq2Seq decoding in T5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24  /  42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GPT: Decoder-Only Autoregressive Generation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gpt-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2430" y="1847088"/>
            <a:ext cx="3665219" cy="43982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25  /  42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GPT: Decoder-Only Autoregressive Generation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GPT predicts next token from left context only (causal modeling).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128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Uses masked self-attention in decoder stack for no-lookahead generation.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883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883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Excellent for open-ended completion, instruction following, and synthesis.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26  /  42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GPT Evolution and Foundation Model Scale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Generation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Approx. Parameters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Key Theme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GPT-1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117M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Proof of transfer-learning viability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GPT-2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1.5B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Large-scale web pretraining for generation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GPT-3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175B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Few-shot in-context capabilities at scale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371246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8561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Model utility scales with data, architecture, and training compute quality.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27  /  42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Attention: Why It Was a Breakthrough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ttention-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2105" y="1847088"/>
            <a:ext cx="2985869" cy="43982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28  /  42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Attention: Why It Was a Breakthrough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Attention solves fixed-vector bottlenecks in sequence transduction.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128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At each step, model dynamically focuses on most relevant source positions.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883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883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Entire mechanism is differentiable and learned end-to-end.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29  /  42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Attention Computation Pipeline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-28d7f401230b638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0562" y="1847088"/>
            <a:ext cx="5288954" cy="868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26440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6440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Compute relevance scores between query state and source states.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3989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3989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Apply softmax to obtain attention weights (probability distribution).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15384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15384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Return weighted sum of value/source states as contextual output.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30  /  42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Bahdanau vs Luong Attention (Classic RNN Era)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Variant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Scoring Function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Typical Placement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Luong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Bilinear/dot-style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Attention after decoder state update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Bahdanau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MLP/additive score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Attention integrated before decoder update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3236976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10128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Both approximate alignment; design choice affects speed and accuracy tradeoffs.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31  /  42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Self-Attention, Q/K/V, and Multi-Head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ttention-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0978" y="1847088"/>
            <a:ext cx="6648122" cy="43982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32  /  42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Self-Attention, Q/K/V, and Multi-Head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Query asks for relevant context; Key indexes available context; Value carries content.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128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Self-attention lets each token aggregate information from other tokens in sequence.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883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883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Multi-head attention captures different linguistic relations in parallel.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Different heads can specialize in syntax, agreement, locality, or semantics.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33  /  42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Masked Self-Attention in Decoders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ausal-ma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4625" y="1847088"/>
            <a:ext cx="7800829" cy="43982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34  /  42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Masked Self-Attention in Decoders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Decoder cannot access future tokens during generation.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3459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3459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Causal mask enforces left-to-right consistency and prevents information leakage.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13182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3182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Enables parallel training over full target sequence while preserving autoregressive objective.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35  /  42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Long-Sequence Challenge in Transformers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ng-contex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087578"/>
            <a:ext cx="10607040" cy="391728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36  /  42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Long-Sequence Challenge in Transformers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Bottleneck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Complexity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Practical Impact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Attention map computation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O(L²)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Time/memory explode as context grows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Activation storage (training)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O(N*L*d_model)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 VRAM demand for deep long-context models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3236976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10128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Long-context efficiency is now a central LLM engineering topic.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37  /  42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Scaling Laws and Compute-Optimal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Performance improves with data, model size, and compute, but with diminishing returns.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3459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3459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Compute-optimal training balances parameter count and token budget.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13182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3182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Chinchilla-style insight: many large models are under-trained relative to their size.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38  /  42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Scaling Laws and Compute-Optimal Training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Principle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Implication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Fixed compute budget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Tune model size and data volume jointly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Data-quality filtering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Small fraction of tokens may dominate useful learning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Chinchilla ratio (rule of thumb)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Roughly ~20 training tokens per parameter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39  /  42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Generative AI Practical Takeaways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Choose architecture by task type: encoder-only, encoder-decoder, or decoder-only.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00300"/>
            <a:ext cx="320040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00300"/>
            <a:ext cx="9875519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Prefer transfer learning and fine-tuning over training from scratch when possible.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063240"/>
            <a:ext cx="320040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063240"/>
            <a:ext cx="9875519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 attention-aware designs and decoding strategy (greedy/beam) based on product constraints.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726179"/>
            <a:ext cx="320040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726179"/>
            <a:ext cx="9875519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Plan for memory/compute early: quantization, context limits, and deployment targets.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389120"/>
            <a:ext cx="320040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389120"/>
            <a:ext cx="9875519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For domain-heavy use cases, adapt with specialized corpora and evaluation protocols.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Strong GenAI systems come from balanced choices across data, architecture, compute, and evaluation.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40  /  42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 Ideas to Keep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Leave with these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04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404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Choose architecture by task: encoder-only (BERT), encoder-decoder (T5), or decoder-only (GPT).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91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547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547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Prefer transfer learning and fine-tuning over training from scratch.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34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90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690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Attention, decoding strategy, and compute limits shape what you can ship.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41  /  42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651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747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Labs: code/17- GenAI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42  /  42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